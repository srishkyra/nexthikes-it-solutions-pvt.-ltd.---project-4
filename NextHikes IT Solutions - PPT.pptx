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62" r:id="rId2"/>
    <p:sldId id="257" r:id="rId3"/>
    <p:sldId id="266" r:id="rId4"/>
    <p:sldId id="296" r:id="rId5"/>
    <p:sldId id="307" r:id="rId6"/>
    <p:sldId id="311" r:id="rId7"/>
    <p:sldId id="286" r:id="rId8"/>
    <p:sldId id="308" r:id="rId9"/>
    <p:sldId id="312" r:id="rId10"/>
    <p:sldId id="267" r:id="rId11"/>
    <p:sldId id="297" r:id="rId12"/>
    <p:sldId id="306" r:id="rId13"/>
    <p:sldId id="299" r:id="rId14"/>
    <p:sldId id="313" r:id="rId15"/>
    <p:sldId id="315" r:id="rId16"/>
    <p:sldId id="316" r:id="rId17"/>
    <p:sldId id="300" r:id="rId18"/>
    <p:sldId id="314" r:id="rId19"/>
    <p:sldId id="301" r:id="rId20"/>
    <p:sldId id="309" r:id="rId21"/>
    <p:sldId id="298" r:id="rId22"/>
    <p:sldId id="302" r:id="rId23"/>
    <p:sldId id="310" r:id="rId24"/>
    <p:sldId id="303" r:id="rId25"/>
    <p:sldId id="304" r:id="rId26"/>
    <p:sldId id="305" r:id="rId27"/>
    <p:sldId id="26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375F"/>
    <a:srgbClr val="AF2C59"/>
    <a:srgbClr val="92AFC9"/>
    <a:srgbClr val="F5C28A"/>
    <a:srgbClr val="F8E5D3"/>
    <a:srgbClr val="F3F3F3"/>
    <a:srgbClr val="9C9CC3"/>
    <a:srgbClr val="68476B"/>
    <a:srgbClr val="537782"/>
    <a:srgbClr val="201A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07"/>
    <p:restoredTop sz="94621"/>
  </p:normalViewPr>
  <p:slideViewPr>
    <p:cSldViewPr snapToGrid="0">
      <p:cViewPr varScale="1">
        <p:scale>
          <a:sx n="75" d="100"/>
          <a:sy n="75" d="100"/>
        </p:scale>
        <p:origin x="160" y="8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518BA-5A4E-054A-814F-AEACB07492D2}"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F0038-2A12-1843-A5BE-EE00844305AB}" type="slidenum">
              <a:rPr lang="en-US" smtClean="0"/>
              <a:t>‹#›</a:t>
            </a:fld>
            <a:endParaRPr lang="en-US"/>
          </a:p>
        </p:txBody>
      </p:sp>
    </p:spTree>
    <p:extLst>
      <p:ext uri="{BB962C8B-B14F-4D97-AF65-F5344CB8AC3E}">
        <p14:creationId xmlns:p14="http://schemas.microsoft.com/office/powerpoint/2010/main" val="4253286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3B554-0C97-12F9-8B76-8B1DDB0CE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D7065-C43B-6B70-DFB3-DCED28CEC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398684-E447-AE12-42D8-0E9AEA3D00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64055F-A879-5CC4-CBDF-5316D65FD1D9}"/>
              </a:ext>
            </a:extLst>
          </p:cNvPr>
          <p:cNvSpPr>
            <a:spLocks noGrp="1"/>
          </p:cNvSpPr>
          <p:nvPr>
            <p:ph type="sldNum" sz="quarter" idx="5"/>
          </p:nvPr>
        </p:nvSpPr>
        <p:spPr/>
        <p:txBody>
          <a:bodyPr/>
          <a:lstStyle/>
          <a:p>
            <a:fld id="{35AF0038-2A12-1843-A5BE-EE00844305AB}" type="slidenum">
              <a:rPr lang="en-US" smtClean="0"/>
              <a:t>1</a:t>
            </a:fld>
            <a:endParaRPr lang="en-US"/>
          </a:p>
        </p:txBody>
      </p:sp>
    </p:spTree>
    <p:extLst>
      <p:ext uri="{BB962C8B-B14F-4D97-AF65-F5344CB8AC3E}">
        <p14:creationId xmlns:p14="http://schemas.microsoft.com/office/powerpoint/2010/main" val="3502347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BDE06-A632-6DA2-2894-8AAD4139C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94A05-6206-CA7D-368E-F7339E7FE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A41EF-C9E0-C213-386F-A36F74C658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B4541C-D692-E930-AB8C-226BCB051E16}"/>
              </a:ext>
            </a:extLst>
          </p:cNvPr>
          <p:cNvSpPr>
            <a:spLocks noGrp="1"/>
          </p:cNvSpPr>
          <p:nvPr>
            <p:ph type="sldNum" sz="quarter" idx="5"/>
          </p:nvPr>
        </p:nvSpPr>
        <p:spPr/>
        <p:txBody>
          <a:bodyPr/>
          <a:lstStyle/>
          <a:p>
            <a:fld id="{97CD20CA-ACF2-BE49-816A-92E47BE9F8FB}" type="slidenum">
              <a:rPr lang="en-US" smtClean="0"/>
              <a:t>2</a:t>
            </a:fld>
            <a:endParaRPr lang="en-US"/>
          </a:p>
        </p:txBody>
      </p:sp>
    </p:spTree>
    <p:extLst>
      <p:ext uri="{BB962C8B-B14F-4D97-AF65-F5344CB8AC3E}">
        <p14:creationId xmlns:p14="http://schemas.microsoft.com/office/powerpoint/2010/main" val="2335962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81F-4F3C-EA32-82A3-700E40927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5E3D9-CF65-4FC8-4D35-E25B25388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0EB1C-D38F-A6DC-30FB-AC38D8DFCD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E8B2C-83CD-235C-5A4E-0883069B6034}"/>
              </a:ext>
            </a:extLst>
          </p:cNvPr>
          <p:cNvSpPr>
            <a:spLocks noGrp="1"/>
          </p:cNvSpPr>
          <p:nvPr>
            <p:ph type="sldNum" sz="quarter" idx="5"/>
          </p:nvPr>
        </p:nvSpPr>
        <p:spPr/>
        <p:txBody>
          <a:bodyPr/>
          <a:lstStyle/>
          <a:p>
            <a:fld id="{97CD20CA-ACF2-BE49-816A-92E47BE9F8FB}" type="slidenum">
              <a:rPr lang="en-US" smtClean="0"/>
              <a:t>3</a:t>
            </a:fld>
            <a:endParaRPr lang="en-US"/>
          </a:p>
        </p:txBody>
      </p:sp>
    </p:spTree>
    <p:extLst>
      <p:ext uri="{BB962C8B-B14F-4D97-AF65-F5344CB8AC3E}">
        <p14:creationId xmlns:p14="http://schemas.microsoft.com/office/powerpoint/2010/main" val="1099817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1E858-F54A-1BD2-8562-E7B1B4152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261E9-F059-63C0-933D-726E95B2B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A641D-C096-C78E-A2B8-0BEFEF30D5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A1C2C7-F4DF-87F7-FD94-8B5D9668C421}"/>
              </a:ext>
            </a:extLst>
          </p:cNvPr>
          <p:cNvSpPr>
            <a:spLocks noGrp="1"/>
          </p:cNvSpPr>
          <p:nvPr>
            <p:ph type="sldNum" sz="quarter" idx="5"/>
          </p:nvPr>
        </p:nvSpPr>
        <p:spPr/>
        <p:txBody>
          <a:bodyPr/>
          <a:lstStyle/>
          <a:p>
            <a:fld id="{97CD20CA-ACF2-BE49-816A-92E47BE9F8FB}" type="slidenum">
              <a:rPr lang="en-US" smtClean="0"/>
              <a:t>4</a:t>
            </a:fld>
            <a:endParaRPr lang="en-US"/>
          </a:p>
        </p:txBody>
      </p:sp>
    </p:spTree>
    <p:extLst>
      <p:ext uri="{BB962C8B-B14F-4D97-AF65-F5344CB8AC3E}">
        <p14:creationId xmlns:p14="http://schemas.microsoft.com/office/powerpoint/2010/main" val="2032611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4A6C-566F-09A7-7875-7E356FDFD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5F14A-CA7D-2A2D-8251-09CF7DB0D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61A20-A719-CB1D-E40F-44A6C92A97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A98A17-ADD1-EA50-B22E-728D864C49F8}"/>
              </a:ext>
            </a:extLst>
          </p:cNvPr>
          <p:cNvSpPr>
            <a:spLocks noGrp="1"/>
          </p:cNvSpPr>
          <p:nvPr>
            <p:ph type="sldNum" sz="quarter" idx="5"/>
          </p:nvPr>
        </p:nvSpPr>
        <p:spPr/>
        <p:txBody>
          <a:bodyPr/>
          <a:lstStyle/>
          <a:p>
            <a:fld id="{97CD20CA-ACF2-BE49-816A-92E47BE9F8FB}" type="slidenum">
              <a:rPr lang="en-US" smtClean="0"/>
              <a:t>5</a:t>
            </a:fld>
            <a:endParaRPr lang="en-US"/>
          </a:p>
        </p:txBody>
      </p:sp>
    </p:spTree>
    <p:extLst>
      <p:ext uri="{BB962C8B-B14F-4D97-AF65-F5344CB8AC3E}">
        <p14:creationId xmlns:p14="http://schemas.microsoft.com/office/powerpoint/2010/main" val="2089447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0630-6EBA-0EF5-4E32-630B1350D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31C0B-5D55-33D5-89B6-C9632B82C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78A1A-7016-F747-0A17-44FE089430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12A0C1-9CC3-BAF2-56E6-7FC10318C240}"/>
              </a:ext>
            </a:extLst>
          </p:cNvPr>
          <p:cNvSpPr>
            <a:spLocks noGrp="1"/>
          </p:cNvSpPr>
          <p:nvPr>
            <p:ph type="sldNum" sz="quarter" idx="5"/>
          </p:nvPr>
        </p:nvSpPr>
        <p:spPr/>
        <p:txBody>
          <a:bodyPr/>
          <a:lstStyle/>
          <a:p>
            <a:fld id="{97CD20CA-ACF2-BE49-816A-92E47BE9F8FB}" type="slidenum">
              <a:rPr lang="en-US" smtClean="0"/>
              <a:t>6</a:t>
            </a:fld>
            <a:endParaRPr lang="en-US"/>
          </a:p>
        </p:txBody>
      </p:sp>
    </p:spTree>
    <p:extLst>
      <p:ext uri="{BB962C8B-B14F-4D97-AF65-F5344CB8AC3E}">
        <p14:creationId xmlns:p14="http://schemas.microsoft.com/office/powerpoint/2010/main" val="3846998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0D29-A28A-B012-28D2-F12D360BF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B5E96-442E-81FD-C2B9-0619126D2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2B8BC-7017-2BCA-E19B-3618FE35EE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52BBC-A4F7-1C99-BB26-CAFB72FFABAE}"/>
              </a:ext>
            </a:extLst>
          </p:cNvPr>
          <p:cNvSpPr>
            <a:spLocks noGrp="1"/>
          </p:cNvSpPr>
          <p:nvPr>
            <p:ph type="sldNum" sz="quarter" idx="5"/>
          </p:nvPr>
        </p:nvSpPr>
        <p:spPr/>
        <p:txBody>
          <a:bodyPr/>
          <a:lstStyle/>
          <a:p>
            <a:fld id="{97CD20CA-ACF2-BE49-816A-92E47BE9F8FB}" type="slidenum">
              <a:rPr lang="en-US" smtClean="0"/>
              <a:t>7</a:t>
            </a:fld>
            <a:endParaRPr lang="en-US"/>
          </a:p>
        </p:txBody>
      </p:sp>
    </p:spTree>
    <p:extLst>
      <p:ext uri="{BB962C8B-B14F-4D97-AF65-F5344CB8AC3E}">
        <p14:creationId xmlns:p14="http://schemas.microsoft.com/office/powerpoint/2010/main" val="4258997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077A-81A8-9D86-2DB8-232D0C794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0C471-5153-F39E-C925-AB41EC534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48B2E-C6A4-4698-A543-1815D0FB99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0751C8-E313-B303-E033-7C2E4ED06280}"/>
              </a:ext>
            </a:extLst>
          </p:cNvPr>
          <p:cNvSpPr>
            <a:spLocks noGrp="1"/>
          </p:cNvSpPr>
          <p:nvPr>
            <p:ph type="sldNum" sz="quarter" idx="5"/>
          </p:nvPr>
        </p:nvSpPr>
        <p:spPr/>
        <p:txBody>
          <a:bodyPr/>
          <a:lstStyle/>
          <a:p>
            <a:fld id="{97CD20CA-ACF2-BE49-816A-92E47BE9F8FB}" type="slidenum">
              <a:rPr lang="en-US" smtClean="0"/>
              <a:t>8</a:t>
            </a:fld>
            <a:endParaRPr lang="en-US"/>
          </a:p>
        </p:txBody>
      </p:sp>
    </p:spTree>
    <p:extLst>
      <p:ext uri="{BB962C8B-B14F-4D97-AF65-F5344CB8AC3E}">
        <p14:creationId xmlns:p14="http://schemas.microsoft.com/office/powerpoint/2010/main" val="2623521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6210-2F2E-25CE-EB15-30BD96604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6DC95-3B55-3F6A-8AE7-A4F5B7851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9B7E6-078D-6305-73C2-70784461EF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EC10A2-BF1F-9AF4-0B80-736531B02224}"/>
              </a:ext>
            </a:extLst>
          </p:cNvPr>
          <p:cNvSpPr>
            <a:spLocks noGrp="1"/>
          </p:cNvSpPr>
          <p:nvPr>
            <p:ph type="sldNum" sz="quarter" idx="5"/>
          </p:nvPr>
        </p:nvSpPr>
        <p:spPr/>
        <p:txBody>
          <a:bodyPr/>
          <a:lstStyle/>
          <a:p>
            <a:fld id="{97CD20CA-ACF2-BE49-816A-92E47BE9F8FB}" type="slidenum">
              <a:rPr lang="en-US" smtClean="0"/>
              <a:t>9</a:t>
            </a:fld>
            <a:endParaRPr lang="en-US"/>
          </a:p>
        </p:txBody>
      </p:sp>
    </p:spTree>
    <p:extLst>
      <p:ext uri="{BB962C8B-B14F-4D97-AF65-F5344CB8AC3E}">
        <p14:creationId xmlns:p14="http://schemas.microsoft.com/office/powerpoint/2010/main" val="1190847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2323-415C-7FAD-B5D3-CF718D2E3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22240-82D4-5E86-1421-D7E44BDD5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E3C35-BFD6-1B31-F610-79FD28094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E171BB-DBAC-6A43-3C38-2F71052B0FFC}"/>
              </a:ext>
            </a:extLst>
          </p:cNvPr>
          <p:cNvSpPr>
            <a:spLocks noGrp="1"/>
          </p:cNvSpPr>
          <p:nvPr>
            <p:ph type="sldNum" sz="quarter" idx="5"/>
          </p:nvPr>
        </p:nvSpPr>
        <p:spPr/>
        <p:txBody>
          <a:bodyPr/>
          <a:lstStyle/>
          <a:p>
            <a:fld id="{97CD20CA-ACF2-BE49-816A-92E47BE9F8FB}" type="slidenum">
              <a:rPr lang="en-US" smtClean="0"/>
              <a:t>10</a:t>
            </a:fld>
            <a:endParaRPr lang="en-US"/>
          </a:p>
        </p:txBody>
      </p:sp>
    </p:spTree>
    <p:extLst>
      <p:ext uri="{BB962C8B-B14F-4D97-AF65-F5344CB8AC3E}">
        <p14:creationId xmlns:p14="http://schemas.microsoft.com/office/powerpoint/2010/main" val="555440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A1C65-A533-C442-E084-9E45A081F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F075D-0684-A8FD-E0B0-121333DC5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72F97D-99D5-B16D-DF79-4B4C942FEE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C1E2B-5E12-6BE3-F5F9-48664DDC43B5}"/>
              </a:ext>
            </a:extLst>
          </p:cNvPr>
          <p:cNvSpPr>
            <a:spLocks noGrp="1"/>
          </p:cNvSpPr>
          <p:nvPr>
            <p:ph type="sldNum" sz="quarter" idx="5"/>
          </p:nvPr>
        </p:nvSpPr>
        <p:spPr/>
        <p:txBody>
          <a:bodyPr/>
          <a:lstStyle/>
          <a:p>
            <a:fld id="{97CD20CA-ACF2-BE49-816A-92E47BE9F8FB}" type="slidenum">
              <a:rPr lang="en-US" smtClean="0"/>
              <a:t>11</a:t>
            </a:fld>
            <a:endParaRPr lang="en-US"/>
          </a:p>
        </p:txBody>
      </p:sp>
    </p:spTree>
    <p:extLst>
      <p:ext uri="{BB962C8B-B14F-4D97-AF65-F5344CB8AC3E}">
        <p14:creationId xmlns:p14="http://schemas.microsoft.com/office/powerpoint/2010/main" val="2307140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1BFAB-5291-A6C1-D872-C485F7069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FD114-5018-DD57-6DEC-6E5125CF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8001B-D6DF-9CB7-8460-9588F363C5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B8399-0668-E23B-BE7D-26807EF688B3}"/>
              </a:ext>
            </a:extLst>
          </p:cNvPr>
          <p:cNvSpPr>
            <a:spLocks noGrp="1"/>
          </p:cNvSpPr>
          <p:nvPr>
            <p:ph type="sldNum" sz="quarter" idx="5"/>
          </p:nvPr>
        </p:nvSpPr>
        <p:spPr/>
        <p:txBody>
          <a:bodyPr/>
          <a:lstStyle/>
          <a:p>
            <a:fld id="{97CD20CA-ACF2-BE49-816A-92E47BE9F8FB}" type="slidenum">
              <a:rPr lang="en-US" smtClean="0"/>
              <a:t>12</a:t>
            </a:fld>
            <a:endParaRPr lang="en-US"/>
          </a:p>
        </p:txBody>
      </p:sp>
    </p:spTree>
    <p:extLst>
      <p:ext uri="{BB962C8B-B14F-4D97-AF65-F5344CB8AC3E}">
        <p14:creationId xmlns:p14="http://schemas.microsoft.com/office/powerpoint/2010/main" val="1381826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F0CB1-6659-739C-F237-3CE3D5310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52880-0830-3761-486A-FB25898A4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ECAEB-B981-3A8A-ED1C-D8087F2F28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951F6-CDCC-6D88-7CC1-26AA1D8CA3AC}"/>
              </a:ext>
            </a:extLst>
          </p:cNvPr>
          <p:cNvSpPr>
            <a:spLocks noGrp="1"/>
          </p:cNvSpPr>
          <p:nvPr>
            <p:ph type="sldNum" sz="quarter" idx="5"/>
          </p:nvPr>
        </p:nvSpPr>
        <p:spPr/>
        <p:txBody>
          <a:bodyPr/>
          <a:lstStyle/>
          <a:p>
            <a:fld id="{97CD20CA-ACF2-BE49-816A-92E47BE9F8FB}" type="slidenum">
              <a:rPr lang="en-US" smtClean="0"/>
              <a:t>13</a:t>
            </a:fld>
            <a:endParaRPr lang="en-US"/>
          </a:p>
        </p:txBody>
      </p:sp>
    </p:spTree>
    <p:extLst>
      <p:ext uri="{BB962C8B-B14F-4D97-AF65-F5344CB8AC3E}">
        <p14:creationId xmlns:p14="http://schemas.microsoft.com/office/powerpoint/2010/main" val="1250471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5150-6E94-433B-F87B-136A43F72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5E4FE-AC11-AAC6-8F46-BAEE4EAE5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59E7C-8740-5DAA-6265-C2359BF832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519B46-CE5A-6007-5E5B-D210AF0C07EE}"/>
              </a:ext>
            </a:extLst>
          </p:cNvPr>
          <p:cNvSpPr>
            <a:spLocks noGrp="1"/>
          </p:cNvSpPr>
          <p:nvPr>
            <p:ph type="sldNum" sz="quarter" idx="5"/>
          </p:nvPr>
        </p:nvSpPr>
        <p:spPr/>
        <p:txBody>
          <a:bodyPr/>
          <a:lstStyle/>
          <a:p>
            <a:fld id="{97CD20CA-ACF2-BE49-816A-92E47BE9F8FB}" type="slidenum">
              <a:rPr lang="en-US" smtClean="0"/>
              <a:t>14</a:t>
            </a:fld>
            <a:endParaRPr lang="en-US"/>
          </a:p>
        </p:txBody>
      </p:sp>
    </p:spTree>
    <p:extLst>
      <p:ext uri="{BB962C8B-B14F-4D97-AF65-F5344CB8AC3E}">
        <p14:creationId xmlns:p14="http://schemas.microsoft.com/office/powerpoint/2010/main" val="3816025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B7023-7A51-FAA2-F446-E8F61F224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F89DE-E1C0-FB01-D920-1E1DBFB44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1D731-099C-9EF3-D628-8EE25F513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F822D6-565E-BF0F-1140-DE32BA307506}"/>
              </a:ext>
            </a:extLst>
          </p:cNvPr>
          <p:cNvSpPr>
            <a:spLocks noGrp="1"/>
          </p:cNvSpPr>
          <p:nvPr>
            <p:ph type="sldNum" sz="quarter" idx="5"/>
          </p:nvPr>
        </p:nvSpPr>
        <p:spPr/>
        <p:txBody>
          <a:bodyPr/>
          <a:lstStyle/>
          <a:p>
            <a:fld id="{97CD20CA-ACF2-BE49-816A-92E47BE9F8FB}" type="slidenum">
              <a:rPr lang="en-US" smtClean="0"/>
              <a:t>15</a:t>
            </a:fld>
            <a:endParaRPr lang="en-US"/>
          </a:p>
        </p:txBody>
      </p:sp>
    </p:spTree>
    <p:extLst>
      <p:ext uri="{BB962C8B-B14F-4D97-AF65-F5344CB8AC3E}">
        <p14:creationId xmlns:p14="http://schemas.microsoft.com/office/powerpoint/2010/main" val="128104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F7C76-F083-A50B-E103-FE1C43C62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0A65F-D105-C90E-7BE3-227584B4D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FE50C-F189-0F85-66AD-7EC72F84D1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66A2E6-318E-06D6-DC73-0DCB9E1D7DBF}"/>
              </a:ext>
            </a:extLst>
          </p:cNvPr>
          <p:cNvSpPr>
            <a:spLocks noGrp="1"/>
          </p:cNvSpPr>
          <p:nvPr>
            <p:ph type="sldNum" sz="quarter" idx="5"/>
          </p:nvPr>
        </p:nvSpPr>
        <p:spPr/>
        <p:txBody>
          <a:bodyPr/>
          <a:lstStyle/>
          <a:p>
            <a:fld id="{97CD20CA-ACF2-BE49-816A-92E47BE9F8FB}" type="slidenum">
              <a:rPr lang="en-US" smtClean="0"/>
              <a:t>16</a:t>
            </a:fld>
            <a:endParaRPr lang="en-US"/>
          </a:p>
        </p:txBody>
      </p:sp>
    </p:spTree>
    <p:extLst>
      <p:ext uri="{BB962C8B-B14F-4D97-AF65-F5344CB8AC3E}">
        <p14:creationId xmlns:p14="http://schemas.microsoft.com/office/powerpoint/2010/main" val="2065629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9DB8-2AAE-BF69-443E-E1AC4AA63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4F338-32F8-0A60-6B9B-87AFC6EDC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84914-EA63-9234-2081-79B2AD53B6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BB6EB7-FB35-089B-B2BD-D3BBBE3F9B94}"/>
              </a:ext>
            </a:extLst>
          </p:cNvPr>
          <p:cNvSpPr>
            <a:spLocks noGrp="1"/>
          </p:cNvSpPr>
          <p:nvPr>
            <p:ph type="sldNum" sz="quarter" idx="5"/>
          </p:nvPr>
        </p:nvSpPr>
        <p:spPr/>
        <p:txBody>
          <a:bodyPr/>
          <a:lstStyle/>
          <a:p>
            <a:fld id="{97CD20CA-ACF2-BE49-816A-92E47BE9F8FB}" type="slidenum">
              <a:rPr lang="en-US" smtClean="0"/>
              <a:t>17</a:t>
            </a:fld>
            <a:endParaRPr lang="en-US"/>
          </a:p>
        </p:txBody>
      </p:sp>
    </p:spTree>
    <p:extLst>
      <p:ext uri="{BB962C8B-B14F-4D97-AF65-F5344CB8AC3E}">
        <p14:creationId xmlns:p14="http://schemas.microsoft.com/office/powerpoint/2010/main" val="2218342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5F65-AE8F-8B84-3A5B-0572F2023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09445-5958-B238-27D3-41EEAFA77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759E2-1411-3F83-E40E-D348D23FDE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CD899-E640-656C-5281-96E86FECF5BA}"/>
              </a:ext>
            </a:extLst>
          </p:cNvPr>
          <p:cNvSpPr>
            <a:spLocks noGrp="1"/>
          </p:cNvSpPr>
          <p:nvPr>
            <p:ph type="sldNum" sz="quarter" idx="5"/>
          </p:nvPr>
        </p:nvSpPr>
        <p:spPr/>
        <p:txBody>
          <a:bodyPr/>
          <a:lstStyle/>
          <a:p>
            <a:fld id="{97CD20CA-ACF2-BE49-816A-92E47BE9F8FB}" type="slidenum">
              <a:rPr lang="en-US" smtClean="0"/>
              <a:t>18</a:t>
            </a:fld>
            <a:endParaRPr lang="en-US"/>
          </a:p>
        </p:txBody>
      </p:sp>
    </p:spTree>
    <p:extLst>
      <p:ext uri="{BB962C8B-B14F-4D97-AF65-F5344CB8AC3E}">
        <p14:creationId xmlns:p14="http://schemas.microsoft.com/office/powerpoint/2010/main" val="1916065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1848-22EC-C13C-7572-A6026C002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AF717-CDCB-3AA9-9979-6C8E8A98C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3127B-4D5F-D0B2-0C6F-951A3CBCFE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DB19E-1BCB-B605-5573-2433BAED8F57}"/>
              </a:ext>
            </a:extLst>
          </p:cNvPr>
          <p:cNvSpPr>
            <a:spLocks noGrp="1"/>
          </p:cNvSpPr>
          <p:nvPr>
            <p:ph type="sldNum" sz="quarter" idx="5"/>
          </p:nvPr>
        </p:nvSpPr>
        <p:spPr/>
        <p:txBody>
          <a:bodyPr/>
          <a:lstStyle/>
          <a:p>
            <a:fld id="{97CD20CA-ACF2-BE49-816A-92E47BE9F8FB}" type="slidenum">
              <a:rPr lang="en-US" smtClean="0"/>
              <a:t>19</a:t>
            </a:fld>
            <a:endParaRPr lang="en-US"/>
          </a:p>
        </p:txBody>
      </p:sp>
    </p:spTree>
    <p:extLst>
      <p:ext uri="{BB962C8B-B14F-4D97-AF65-F5344CB8AC3E}">
        <p14:creationId xmlns:p14="http://schemas.microsoft.com/office/powerpoint/2010/main" val="1130035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B338-2029-3E78-88B4-D6AA497F5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B5E1A-3D09-7727-8386-EC99E6246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A5C08-D6AC-14FC-FE43-DA88AA7B9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8EE469-CFCE-92AD-687E-AECC487C08BF}"/>
              </a:ext>
            </a:extLst>
          </p:cNvPr>
          <p:cNvSpPr>
            <a:spLocks noGrp="1"/>
          </p:cNvSpPr>
          <p:nvPr>
            <p:ph type="sldNum" sz="quarter" idx="5"/>
          </p:nvPr>
        </p:nvSpPr>
        <p:spPr/>
        <p:txBody>
          <a:bodyPr/>
          <a:lstStyle/>
          <a:p>
            <a:fld id="{97CD20CA-ACF2-BE49-816A-92E47BE9F8FB}" type="slidenum">
              <a:rPr lang="en-US" smtClean="0"/>
              <a:t>20</a:t>
            </a:fld>
            <a:endParaRPr lang="en-US"/>
          </a:p>
        </p:txBody>
      </p:sp>
    </p:spTree>
    <p:extLst>
      <p:ext uri="{BB962C8B-B14F-4D97-AF65-F5344CB8AC3E}">
        <p14:creationId xmlns:p14="http://schemas.microsoft.com/office/powerpoint/2010/main" val="2306298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1AD9-6877-80D6-3CE1-BF89EA78F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DD2A1-6588-1DA4-85CC-DF11E9AC9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CBCA2-42EC-DEEA-63D9-E07A991240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557050-F802-E5ED-11D1-CE91BEA930ED}"/>
              </a:ext>
            </a:extLst>
          </p:cNvPr>
          <p:cNvSpPr>
            <a:spLocks noGrp="1"/>
          </p:cNvSpPr>
          <p:nvPr>
            <p:ph type="sldNum" sz="quarter" idx="5"/>
          </p:nvPr>
        </p:nvSpPr>
        <p:spPr/>
        <p:txBody>
          <a:bodyPr/>
          <a:lstStyle/>
          <a:p>
            <a:fld id="{97CD20CA-ACF2-BE49-816A-92E47BE9F8FB}" type="slidenum">
              <a:rPr lang="en-US" smtClean="0"/>
              <a:t>21</a:t>
            </a:fld>
            <a:endParaRPr lang="en-US"/>
          </a:p>
        </p:txBody>
      </p:sp>
    </p:spTree>
    <p:extLst>
      <p:ext uri="{BB962C8B-B14F-4D97-AF65-F5344CB8AC3E}">
        <p14:creationId xmlns:p14="http://schemas.microsoft.com/office/powerpoint/2010/main" val="582369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3FA4-B13E-3C5E-D8B5-3C1CA7C23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246A1-C418-2956-5101-9239911C4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C55C6-69CF-3C05-717F-D68F29C4C0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E7EF95-A79B-1A6F-8914-045D7445DCF4}"/>
              </a:ext>
            </a:extLst>
          </p:cNvPr>
          <p:cNvSpPr>
            <a:spLocks noGrp="1"/>
          </p:cNvSpPr>
          <p:nvPr>
            <p:ph type="sldNum" sz="quarter" idx="5"/>
          </p:nvPr>
        </p:nvSpPr>
        <p:spPr/>
        <p:txBody>
          <a:bodyPr/>
          <a:lstStyle/>
          <a:p>
            <a:fld id="{97CD20CA-ACF2-BE49-816A-92E47BE9F8FB}" type="slidenum">
              <a:rPr lang="en-US" smtClean="0"/>
              <a:t>22</a:t>
            </a:fld>
            <a:endParaRPr lang="en-US"/>
          </a:p>
        </p:txBody>
      </p:sp>
    </p:spTree>
    <p:extLst>
      <p:ext uri="{BB962C8B-B14F-4D97-AF65-F5344CB8AC3E}">
        <p14:creationId xmlns:p14="http://schemas.microsoft.com/office/powerpoint/2010/main" val="39486542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6B4E1-92B3-D3FB-AA94-16C2B2345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9ABB6-2C26-69E3-D5AF-AF41A7EE7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097B8-92F6-9DBD-BB5C-77C5D72753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2CAE89-B22A-5F9E-C1DE-0431BA3FCD01}"/>
              </a:ext>
            </a:extLst>
          </p:cNvPr>
          <p:cNvSpPr>
            <a:spLocks noGrp="1"/>
          </p:cNvSpPr>
          <p:nvPr>
            <p:ph type="sldNum" sz="quarter" idx="5"/>
          </p:nvPr>
        </p:nvSpPr>
        <p:spPr/>
        <p:txBody>
          <a:bodyPr/>
          <a:lstStyle/>
          <a:p>
            <a:fld id="{97CD20CA-ACF2-BE49-816A-92E47BE9F8FB}" type="slidenum">
              <a:rPr lang="en-US" smtClean="0"/>
              <a:t>23</a:t>
            </a:fld>
            <a:endParaRPr lang="en-US"/>
          </a:p>
        </p:txBody>
      </p:sp>
    </p:spTree>
    <p:extLst>
      <p:ext uri="{BB962C8B-B14F-4D97-AF65-F5344CB8AC3E}">
        <p14:creationId xmlns:p14="http://schemas.microsoft.com/office/powerpoint/2010/main" val="480102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0A2A5-4697-8258-7014-3B949F1A2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CFA9F-D8E5-B589-968A-C82CB0426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E0E3B-C96E-5F8A-48A1-6782DDC6CD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B5B940-2F1B-7E45-480A-06AADAAB713F}"/>
              </a:ext>
            </a:extLst>
          </p:cNvPr>
          <p:cNvSpPr>
            <a:spLocks noGrp="1"/>
          </p:cNvSpPr>
          <p:nvPr>
            <p:ph type="sldNum" sz="quarter" idx="5"/>
          </p:nvPr>
        </p:nvSpPr>
        <p:spPr/>
        <p:txBody>
          <a:bodyPr/>
          <a:lstStyle/>
          <a:p>
            <a:fld id="{97CD20CA-ACF2-BE49-816A-92E47BE9F8FB}" type="slidenum">
              <a:rPr lang="en-US" smtClean="0"/>
              <a:t>24</a:t>
            </a:fld>
            <a:endParaRPr lang="en-US"/>
          </a:p>
        </p:txBody>
      </p:sp>
    </p:spTree>
    <p:extLst>
      <p:ext uri="{BB962C8B-B14F-4D97-AF65-F5344CB8AC3E}">
        <p14:creationId xmlns:p14="http://schemas.microsoft.com/office/powerpoint/2010/main" val="3227964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3A097-3FB5-B0E1-9ABF-3FD49D753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4D776-5BE7-EF54-8928-01269CC42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70EB4-C7A3-6784-D84E-00902537A0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012FF-F8A2-52C2-509C-D48484695915}"/>
              </a:ext>
            </a:extLst>
          </p:cNvPr>
          <p:cNvSpPr>
            <a:spLocks noGrp="1"/>
          </p:cNvSpPr>
          <p:nvPr>
            <p:ph type="sldNum" sz="quarter" idx="5"/>
          </p:nvPr>
        </p:nvSpPr>
        <p:spPr/>
        <p:txBody>
          <a:bodyPr/>
          <a:lstStyle/>
          <a:p>
            <a:fld id="{97CD20CA-ACF2-BE49-816A-92E47BE9F8FB}" type="slidenum">
              <a:rPr lang="en-US" smtClean="0"/>
              <a:t>25</a:t>
            </a:fld>
            <a:endParaRPr lang="en-US"/>
          </a:p>
        </p:txBody>
      </p:sp>
    </p:spTree>
    <p:extLst>
      <p:ext uri="{BB962C8B-B14F-4D97-AF65-F5344CB8AC3E}">
        <p14:creationId xmlns:p14="http://schemas.microsoft.com/office/powerpoint/2010/main" val="3484755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6A0A-E9FA-2E2F-7BD8-8FEC43247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8F90E-03D1-4939-8EA8-1C948C6E0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6717C-F897-B908-70A9-7F704633E8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726E68-C742-A949-FF75-E3E1EF987A94}"/>
              </a:ext>
            </a:extLst>
          </p:cNvPr>
          <p:cNvSpPr>
            <a:spLocks noGrp="1"/>
          </p:cNvSpPr>
          <p:nvPr>
            <p:ph type="sldNum" sz="quarter" idx="5"/>
          </p:nvPr>
        </p:nvSpPr>
        <p:spPr/>
        <p:txBody>
          <a:bodyPr/>
          <a:lstStyle/>
          <a:p>
            <a:fld id="{97CD20CA-ACF2-BE49-816A-92E47BE9F8FB}" type="slidenum">
              <a:rPr lang="en-US" smtClean="0"/>
              <a:t>26</a:t>
            </a:fld>
            <a:endParaRPr lang="en-US"/>
          </a:p>
        </p:txBody>
      </p:sp>
    </p:spTree>
    <p:extLst>
      <p:ext uri="{BB962C8B-B14F-4D97-AF65-F5344CB8AC3E}">
        <p14:creationId xmlns:p14="http://schemas.microsoft.com/office/powerpoint/2010/main" val="38776772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C2B2-5984-F731-4FB7-B08846ED7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3760C-D628-6987-C79F-3D22F543B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98FE2-FA45-FE01-2A1A-3F1CE8706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8F048E-D008-61C4-AEEE-14A9F7DD4524}"/>
              </a:ext>
            </a:extLst>
          </p:cNvPr>
          <p:cNvSpPr>
            <a:spLocks noGrp="1"/>
          </p:cNvSpPr>
          <p:nvPr>
            <p:ph type="sldNum" sz="quarter" idx="5"/>
          </p:nvPr>
        </p:nvSpPr>
        <p:spPr/>
        <p:txBody>
          <a:bodyPr/>
          <a:lstStyle/>
          <a:p>
            <a:fld id="{35AF0038-2A12-1843-A5BE-EE00844305AB}" type="slidenum">
              <a:rPr lang="en-US" smtClean="0"/>
              <a:t>27</a:t>
            </a:fld>
            <a:endParaRPr lang="en-US"/>
          </a:p>
        </p:txBody>
      </p:sp>
    </p:spTree>
    <p:extLst>
      <p:ext uri="{BB962C8B-B14F-4D97-AF65-F5344CB8AC3E}">
        <p14:creationId xmlns:p14="http://schemas.microsoft.com/office/powerpoint/2010/main" val="3957761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32A90-0A23-F853-554D-8FB114C562A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6859FB1-685D-8E27-44CF-223319C21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42CC8B0-1E42-245C-A866-6DFB246F6464}"/>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8F13128D-C75B-F14B-F2A1-C34930B24E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37995-D7B2-27A0-4F07-9BC8AAA3B2D5}"/>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1019896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11F7-1576-2B00-3E82-1F8A501E311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AD9555B-F2EC-3C3F-1441-E97B8477619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9ABD819-398F-406F-BAE0-1282DC5B17E5}"/>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B36F2395-D751-187F-7E40-1FDD0750A1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FD7B5-52CC-0F50-680F-D46BCD90FC10}"/>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42501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7B48-972B-1004-029B-0C06E8993F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3FD06A-29E4-EDF3-027E-A4C9727D5A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E544706-1603-35D5-81F5-931C36EB455C}"/>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986D55E5-48F4-5D15-DF66-A0C0DBF9B9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C80D5-0665-02F7-110A-A22C46BE666E}"/>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950559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0742-F507-9A92-983B-9544A819C75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E830B61-711F-6C7D-04C4-558C6FC2352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43792A-55ED-A946-FE13-C3E9E5615B8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5AC97D5-FE6C-CA9B-FC26-D891C90B76A6}"/>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6" name="Footer Placeholder 5">
            <a:extLst>
              <a:ext uri="{FF2B5EF4-FFF2-40B4-BE49-F238E27FC236}">
                <a16:creationId xmlns:a16="http://schemas.microsoft.com/office/drawing/2014/main" id="{90314FCA-7E56-C2DC-5E30-F3C3BD56E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61FF53-64FE-3B3B-7E9B-7BE4702751EF}"/>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1621029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7D41E-2E16-AFD1-FE4C-20B8D5D0A0A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8E0561-2148-D6BF-B344-3C859D515E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8691407-A7FC-F8BC-7818-2A42943364D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F660F1A-7E92-3B92-1823-C927ED42FD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16A498F-B993-57C5-DCA8-7FA4403860E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0F27147-322E-C90B-2F9C-3204FFE4806D}"/>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8" name="Footer Placeholder 7">
            <a:extLst>
              <a:ext uri="{FF2B5EF4-FFF2-40B4-BE49-F238E27FC236}">
                <a16:creationId xmlns:a16="http://schemas.microsoft.com/office/drawing/2014/main" id="{57757C53-3AB3-FE2B-1CDD-85466B7E42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3A9958-DCF0-2B79-E853-2C536F399698}"/>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362413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B32D-E1EC-172E-13BB-0F60C5D263C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4FC8338-E1F1-1BD9-1CF8-78E2E4220263}"/>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4" name="Footer Placeholder 3">
            <a:extLst>
              <a:ext uri="{FF2B5EF4-FFF2-40B4-BE49-F238E27FC236}">
                <a16:creationId xmlns:a16="http://schemas.microsoft.com/office/drawing/2014/main" id="{1D792A50-61F3-FFD9-01C0-C5443348E1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9EA613-4C70-863C-BAFE-CDAF5EEE490F}"/>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66247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AEB4B4-6C63-C31C-D87F-97D1068F5635}"/>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3" name="Footer Placeholder 2">
            <a:extLst>
              <a:ext uri="{FF2B5EF4-FFF2-40B4-BE49-F238E27FC236}">
                <a16:creationId xmlns:a16="http://schemas.microsoft.com/office/drawing/2014/main" id="{E366A4F5-14F7-9191-658C-6D555C3AC7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73218D-129D-90AF-BCEC-470135842787}"/>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3472222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BD40-DF6D-DAAE-BADD-54583DB84C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918260A-EC1B-2690-0D7B-4D3246586A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D134E6F-67EC-B138-3EA6-D151E2554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86A58E6-71B0-8574-6408-0A3C0CB5A0E5}"/>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6" name="Footer Placeholder 5">
            <a:extLst>
              <a:ext uri="{FF2B5EF4-FFF2-40B4-BE49-F238E27FC236}">
                <a16:creationId xmlns:a16="http://schemas.microsoft.com/office/drawing/2014/main" id="{5791C608-056B-C8F4-2F63-592FDAFA4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F908F3-9EF3-4521-6A3B-112A5B99DF58}"/>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191643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EC3A5-9D44-36F0-6CC0-A3491CE2C1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8E11D4A-1DD0-4EBB-6F8A-A2AA595FEF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444A7F-B4E7-4181-AE48-F7DD94DC3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2733CF-73F6-C2DA-4418-0B508E50CA89}"/>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6" name="Footer Placeholder 5">
            <a:extLst>
              <a:ext uri="{FF2B5EF4-FFF2-40B4-BE49-F238E27FC236}">
                <a16:creationId xmlns:a16="http://schemas.microsoft.com/office/drawing/2014/main" id="{E2931510-AAA0-A907-CB31-6F21297A4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E096E7-7092-5A4B-B828-A346BA8A4833}"/>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1864672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3E58A-139E-D3BE-5CCC-F338F81E89A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847527-7440-C9B1-3B4F-1C78756880A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418357-8139-DA7A-7D6F-99CBA7A8302B}"/>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763DFF4A-44D8-66DF-A54D-5117F2FC3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4ACFE4-4E06-1E51-764F-A304E5E80D3F}"/>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184369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459761-7B5F-486B-75E0-4663E39AF33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70B7C5E-BB75-268A-8333-C67F818DFEB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657DF18-A8F8-473E-DE54-E071C0F49266}"/>
              </a:ext>
            </a:extLst>
          </p:cNvPr>
          <p:cNvSpPr>
            <a:spLocks noGrp="1"/>
          </p:cNvSpPr>
          <p:nvPr>
            <p:ph type="dt" sz="half" idx="10"/>
          </p:nvPr>
        </p:nvSpPr>
        <p:spPr/>
        <p:txBody>
          <a:body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EE8C9A3D-BF90-6234-B874-21727D30C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034E0-DB5E-F521-8E0F-33E63D52037A}"/>
              </a:ext>
            </a:extLst>
          </p:cNvPr>
          <p:cNvSpPr>
            <a:spLocks noGrp="1"/>
          </p:cNvSpPr>
          <p:nvPr>
            <p:ph type="sldNum" sz="quarter" idx="12"/>
          </p:nvPr>
        </p:nvSpPr>
        <p:spPr/>
        <p:txBody>
          <a:bodyPr/>
          <a:lstStyle/>
          <a:p>
            <a:fld id="{65025448-A388-0F4A-A621-D9E76FCD673D}" type="slidenum">
              <a:rPr lang="en-US" smtClean="0"/>
              <a:t>‹#›</a:t>
            </a:fld>
            <a:endParaRPr lang="en-US"/>
          </a:p>
        </p:txBody>
      </p:sp>
    </p:spTree>
    <p:extLst>
      <p:ext uri="{BB962C8B-B14F-4D97-AF65-F5344CB8AC3E}">
        <p14:creationId xmlns:p14="http://schemas.microsoft.com/office/powerpoint/2010/main" val="3724055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8AD3AF-9235-065A-2E30-E7CB67569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1C4763-714F-E606-44D2-A15F6F791E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3682FF-989C-2972-365F-B1A5362A1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535732-F501-4346-B749-DEE6FEBFD34E}" type="datetimeFigureOut">
              <a:rPr lang="en-US" smtClean="0"/>
              <a:t>8/25/26</a:t>
            </a:fld>
            <a:endParaRPr lang="en-US"/>
          </a:p>
        </p:txBody>
      </p:sp>
      <p:sp>
        <p:nvSpPr>
          <p:cNvPr id="5" name="Footer Placeholder 4">
            <a:extLst>
              <a:ext uri="{FF2B5EF4-FFF2-40B4-BE49-F238E27FC236}">
                <a16:creationId xmlns:a16="http://schemas.microsoft.com/office/drawing/2014/main" id="{9AD5C5E6-837C-02AE-1477-03F43B8BFD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4D6D12-97FC-6086-1D62-2776B7910C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025448-A388-0F4A-A621-D9E76FCD673D}" type="slidenum">
              <a:rPr lang="en-US" smtClean="0"/>
              <a:t>‹#›</a:t>
            </a:fld>
            <a:endParaRPr lang="en-US"/>
          </a:p>
        </p:txBody>
      </p:sp>
    </p:spTree>
    <p:extLst>
      <p:ext uri="{BB962C8B-B14F-4D97-AF65-F5344CB8AC3E}">
        <p14:creationId xmlns:p14="http://schemas.microsoft.com/office/powerpoint/2010/main" val="4162984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2D9B6-7C9A-8AEF-A12E-07AF9C6213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123B47-8FB3-CBC1-84EB-3227B73B3477}"/>
              </a:ext>
            </a:extLst>
          </p:cNvPr>
          <p:cNvSpPr/>
          <p:nvPr/>
        </p:nvSpPr>
        <p:spPr>
          <a:xfrm>
            <a:off x="0" y="28204"/>
            <a:ext cx="12192000" cy="6858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7BDD764E-D53D-F450-5802-E42C3DBA465F}"/>
              </a:ext>
            </a:extLst>
          </p:cNvPr>
          <p:cNvSpPr txBox="1">
            <a:spLocks/>
          </p:cNvSpPr>
          <p:nvPr/>
        </p:nvSpPr>
        <p:spPr>
          <a:xfrm>
            <a:off x="659233" y="1253066"/>
            <a:ext cx="7434021" cy="256200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5200"/>
              </a:lnSpc>
            </a:pPr>
            <a:r>
              <a:rPr lang="en-US" sz="6600" b="1" dirty="0">
                <a:solidFill>
                  <a:srgbClr val="48375F"/>
                </a:solidFill>
                <a:latin typeface="Calibri" panose="020F0502020204030204" pitchFamily="34" charset="0"/>
                <a:cs typeface="Calibri" panose="020F0502020204030204" pitchFamily="34" charset="0"/>
              </a:rPr>
              <a:t>Mobile Phone</a:t>
            </a:r>
          </a:p>
          <a:p>
            <a:pPr>
              <a:lnSpc>
                <a:spcPts val="5200"/>
              </a:lnSpc>
            </a:pPr>
            <a:r>
              <a:rPr lang="en-US" sz="6600" b="1" dirty="0">
                <a:solidFill>
                  <a:srgbClr val="48375F"/>
                </a:solidFill>
                <a:latin typeface="Calibri" panose="020F0502020204030204" pitchFamily="34" charset="0"/>
                <a:cs typeface="Calibri" panose="020F0502020204030204" pitchFamily="34" charset="0"/>
              </a:rPr>
              <a:t>Price Prediction</a:t>
            </a:r>
          </a:p>
        </p:txBody>
      </p:sp>
      <p:pic>
        <p:nvPicPr>
          <p:cNvPr id="6" name="Picture 2" descr="logo">
            <a:extLst>
              <a:ext uri="{FF2B5EF4-FFF2-40B4-BE49-F238E27FC236}">
                <a16:creationId xmlns:a16="http://schemas.microsoft.com/office/drawing/2014/main" id="{4534C8E6-FBC8-A957-6775-6DDF0EAFF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BA3EBE1-3CBC-7692-5CE3-45AD5AD2CFB2}"/>
              </a:ext>
            </a:extLst>
          </p:cNvPr>
          <p:cNvSpPr txBox="1"/>
          <p:nvPr/>
        </p:nvSpPr>
        <p:spPr>
          <a:xfrm>
            <a:off x="659233" y="3496142"/>
            <a:ext cx="5947531" cy="707886"/>
          </a:xfrm>
          <a:prstGeom prst="rect">
            <a:avLst/>
          </a:prstGeom>
          <a:noFill/>
        </p:spPr>
        <p:txBody>
          <a:bodyPr wrap="square">
            <a:spAutoFit/>
          </a:bodyPr>
          <a:lstStyle/>
          <a:p>
            <a:pPr algn="ctr"/>
            <a:r>
              <a:rPr lang="en-US" sz="2000" dirty="0">
                <a:solidFill>
                  <a:srgbClr val="68476B"/>
                </a:solidFill>
                <a:latin typeface="Calibri" pitchFamily="34" charset="0"/>
                <a:cs typeface="Calibri" pitchFamily="34" charset="-120"/>
              </a:rPr>
              <a:t>Feature engineering, exploratory analysis and machine-learning valuation of Indian retail handset listings</a:t>
            </a:r>
          </a:p>
        </p:txBody>
      </p:sp>
      <p:sp>
        <p:nvSpPr>
          <p:cNvPr id="8" name="TextBox 7">
            <a:extLst>
              <a:ext uri="{FF2B5EF4-FFF2-40B4-BE49-F238E27FC236}">
                <a16:creationId xmlns:a16="http://schemas.microsoft.com/office/drawing/2014/main" id="{6BC5A5EB-D4F1-F759-B673-F185F75AD774}"/>
              </a:ext>
            </a:extLst>
          </p:cNvPr>
          <p:cNvSpPr txBox="1"/>
          <p:nvPr/>
        </p:nvSpPr>
        <p:spPr>
          <a:xfrm>
            <a:off x="2724460" y="5844122"/>
            <a:ext cx="2429383" cy="461665"/>
          </a:xfrm>
          <a:prstGeom prst="rect">
            <a:avLst/>
          </a:prstGeom>
          <a:noFill/>
        </p:spPr>
        <p:txBody>
          <a:bodyPr wrap="none" rtlCol="0">
            <a:spAutoFit/>
          </a:bodyPr>
          <a:lstStyle/>
          <a:p>
            <a:r>
              <a:rPr lang="en-US" sz="2400" dirty="0">
                <a:solidFill>
                  <a:srgbClr val="68476B"/>
                </a:solidFill>
                <a:latin typeface="Calibri" pitchFamily="34" charset="0"/>
                <a:ea typeface="Calibri" pitchFamily="34" charset="-122"/>
                <a:cs typeface="Calibri" pitchFamily="34" charset="-120"/>
              </a:rPr>
              <a:t>By: Srishti Sharma</a:t>
            </a:r>
            <a:endParaRPr lang="en-US" sz="2400" dirty="0">
              <a:solidFill>
                <a:srgbClr val="68476B"/>
              </a:solidFill>
            </a:endParaRPr>
          </a:p>
        </p:txBody>
      </p:sp>
      <p:pic>
        <p:nvPicPr>
          <p:cNvPr id="9" name="Picture 8">
            <a:extLst>
              <a:ext uri="{FF2B5EF4-FFF2-40B4-BE49-F238E27FC236}">
                <a16:creationId xmlns:a16="http://schemas.microsoft.com/office/drawing/2014/main" id="{E44F4862-C086-0A99-0458-956C0A58C54D}"/>
              </a:ext>
            </a:extLst>
          </p:cNvPr>
          <p:cNvPicPr>
            <a:picLocks noChangeAspect="1"/>
          </p:cNvPicPr>
          <p:nvPr/>
        </p:nvPicPr>
        <p:blipFill>
          <a:blip r:embed="rId4"/>
          <a:stretch>
            <a:fillRect/>
          </a:stretch>
        </p:blipFill>
        <p:spPr>
          <a:xfrm>
            <a:off x="8093254" y="664049"/>
            <a:ext cx="3686601" cy="5529902"/>
          </a:xfrm>
          <a:prstGeom prst="rect">
            <a:avLst/>
          </a:prstGeom>
          <a:solidFill>
            <a:srgbClr val="F3F3F3"/>
          </a:solidFill>
        </p:spPr>
      </p:pic>
      <p:sp>
        <p:nvSpPr>
          <p:cNvPr id="2" name="TextBox 1">
            <a:extLst>
              <a:ext uri="{FF2B5EF4-FFF2-40B4-BE49-F238E27FC236}">
                <a16:creationId xmlns:a16="http://schemas.microsoft.com/office/drawing/2014/main" id="{B6492ACB-6CB7-C539-F21D-7C9E14C352B1}"/>
              </a:ext>
            </a:extLst>
          </p:cNvPr>
          <p:cNvSpPr txBox="1"/>
          <p:nvPr/>
        </p:nvSpPr>
        <p:spPr>
          <a:xfrm>
            <a:off x="673402" y="664049"/>
            <a:ext cx="5584895" cy="400110"/>
          </a:xfrm>
          <a:prstGeom prst="rect">
            <a:avLst/>
          </a:prstGeom>
          <a:noFill/>
        </p:spPr>
        <p:txBody>
          <a:bodyPr wrap="square">
            <a:spAutoFit/>
          </a:bodyPr>
          <a:lstStyle/>
          <a:p>
            <a:r>
              <a:rPr lang="en-US" sz="2000" b="1" kern="0" spc="300" dirty="0">
                <a:solidFill>
                  <a:srgbClr val="BE9A4A"/>
                </a:solidFill>
                <a:latin typeface="Calibri" pitchFamily="34" charset="0"/>
                <a:ea typeface="Calibri" pitchFamily="34" charset="-122"/>
                <a:cs typeface="Calibri" pitchFamily="34" charset="-120"/>
              </a:rPr>
              <a:t>MOBILE PHONE PRICING</a:t>
            </a:r>
            <a:endParaRPr lang="en-US" sz="2000" dirty="0"/>
          </a:p>
        </p:txBody>
      </p:sp>
      <p:sp>
        <p:nvSpPr>
          <p:cNvPr id="3" name="TextBox 2">
            <a:extLst>
              <a:ext uri="{FF2B5EF4-FFF2-40B4-BE49-F238E27FC236}">
                <a16:creationId xmlns:a16="http://schemas.microsoft.com/office/drawing/2014/main" id="{800E4729-EA6C-03E0-C93C-7D5F4B451D24}"/>
              </a:ext>
            </a:extLst>
          </p:cNvPr>
          <p:cNvSpPr txBox="1"/>
          <p:nvPr/>
        </p:nvSpPr>
        <p:spPr>
          <a:xfrm>
            <a:off x="362392" y="4404084"/>
            <a:ext cx="6541212" cy="307777"/>
          </a:xfrm>
          <a:prstGeom prst="rect">
            <a:avLst/>
          </a:prstGeom>
          <a:noFill/>
        </p:spPr>
        <p:txBody>
          <a:bodyPr wrap="square">
            <a:spAutoFit/>
          </a:bodyPr>
          <a:lstStyle/>
          <a:p>
            <a:pPr algn="ctr"/>
            <a:r>
              <a:rPr lang="en-US" sz="1400" dirty="0">
                <a:solidFill>
                  <a:srgbClr val="68476B"/>
                </a:solidFill>
                <a:latin typeface="Calibri" pitchFamily="34" charset="0"/>
                <a:cs typeface="Calibri" pitchFamily="34" charset="-120"/>
              </a:rPr>
              <a:t>Dataset  </a:t>
            </a:r>
            <a:r>
              <a:rPr lang="en-US" sz="1400" dirty="0" err="1">
                <a:solidFill>
                  <a:srgbClr val="68476B"/>
                </a:solidFill>
                <a:latin typeface="Calibri" pitchFamily="34" charset="0"/>
                <a:cs typeface="Calibri" pitchFamily="34" charset="-120"/>
              </a:rPr>
              <a:t>Processed_Flipdata.xlsx</a:t>
            </a:r>
            <a:r>
              <a:rPr lang="en-US" sz="1400" dirty="0">
                <a:solidFill>
                  <a:srgbClr val="68476B"/>
                </a:solidFill>
                <a:latin typeface="Calibri" pitchFamily="34" charset="0"/>
                <a:cs typeface="Calibri" pitchFamily="34" charset="-120"/>
              </a:rPr>
              <a:t>  ·  531 listings × 11 raw fields 428 / 103 train-test split</a:t>
            </a:r>
          </a:p>
        </p:txBody>
      </p:sp>
    </p:spTree>
    <p:extLst>
      <p:ext uri="{BB962C8B-B14F-4D97-AF65-F5344CB8AC3E}">
        <p14:creationId xmlns:p14="http://schemas.microsoft.com/office/powerpoint/2010/main" val="1985419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C1D6B-1DE6-8BE1-A0D9-F82334909622}"/>
            </a:ext>
          </a:extLst>
        </p:cNvPr>
        <p:cNvGrpSpPr/>
        <p:nvPr/>
      </p:nvGrpSpPr>
      <p:grpSpPr>
        <a:xfrm>
          <a:off x="0" y="0"/>
          <a:ext cx="0" cy="0"/>
          <a:chOff x="0" y="0"/>
          <a:chExt cx="0" cy="0"/>
        </a:xfrm>
      </p:grpSpPr>
      <p:pic>
        <p:nvPicPr>
          <p:cNvPr id="3" name="Picture 2" descr="logo">
            <a:extLst>
              <a:ext uri="{FF2B5EF4-FFF2-40B4-BE49-F238E27FC236}">
                <a16:creationId xmlns:a16="http://schemas.microsoft.com/office/drawing/2014/main" id="{38948980-DF27-7194-5BB1-C68015D7F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21772"/>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546BCD7-3AA4-1562-2229-E9F64C23ED05}"/>
              </a:ext>
            </a:extLst>
          </p:cNvPr>
          <p:cNvSpPr txBox="1">
            <a:spLocks/>
          </p:cNvSpPr>
          <p:nvPr/>
        </p:nvSpPr>
        <p:spPr>
          <a:xfrm>
            <a:off x="0" y="56775"/>
            <a:ext cx="12192000" cy="133311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Price Is Substantially Spec-Driven </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Below the Flagship Tier</a:t>
            </a:r>
            <a:endParaRPr lang="en-US" sz="4800" dirty="0">
              <a:solidFill>
                <a:srgbClr val="48375F"/>
              </a:solidFill>
              <a:latin typeface="Calibri" panose="020F0502020204030204" pitchFamily="34" charset="0"/>
              <a:cs typeface="Calibri" panose="020F0502020204030204" pitchFamily="34" charset="0"/>
            </a:endParaRPr>
          </a:p>
        </p:txBody>
      </p:sp>
      <p:sp>
        <p:nvSpPr>
          <p:cNvPr id="2" name="Shape 2">
            <a:extLst>
              <a:ext uri="{FF2B5EF4-FFF2-40B4-BE49-F238E27FC236}">
                <a16:creationId xmlns:a16="http://schemas.microsoft.com/office/drawing/2014/main" id="{B250A010-6FB5-D9DB-5CA8-CAE76E3B9ED5}"/>
              </a:ext>
            </a:extLst>
          </p:cNvPr>
          <p:cNvSpPr/>
          <p:nvPr/>
        </p:nvSpPr>
        <p:spPr>
          <a:xfrm>
            <a:off x="622703" y="2080179"/>
            <a:ext cx="1981109" cy="970809"/>
          </a:xfrm>
          <a:prstGeom prst="roundRect">
            <a:avLst>
              <a:gd name="adj" fmla="val 6957"/>
            </a:avLst>
          </a:prstGeom>
          <a:solidFill>
            <a:srgbClr val="DADBDA"/>
          </a:solidFill>
          <a:ln/>
        </p:spPr>
        <p:txBody>
          <a:bodyPr/>
          <a:lstStyle/>
          <a:p>
            <a:pPr>
              <a:lnSpc>
                <a:spcPct val="125000"/>
              </a:lnSpc>
              <a:defRPr/>
            </a:pPr>
            <a:r>
              <a:rPr lang="en-US" sz="2000" b="1" dirty="0">
                <a:solidFill>
                  <a:srgbClr val="48375F"/>
                </a:solidFill>
                <a:latin typeface="Cambria" pitchFamily="34" charset="0"/>
                <a:ea typeface="Cambria" pitchFamily="34" charset="-122"/>
                <a:cs typeface="Cambria" pitchFamily="34" charset="-120"/>
              </a:rPr>
              <a:t>531</a:t>
            </a:r>
          </a:p>
          <a:p>
            <a:pPr>
              <a:lnSpc>
                <a:spcPct val="125000"/>
              </a:lnSpc>
              <a:defRPr/>
            </a:pPr>
            <a:endParaRPr lang="en-US" sz="1050" dirty="0">
              <a:solidFill>
                <a:srgbClr val="48375F"/>
              </a:solidFill>
            </a:endParaRPr>
          </a:p>
          <a:p>
            <a:pPr>
              <a:lnSpc>
                <a:spcPct val="125000"/>
              </a:lnSpc>
              <a:defRPr/>
            </a:pPr>
            <a:r>
              <a:rPr lang="en-US" sz="1100" dirty="0">
                <a:solidFill>
                  <a:srgbClr val="48375F"/>
                </a:solidFill>
                <a:latin typeface="Calibri" pitchFamily="34" charset="0"/>
                <a:ea typeface="Calibri" pitchFamily="34" charset="-122"/>
                <a:cs typeface="Calibri" pitchFamily="34" charset="-120"/>
              </a:rPr>
              <a:t>Listings </a:t>
            </a:r>
            <a:r>
              <a:rPr lang="en-US" sz="1100" dirty="0" err="1">
                <a:solidFill>
                  <a:srgbClr val="48375F"/>
                </a:solidFill>
                <a:latin typeface="Calibri" pitchFamily="34" charset="0"/>
                <a:ea typeface="Calibri" pitchFamily="34" charset="-122"/>
                <a:cs typeface="Calibri" pitchFamily="34" charset="-120"/>
              </a:rPr>
              <a:t>analysed</a:t>
            </a:r>
            <a:r>
              <a:rPr lang="en-US" sz="1100" dirty="0">
                <a:solidFill>
                  <a:srgbClr val="48375F"/>
                </a:solidFill>
                <a:latin typeface="Calibri" pitchFamily="34" charset="0"/>
                <a:ea typeface="Calibri" pitchFamily="34" charset="-122"/>
                <a:cs typeface="Calibri" pitchFamily="34" charset="-120"/>
              </a:rPr>
              <a:t> (post-</a:t>
            </a:r>
            <a:r>
              <a:rPr lang="en-US" sz="1100" dirty="0" err="1">
                <a:solidFill>
                  <a:srgbClr val="48375F"/>
                </a:solidFill>
                <a:latin typeface="Calibri" pitchFamily="34" charset="0"/>
                <a:ea typeface="Calibri" pitchFamily="34" charset="-122"/>
                <a:cs typeface="Calibri" pitchFamily="34" charset="-120"/>
              </a:rPr>
              <a:t>dedup</a:t>
            </a:r>
            <a:r>
              <a:rPr lang="en-US" sz="1100" dirty="0">
                <a:solidFill>
                  <a:srgbClr val="48375F"/>
                </a:solidFill>
                <a:latin typeface="Calibri" pitchFamily="34" charset="0"/>
                <a:ea typeface="Calibri" pitchFamily="34" charset="-122"/>
                <a:cs typeface="Calibri" pitchFamily="34" charset="-120"/>
              </a:rPr>
              <a:t>)</a:t>
            </a:r>
            <a:endParaRPr lang="en-US" sz="1100" dirty="0">
              <a:solidFill>
                <a:srgbClr val="48375F"/>
              </a:solidFill>
            </a:endParaRPr>
          </a:p>
        </p:txBody>
      </p:sp>
      <p:sp>
        <p:nvSpPr>
          <p:cNvPr id="7" name="TextBox 6">
            <a:extLst>
              <a:ext uri="{FF2B5EF4-FFF2-40B4-BE49-F238E27FC236}">
                <a16:creationId xmlns:a16="http://schemas.microsoft.com/office/drawing/2014/main" id="{2CA59822-4540-AEE5-760C-C69783653F56}"/>
              </a:ext>
            </a:extLst>
          </p:cNvPr>
          <p:cNvSpPr txBox="1"/>
          <p:nvPr/>
        </p:nvSpPr>
        <p:spPr>
          <a:xfrm>
            <a:off x="445323" y="1337446"/>
            <a:ext cx="11301351" cy="584775"/>
          </a:xfrm>
          <a:prstGeom prst="rect">
            <a:avLst/>
          </a:prstGeom>
          <a:noFill/>
        </p:spPr>
        <p:txBody>
          <a:bodyPr wrap="square">
            <a:spAutoFit/>
          </a:bodyPr>
          <a:lstStyle/>
          <a:p>
            <a:r>
              <a:rPr lang="en-US" sz="1600" dirty="0">
                <a:solidFill>
                  <a:srgbClr val="48375F"/>
                </a:solidFill>
                <a:latin typeface="Calibri" pitchFamily="34" charset="0"/>
                <a:ea typeface="Calibri" pitchFamily="34" charset="-122"/>
                <a:cs typeface="Calibri" pitchFamily="34" charset="-120"/>
              </a:rPr>
              <a:t>A tuned Random Forest explains roughly 69% of price variation from device specifications alone. Brand adds little independent pricing power once specifications are known — except at the flagship tier, where a premium attaches to Apple and Google on a thin sample.</a:t>
            </a:r>
            <a:endParaRPr lang="en-US" sz="1600" dirty="0">
              <a:solidFill>
                <a:srgbClr val="48375F"/>
              </a:solidFill>
            </a:endParaRPr>
          </a:p>
        </p:txBody>
      </p:sp>
      <p:sp>
        <p:nvSpPr>
          <p:cNvPr id="9" name="TextBox 8">
            <a:extLst>
              <a:ext uri="{FF2B5EF4-FFF2-40B4-BE49-F238E27FC236}">
                <a16:creationId xmlns:a16="http://schemas.microsoft.com/office/drawing/2014/main" id="{48B9BE91-23FB-157B-B1FF-B30B0F48F7B6}"/>
              </a:ext>
            </a:extLst>
          </p:cNvPr>
          <p:cNvSpPr txBox="1"/>
          <p:nvPr/>
        </p:nvSpPr>
        <p:spPr>
          <a:xfrm>
            <a:off x="445323" y="3203408"/>
            <a:ext cx="3574055" cy="338554"/>
          </a:xfrm>
          <a:prstGeom prst="rect">
            <a:avLst/>
          </a:prstGeom>
          <a:noFill/>
        </p:spPr>
        <p:txBody>
          <a:bodyPr wrap="none" rtlCol="0">
            <a:spAutoFit/>
          </a:bodyPr>
          <a:lstStyle/>
          <a:p>
            <a:r>
              <a:rPr lang="en-US" sz="1600" b="1" kern="0" spc="160" dirty="0">
                <a:solidFill>
                  <a:srgbClr val="48375F"/>
                </a:solidFill>
                <a:latin typeface="Calibri" pitchFamily="34" charset="0"/>
                <a:ea typeface="Calibri" pitchFamily="34" charset="-122"/>
                <a:cs typeface="Calibri" pitchFamily="34" charset="-120"/>
              </a:rPr>
              <a:t>WHAT THE ANALYSIS ESTABLISES</a:t>
            </a:r>
            <a:endParaRPr lang="en-US" sz="1600" dirty="0">
              <a:solidFill>
                <a:srgbClr val="48375F"/>
              </a:solidFill>
            </a:endParaRPr>
          </a:p>
        </p:txBody>
      </p:sp>
      <p:sp>
        <p:nvSpPr>
          <p:cNvPr id="10" name="TextBox 9">
            <a:extLst>
              <a:ext uri="{FF2B5EF4-FFF2-40B4-BE49-F238E27FC236}">
                <a16:creationId xmlns:a16="http://schemas.microsoft.com/office/drawing/2014/main" id="{E2324622-BB14-8863-1913-538CDA9F2E89}"/>
              </a:ext>
            </a:extLst>
          </p:cNvPr>
          <p:cNvSpPr txBox="1"/>
          <p:nvPr/>
        </p:nvSpPr>
        <p:spPr>
          <a:xfrm>
            <a:off x="445323" y="3646421"/>
            <a:ext cx="5213209" cy="2926763"/>
          </a:xfrm>
          <a:prstGeom prst="rect">
            <a:avLst/>
          </a:prstGeom>
          <a:noFill/>
        </p:spPr>
        <p:txBody>
          <a:bodyPr wrap="square" rtlCol="0">
            <a:spAutoFit/>
          </a:bodyPr>
          <a:lstStyle/>
          <a:p>
            <a:r>
              <a:rPr lang="en-US" sz="1600" b="1" dirty="0">
                <a:solidFill>
                  <a:srgbClr val="48375F"/>
                </a:solidFill>
                <a:latin typeface="Calibri" pitchFamily="34" charset="0"/>
                <a:cs typeface="Calibri" pitchFamily="34" charset="-120"/>
              </a:rPr>
              <a:t>Specifications dominate brand</a:t>
            </a:r>
          </a:p>
          <a:p>
            <a:pPr>
              <a:lnSpc>
                <a:spcPts val="1562"/>
              </a:lnSpc>
            </a:pPr>
            <a:r>
              <a:rPr lang="en-US" sz="1600" dirty="0">
                <a:solidFill>
                  <a:srgbClr val="48375F"/>
                </a:solidFill>
                <a:latin typeface="Calibri" pitchFamily="34" charset="0"/>
                <a:cs typeface="Calibri" pitchFamily="34" charset="-120"/>
              </a:rPr>
              <a:t>Memory (r=+0.564), RAM (r=+0.529) and camera specifications carry the pricing signal; brand contributes marginal independent power once specs are fixed.</a:t>
            </a:r>
          </a:p>
          <a:p>
            <a:endParaRPr lang="en-US" sz="1600" dirty="0">
              <a:solidFill>
                <a:srgbClr val="48375F"/>
              </a:solidFill>
              <a:latin typeface="Calibri" pitchFamily="34" charset="0"/>
              <a:cs typeface="Calibri" pitchFamily="34" charset="-120"/>
            </a:endParaRPr>
          </a:p>
          <a:p>
            <a:r>
              <a:rPr lang="en-US" sz="1600" b="1" dirty="0">
                <a:solidFill>
                  <a:srgbClr val="48375F"/>
                </a:solidFill>
                <a:latin typeface="Calibri" pitchFamily="34" charset="0"/>
                <a:cs typeface="Calibri" pitchFamily="34" charset="-120"/>
              </a:rPr>
              <a:t>Two masked relationships recovered</a:t>
            </a:r>
          </a:p>
          <a:p>
            <a:pPr>
              <a:lnSpc>
                <a:spcPts val="1562"/>
              </a:lnSpc>
            </a:pPr>
            <a:r>
              <a:rPr lang="en-US" sz="1600" dirty="0">
                <a:solidFill>
                  <a:srgbClr val="48375F"/>
                </a:solidFill>
                <a:latin typeface="Calibri" pitchFamily="34" charset="0"/>
                <a:cs typeface="Calibri" pitchFamily="34" charset="-120"/>
              </a:rPr>
              <a:t>Battery capacity and screen size showed misleading correlations until a 15-listing data-quality cluster was isolated and handled.</a:t>
            </a:r>
          </a:p>
          <a:p>
            <a:pPr>
              <a:lnSpc>
                <a:spcPts val="1562"/>
              </a:lnSpc>
            </a:pPr>
            <a:endParaRPr lang="en-US" sz="1600" dirty="0">
              <a:solidFill>
                <a:srgbClr val="48375F"/>
              </a:solidFill>
              <a:latin typeface="Calibri" pitchFamily="34" charset="0"/>
              <a:cs typeface="Calibri" pitchFamily="34" charset="-120"/>
            </a:endParaRPr>
          </a:p>
          <a:p>
            <a:r>
              <a:rPr lang="en-US" sz="1600" b="1" dirty="0">
                <a:solidFill>
                  <a:srgbClr val="48375F"/>
                </a:solidFill>
                <a:latin typeface="Calibri" pitchFamily="34" charset="0"/>
                <a:cs typeface="Calibri" pitchFamily="34" charset="-120"/>
              </a:rPr>
              <a:t>Front-camera MP is the sharper lever</a:t>
            </a:r>
          </a:p>
          <a:p>
            <a:pPr>
              <a:lnSpc>
                <a:spcPts val="1562"/>
              </a:lnSpc>
            </a:pPr>
            <a:r>
              <a:rPr lang="en-US" sz="1600" dirty="0">
                <a:solidFill>
                  <a:srgbClr val="48375F"/>
                </a:solidFill>
                <a:latin typeface="Calibri" pitchFamily="34" charset="0"/>
                <a:cs typeface="Calibri" pitchFamily="34" charset="-120"/>
              </a:rPr>
              <a:t>≈₹620 per megapixel versus ≈₹139 for rear camera, where 48% of listings cluster at 50MP.</a:t>
            </a:r>
          </a:p>
        </p:txBody>
      </p:sp>
      <p:sp>
        <p:nvSpPr>
          <p:cNvPr id="11" name="TextBox 10">
            <a:extLst>
              <a:ext uri="{FF2B5EF4-FFF2-40B4-BE49-F238E27FC236}">
                <a16:creationId xmlns:a16="http://schemas.microsoft.com/office/drawing/2014/main" id="{E4247EA5-944F-B7E8-7170-E90B9CC467CD}"/>
              </a:ext>
            </a:extLst>
          </p:cNvPr>
          <p:cNvSpPr txBox="1"/>
          <p:nvPr/>
        </p:nvSpPr>
        <p:spPr>
          <a:xfrm>
            <a:off x="6315537" y="3204737"/>
            <a:ext cx="4356321" cy="338554"/>
          </a:xfrm>
          <a:prstGeom prst="rect">
            <a:avLst/>
          </a:prstGeom>
          <a:noFill/>
        </p:spPr>
        <p:txBody>
          <a:bodyPr wrap="none" rtlCol="0">
            <a:spAutoFit/>
          </a:bodyPr>
          <a:lstStyle/>
          <a:p>
            <a:r>
              <a:rPr lang="en-US" sz="1600" b="1" kern="0" spc="160" dirty="0">
                <a:solidFill>
                  <a:srgbClr val="48375F"/>
                </a:solidFill>
                <a:latin typeface="Calibri" pitchFamily="34" charset="0"/>
                <a:ea typeface="Calibri" pitchFamily="34" charset="-122"/>
                <a:cs typeface="Calibri" pitchFamily="34" charset="-120"/>
              </a:rPr>
              <a:t>WHAT FOLLOWS FOR PRICING STRATEGY</a:t>
            </a:r>
            <a:endParaRPr lang="en-US" sz="1600" dirty="0">
              <a:solidFill>
                <a:srgbClr val="48375F"/>
              </a:solidFill>
            </a:endParaRPr>
          </a:p>
        </p:txBody>
      </p:sp>
      <p:sp>
        <p:nvSpPr>
          <p:cNvPr id="12" name="TextBox 11">
            <a:extLst>
              <a:ext uri="{FF2B5EF4-FFF2-40B4-BE49-F238E27FC236}">
                <a16:creationId xmlns:a16="http://schemas.microsoft.com/office/drawing/2014/main" id="{9C74DF6E-8FC9-2118-062E-4AA8D4C84652}"/>
              </a:ext>
            </a:extLst>
          </p:cNvPr>
          <p:cNvSpPr txBox="1"/>
          <p:nvPr/>
        </p:nvSpPr>
        <p:spPr>
          <a:xfrm>
            <a:off x="6272525" y="3657051"/>
            <a:ext cx="5306228" cy="2475358"/>
          </a:xfrm>
          <a:prstGeom prst="rect">
            <a:avLst/>
          </a:prstGeom>
          <a:noFill/>
        </p:spPr>
        <p:txBody>
          <a:bodyPr wrap="square" rtlCol="0">
            <a:spAutoFit/>
          </a:bodyPr>
          <a:lstStyle/>
          <a:p>
            <a:r>
              <a:rPr lang="en-US" sz="1600" b="1" dirty="0">
                <a:solidFill>
                  <a:srgbClr val="48375F"/>
                </a:solidFill>
                <a:latin typeface="Calibri" pitchFamily="34" charset="0"/>
                <a:cs typeface="Calibri" pitchFamily="34" charset="-120"/>
              </a:rPr>
              <a:t>Compete on spec-per-rupee below flagship</a:t>
            </a:r>
          </a:p>
          <a:p>
            <a:pPr>
              <a:lnSpc>
                <a:spcPts val="1562"/>
              </a:lnSpc>
            </a:pPr>
            <a:r>
              <a:rPr lang="en-US" sz="1600" dirty="0">
                <a:solidFill>
                  <a:srgbClr val="48375F"/>
                </a:solidFill>
                <a:latin typeface="Calibri" pitchFamily="34" charset="0"/>
                <a:cs typeface="Calibri" pitchFamily="34" charset="-120"/>
              </a:rPr>
              <a:t>Where brand equity is not priced in, incremental Memory and RAM are the highest-yield specification investments.</a:t>
            </a:r>
          </a:p>
          <a:p>
            <a:pPr>
              <a:lnSpc>
                <a:spcPts val="1562"/>
              </a:lnSpc>
            </a:pPr>
            <a:endParaRPr lang="en-US" sz="1600" dirty="0">
              <a:solidFill>
                <a:srgbClr val="48375F"/>
              </a:solidFill>
              <a:latin typeface="Calibri" pitchFamily="34" charset="0"/>
              <a:cs typeface="Calibri" pitchFamily="34" charset="-120"/>
            </a:endParaRPr>
          </a:p>
          <a:p>
            <a:r>
              <a:rPr lang="en-US" sz="1600" b="1" dirty="0">
                <a:solidFill>
                  <a:srgbClr val="48375F"/>
                </a:solidFill>
                <a:latin typeface="Calibri" pitchFamily="34" charset="0"/>
                <a:cs typeface="Calibri" pitchFamily="34" charset="-120"/>
              </a:rPr>
              <a:t>Do not double-count Brand and Chipset</a:t>
            </a:r>
          </a:p>
          <a:p>
            <a:pPr>
              <a:lnSpc>
                <a:spcPts val="1562"/>
              </a:lnSpc>
            </a:pPr>
            <a:r>
              <a:rPr lang="en-US" sz="1600" dirty="0">
                <a:solidFill>
                  <a:srgbClr val="48375F"/>
                </a:solidFill>
                <a:latin typeface="Calibri" pitchFamily="34" charset="0"/>
                <a:cs typeface="Calibri" pitchFamily="34" charset="-120"/>
              </a:rPr>
              <a:t>The two are largely the same signal (Cramér's V=0.699, sparse cells); adjusting price for both risks double-counting.</a:t>
            </a:r>
          </a:p>
          <a:p>
            <a:pPr>
              <a:lnSpc>
                <a:spcPts val="1562"/>
              </a:lnSpc>
            </a:pPr>
            <a:endParaRPr lang="en-US" sz="1600" dirty="0">
              <a:solidFill>
                <a:srgbClr val="48375F"/>
              </a:solidFill>
              <a:latin typeface="Calibri" pitchFamily="34" charset="0"/>
              <a:cs typeface="Calibri" pitchFamily="34" charset="-120"/>
            </a:endParaRPr>
          </a:p>
          <a:p>
            <a:r>
              <a:rPr lang="en-US" sz="1600" b="1" dirty="0">
                <a:solidFill>
                  <a:srgbClr val="48375F"/>
                </a:solidFill>
                <a:latin typeface="Calibri" pitchFamily="34" charset="0"/>
                <a:cs typeface="Calibri" pitchFamily="34" charset="-120"/>
              </a:rPr>
              <a:t>Deploy as a sanity tool, not a pricing engine</a:t>
            </a:r>
          </a:p>
          <a:p>
            <a:pPr>
              <a:lnSpc>
                <a:spcPts val="1562"/>
              </a:lnSpc>
            </a:pPr>
            <a:r>
              <a:rPr lang="en-US" sz="1600" dirty="0">
                <a:solidFill>
                  <a:srgbClr val="48375F"/>
                </a:solidFill>
                <a:latin typeface="Calibri" pitchFamily="34" charset="0"/>
                <a:cs typeface="Calibri" pitchFamily="34" charset="-120"/>
              </a:rPr>
              <a:t>Pilot internally with mandatory manual review; a 10-field lite model retains 97.5% of CV R² for field use.</a:t>
            </a:r>
          </a:p>
        </p:txBody>
      </p:sp>
      <p:sp>
        <p:nvSpPr>
          <p:cNvPr id="13" name="TextBox 12">
            <a:extLst>
              <a:ext uri="{FF2B5EF4-FFF2-40B4-BE49-F238E27FC236}">
                <a16:creationId xmlns:a16="http://schemas.microsoft.com/office/drawing/2014/main" id="{8628544D-017F-2FB7-BCE0-8ED5327E317F}"/>
              </a:ext>
            </a:extLst>
          </p:cNvPr>
          <p:cNvSpPr txBox="1"/>
          <p:nvPr/>
        </p:nvSpPr>
        <p:spPr>
          <a:xfrm>
            <a:off x="630876" y="6585043"/>
            <a:ext cx="10327374" cy="276999"/>
          </a:xfrm>
          <a:prstGeom prst="rect">
            <a:avLst/>
          </a:prstGeom>
          <a:noFill/>
        </p:spPr>
        <p:txBody>
          <a:bodyPr wrap="square" rtlCol="0">
            <a:spAutoFit/>
          </a:bodyPr>
          <a:lstStyle/>
          <a:p>
            <a:r>
              <a:rPr lang="en-US" sz="1200" dirty="0">
                <a:solidFill>
                  <a:srgbClr val="48375F"/>
                </a:solidFill>
                <a:latin typeface="Calibri" pitchFamily="34" charset="0"/>
                <a:ea typeface="Calibri" pitchFamily="34" charset="-122"/>
                <a:cs typeface="Calibri" pitchFamily="34" charset="-120"/>
              </a:rPr>
              <a:t>Source: </a:t>
            </a:r>
            <a:r>
              <a:rPr lang="en-US" sz="1200" dirty="0" err="1">
                <a:solidFill>
                  <a:srgbClr val="48375F"/>
                </a:solidFill>
                <a:latin typeface="Calibri" pitchFamily="34" charset="0"/>
                <a:ea typeface="Calibri" pitchFamily="34" charset="-122"/>
                <a:cs typeface="Calibri" pitchFamily="34" charset="-120"/>
              </a:rPr>
              <a:t>Processed_Flipdata.xlsx</a:t>
            </a:r>
            <a:r>
              <a:rPr lang="en-US" sz="1200" dirty="0">
                <a:solidFill>
                  <a:srgbClr val="48375F"/>
                </a:solidFill>
                <a:latin typeface="Calibri" pitchFamily="34" charset="0"/>
                <a:ea typeface="Calibri" pitchFamily="34" charset="-122"/>
                <a:cs typeface="Calibri" pitchFamily="34" charset="-120"/>
              </a:rPr>
              <a:t> (541 raw listings; 531 post-deduplication); Test-set figures reflect a single held-out split (seed=42) and carry mild selection optimism</a:t>
            </a:r>
            <a:endParaRPr lang="en-US" sz="1200" dirty="0">
              <a:solidFill>
                <a:srgbClr val="48375F"/>
              </a:solidFill>
            </a:endParaRPr>
          </a:p>
        </p:txBody>
      </p:sp>
      <p:sp>
        <p:nvSpPr>
          <p:cNvPr id="20" name="Shape 23">
            <a:extLst>
              <a:ext uri="{FF2B5EF4-FFF2-40B4-BE49-F238E27FC236}">
                <a16:creationId xmlns:a16="http://schemas.microsoft.com/office/drawing/2014/main" id="{1CD770BB-8281-C6F4-6F02-4A2F634154F6}"/>
              </a:ext>
            </a:extLst>
          </p:cNvPr>
          <p:cNvSpPr/>
          <p:nvPr/>
        </p:nvSpPr>
        <p:spPr>
          <a:xfrm>
            <a:off x="445323" y="3584055"/>
            <a:ext cx="5349240" cy="10973"/>
          </a:xfrm>
          <a:prstGeom prst="rect">
            <a:avLst/>
          </a:prstGeom>
          <a:solidFill>
            <a:srgbClr val="0F2748"/>
          </a:solidFill>
          <a:ln w="12700">
            <a:solidFill>
              <a:srgbClr val="333333"/>
            </a:solidFill>
            <a:prstDash val="solid"/>
          </a:ln>
        </p:spPr>
      </p:sp>
      <p:sp>
        <p:nvSpPr>
          <p:cNvPr id="21" name="Shape 34">
            <a:extLst>
              <a:ext uri="{FF2B5EF4-FFF2-40B4-BE49-F238E27FC236}">
                <a16:creationId xmlns:a16="http://schemas.microsoft.com/office/drawing/2014/main" id="{8E719615-D11A-CB58-6369-0C9474462D90}"/>
              </a:ext>
            </a:extLst>
          </p:cNvPr>
          <p:cNvSpPr/>
          <p:nvPr/>
        </p:nvSpPr>
        <p:spPr>
          <a:xfrm>
            <a:off x="6272525" y="3573425"/>
            <a:ext cx="5349240" cy="10973"/>
          </a:xfrm>
          <a:prstGeom prst="rect">
            <a:avLst/>
          </a:prstGeom>
          <a:solidFill>
            <a:srgbClr val="0F2748"/>
          </a:solidFill>
          <a:ln w="12700">
            <a:solidFill>
              <a:srgbClr val="333333"/>
            </a:solidFill>
            <a:prstDash val="solid"/>
          </a:ln>
        </p:spPr>
      </p:sp>
      <p:sp>
        <p:nvSpPr>
          <p:cNvPr id="22" name="Shape 2">
            <a:extLst>
              <a:ext uri="{FF2B5EF4-FFF2-40B4-BE49-F238E27FC236}">
                <a16:creationId xmlns:a16="http://schemas.microsoft.com/office/drawing/2014/main" id="{842C3BCB-B5F6-0461-5018-E15C8FAA0E0C}"/>
              </a:ext>
            </a:extLst>
          </p:cNvPr>
          <p:cNvSpPr/>
          <p:nvPr/>
        </p:nvSpPr>
        <p:spPr>
          <a:xfrm>
            <a:off x="2872968" y="2063477"/>
            <a:ext cx="1981109" cy="970809"/>
          </a:xfrm>
          <a:prstGeom prst="roundRect">
            <a:avLst>
              <a:gd name="adj" fmla="val 6957"/>
            </a:avLst>
          </a:prstGeom>
          <a:solidFill>
            <a:srgbClr val="DADBDA"/>
          </a:solidFill>
          <a:ln/>
        </p:spPr>
        <p:txBody>
          <a:bodyPr/>
          <a:lstStyle/>
          <a:p>
            <a:pPr>
              <a:lnSpc>
                <a:spcPct val="125000"/>
              </a:lnSpc>
              <a:defRPr/>
            </a:pPr>
            <a:r>
              <a:rPr lang="en-US" sz="2000" b="1" dirty="0">
                <a:solidFill>
                  <a:srgbClr val="48375F"/>
                </a:solidFill>
                <a:latin typeface="Cambria" pitchFamily="34" charset="0"/>
                <a:ea typeface="Cambria" pitchFamily="34" charset="-122"/>
                <a:cs typeface="Cambria" pitchFamily="34" charset="-120"/>
              </a:rPr>
              <a:t>0.751</a:t>
            </a:r>
          </a:p>
          <a:p>
            <a:pPr>
              <a:lnSpc>
                <a:spcPct val="125000"/>
              </a:lnSpc>
              <a:defRPr/>
            </a:pPr>
            <a:endParaRPr lang="en-US" sz="1050" dirty="0">
              <a:solidFill>
                <a:srgbClr val="48375F"/>
              </a:solidFill>
            </a:endParaRPr>
          </a:p>
          <a:p>
            <a:pPr>
              <a:lnSpc>
                <a:spcPct val="125000"/>
              </a:lnSpc>
              <a:defRPr/>
            </a:pPr>
            <a:r>
              <a:rPr lang="en-US" sz="1100" dirty="0">
                <a:solidFill>
                  <a:srgbClr val="48375F"/>
                </a:solidFill>
                <a:latin typeface="Calibri" pitchFamily="34" charset="0"/>
                <a:ea typeface="Calibri" pitchFamily="34" charset="-122"/>
                <a:cs typeface="Calibri" pitchFamily="34" charset="-120"/>
              </a:rPr>
              <a:t>Held-out test R²</a:t>
            </a:r>
            <a:endParaRPr lang="en-US" sz="1100" dirty="0">
              <a:solidFill>
                <a:srgbClr val="48375F"/>
              </a:solidFill>
            </a:endParaRPr>
          </a:p>
        </p:txBody>
      </p:sp>
      <p:sp>
        <p:nvSpPr>
          <p:cNvPr id="23" name="Shape 2">
            <a:extLst>
              <a:ext uri="{FF2B5EF4-FFF2-40B4-BE49-F238E27FC236}">
                <a16:creationId xmlns:a16="http://schemas.microsoft.com/office/drawing/2014/main" id="{F31CF6F0-A560-FB48-2337-01167B899396}"/>
              </a:ext>
            </a:extLst>
          </p:cNvPr>
          <p:cNvSpPr/>
          <p:nvPr/>
        </p:nvSpPr>
        <p:spPr>
          <a:xfrm>
            <a:off x="5123233" y="2088366"/>
            <a:ext cx="1981109" cy="970809"/>
          </a:xfrm>
          <a:prstGeom prst="roundRect">
            <a:avLst>
              <a:gd name="adj" fmla="val 6957"/>
            </a:avLst>
          </a:prstGeom>
          <a:solidFill>
            <a:srgbClr val="DADBDA"/>
          </a:solidFill>
          <a:ln/>
        </p:spPr>
        <p:txBody>
          <a:bodyPr/>
          <a:lstStyle/>
          <a:p>
            <a:pPr>
              <a:lnSpc>
                <a:spcPct val="125000"/>
              </a:lnSpc>
              <a:defRPr/>
            </a:pPr>
            <a:r>
              <a:rPr lang="en-US" sz="2000" b="1" dirty="0">
                <a:solidFill>
                  <a:srgbClr val="48375F"/>
                </a:solidFill>
                <a:latin typeface="Cambria" pitchFamily="34" charset="0"/>
                <a:ea typeface="Cambria" pitchFamily="34" charset="-122"/>
                <a:cs typeface="Cambria" pitchFamily="34" charset="-120"/>
              </a:rPr>
              <a:t>0.688</a:t>
            </a:r>
          </a:p>
          <a:p>
            <a:pPr>
              <a:lnSpc>
                <a:spcPct val="125000"/>
              </a:lnSpc>
              <a:defRPr/>
            </a:pPr>
            <a:endParaRPr lang="en-US" sz="500" dirty="0">
              <a:solidFill>
                <a:srgbClr val="48375F"/>
              </a:solidFill>
            </a:endParaRPr>
          </a:p>
          <a:p>
            <a:pPr>
              <a:lnSpc>
                <a:spcPct val="125000"/>
              </a:lnSpc>
              <a:defRPr/>
            </a:pPr>
            <a:r>
              <a:rPr lang="en-US" sz="1100" dirty="0">
                <a:solidFill>
                  <a:srgbClr val="48375F"/>
                </a:solidFill>
                <a:latin typeface="Calibri" pitchFamily="34" charset="0"/>
                <a:ea typeface="Calibri" pitchFamily="34" charset="-122"/>
                <a:cs typeface="Calibri" pitchFamily="34" charset="-120"/>
              </a:rPr>
              <a:t>Grouped-CV mean R² (0.582–0.769)</a:t>
            </a:r>
            <a:endParaRPr lang="en-US" sz="1100" dirty="0">
              <a:solidFill>
                <a:srgbClr val="48375F"/>
              </a:solidFill>
            </a:endParaRPr>
          </a:p>
          <a:p>
            <a:pPr>
              <a:lnSpc>
                <a:spcPct val="125000"/>
              </a:lnSpc>
              <a:defRPr/>
            </a:pPr>
            <a:endParaRPr lang="en-US" sz="1100" dirty="0">
              <a:solidFill>
                <a:srgbClr val="48375F"/>
              </a:solidFill>
            </a:endParaRPr>
          </a:p>
        </p:txBody>
      </p:sp>
      <p:sp>
        <p:nvSpPr>
          <p:cNvPr id="24" name="Shape 2">
            <a:extLst>
              <a:ext uri="{FF2B5EF4-FFF2-40B4-BE49-F238E27FC236}">
                <a16:creationId xmlns:a16="http://schemas.microsoft.com/office/drawing/2014/main" id="{E683E9D3-392F-B3C8-C9E0-7ED7CD287F43}"/>
              </a:ext>
            </a:extLst>
          </p:cNvPr>
          <p:cNvSpPr/>
          <p:nvPr/>
        </p:nvSpPr>
        <p:spPr>
          <a:xfrm>
            <a:off x="7373498" y="2097406"/>
            <a:ext cx="1981109" cy="970809"/>
          </a:xfrm>
          <a:prstGeom prst="roundRect">
            <a:avLst>
              <a:gd name="adj" fmla="val 6957"/>
            </a:avLst>
          </a:prstGeom>
          <a:solidFill>
            <a:srgbClr val="DADBDA"/>
          </a:solidFill>
          <a:ln/>
        </p:spPr>
        <p:txBody>
          <a:bodyPr/>
          <a:lstStyle/>
          <a:p>
            <a:pPr>
              <a:lnSpc>
                <a:spcPct val="125000"/>
              </a:lnSpc>
              <a:defRPr/>
            </a:pPr>
            <a:r>
              <a:rPr lang="en-US" sz="2000" b="1" dirty="0">
                <a:solidFill>
                  <a:srgbClr val="48375F"/>
                </a:solidFill>
                <a:latin typeface="Cambria" pitchFamily="34" charset="0"/>
                <a:ea typeface="Cambria" pitchFamily="34" charset="-122"/>
                <a:cs typeface="Cambria" pitchFamily="34" charset="-120"/>
              </a:rPr>
              <a:t>₹3,206</a:t>
            </a:r>
          </a:p>
          <a:p>
            <a:pPr>
              <a:lnSpc>
                <a:spcPct val="125000"/>
              </a:lnSpc>
              <a:defRPr/>
            </a:pPr>
            <a:endParaRPr lang="en-US" sz="1050" dirty="0">
              <a:solidFill>
                <a:srgbClr val="48375F"/>
              </a:solidFill>
            </a:endParaRPr>
          </a:p>
          <a:p>
            <a:pPr>
              <a:lnSpc>
                <a:spcPct val="125000"/>
              </a:lnSpc>
              <a:defRPr/>
            </a:pPr>
            <a:r>
              <a:rPr lang="en-US" sz="1100" dirty="0">
                <a:solidFill>
                  <a:srgbClr val="48375F"/>
                </a:solidFill>
                <a:latin typeface="Calibri" pitchFamily="34" charset="0"/>
                <a:ea typeface="Calibri" pitchFamily="34" charset="-122"/>
                <a:cs typeface="Calibri" pitchFamily="34" charset="-120"/>
              </a:rPr>
              <a:t>Test MAE vs. ₹7,040 naive</a:t>
            </a:r>
            <a:endParaRPr lang="en-US" sz="1100" dirty="0">
              <a:solidFill>
                <a:srgbClr val="48375F"/>
              </a:solidFill>
            </a:endParaRPr>
          </a:p>
        </p:txBody>
      </p:sp>
      <p:sp>
        <p:nvSpPr>
          <p:cNvPr id="25" name="Shape 2">
            <a:extLst>
              <a:ext uri="{FF2B5EF4-FFF2-40B4-BE49-F238E27FC236}">
                <a16:creationId xmlns:a16="http://schemas.microsoft.com/office/drawing/2014/main" id="{6E1EFCA6-DEAB-2D20-E15E-E6A7DBC232A9}"/>
              </a:ext>
            </a:extLst>
          </p:cNvPr>
          <p:cNvSpPr/>
          <p:nvPr/>
        </p:nvSpPr>
        <p:spPr>
          <a:xfrm>
            <a:off x="9623763" y="2101175"/>
            <a:ext cx="1981109" cy="970809"/>
          </a:xfrm>
          <a:prstGeom prst="roundRect">
            <a:avLst>
              <a:gd name="adj" fmla="val 6957"/>
            </a:avLst>
          </a:prstGeom>
          <a:solidFill>
            <a:srgbClr val="DADBDA"/>
          </a:solidFill>
          <a:ln/>
        </p:spPr>
        <p:txBody>
          <a:bodyPr/>
          <a:lstStyle/>
          <a:p>
            <a:pPr>
              <a:lnSpc>
                <a:spcPct val="125000"/>
              </a:lnSpc>
              <a:defRPr/>
            </a:pPr>
            <a:r>
              <a:rPr lang="en-US" sz="2000" b="1" dirty="0">
                <a:solidFill>
                  <a:srgbClr val="48375F"/>
                </a:solidFill>
                <a:latin typeface="Cambria" pitchFamily="34" charset="0"/>
                <a:ea typeface="Cambria" pitchFamily="34" charset="-122"/>
                <a:cs typeface="Cambria" pitchFamily="34" charset="-120"/>
              </a:rPr>
              <a:t>68.4%</a:t>
            </a:r>
          </a:p>
          <a:p>
            <a:pPr>
              <a:lnSpc>
                <a:spcPct val="125000"/>
              </a:lnSpc>
              <a:defRPr/>
            </a:pPr>
            <a:endParaRPr lang="en-US" sz="500" dirty="0">
              <a:solidFill>
                <a:srgbClr val="48375F"/>
              </a:solidFill>
            </a:endParaRPr>
          </a:p>
          <a:p>
            <a:pPr>
              <a:lnSpc>
                <a:spcPct val="125000"/>
              </a:lnSpc>
              <a:defRPr/>
            </a:pPr>
            <a:r>
              <a:rPr lang="en-US" sz="1100" dirty="0">
                <a:solidFill>
                  <a:srgbClr val="48375F"/>
                </a:solidFill>
                <a:latin typeface="Calibri" pitchFamily="34" charset="0"/>
                <a:ea typeface="Calibri" pitchFamily="34" charset="-122"/>
                <a:cs typeface="Calibri" pitchFamily="34" charset="-120"/>
              </a:rPr>
              <a:t>Importance from top three specs</a:t>
            </a:r>
            <a:endParaRPr lang="en-US" sz="1100" dirty="0">
              <a:solidFill>
                <a:srgbClr val="48375F"/>
              </a:solidFill>
            </a:endParaRPr>
          </a:p>
          <a:p>
            <a:pPr>
              <a:lnSpc>
                <a:spcPct val="125000"/>
              </a:lnSpc>
              <a:defRPr/>
            </a:pPr>
            <a:endParaRPr lang="en-US" sz="1100" dirty="0">
              <a:solidFill>
                <a:srgbClr val="48375F"/>
              </a:solidFill>
            </a:endParaRPr>
          </a:p>
        </p:txBody>
      </p:sp>
    </p:spTree>
    <p:extLst>
      <p:ext uri="{BB962C8B-B14F-4D97-AF65-F5344CB8AC3E}">
        <p14:creationId xmlns:p14="http://schemas.microsoft.com/office/powerpoint/2010/main" val="4172070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86B87-4B07-C4E6-9305-41E12E718139}"/>
            </a:ext>
          </a:extLst>
        </p:cNvPr>
        <p:cNvGrpSpPr/>
        <p:nvPr/>
      </p:nvGrpSpPr>
      <p:grpSpPr>
        <a:xfrm>
          <a:off x="0" y="0"/>
          <a:ext cx="0" cy="0"/>
          <a:chOff x="0" y="0"/>
          <a:chExt cx="0" cy="0"/>
        </a:xfrm>
      </p:grpSpPr>
      <p:sp>
        <p:nvSpPr>
          <p:cNvPr id="3" name="Shape 2">
            <a:extLst>
              <a:ext uri="{FF2B5EF4-FFF2-40B4-BE49-F238E27FC236}">
                <a16:creationId xmlns:a16="http://schemas.microsoft.com/office/drawing/2014/main" id="{4C1FAD62-5A54-1E8C-0CD2-97A7B04060A8}"/>
              </a:ext>
            </a:extLst>
          </p:cNvPr>
          <p:cNvSpPr/>
          <p:nvPr/>
        </p:nvSpPr>
        <p:spPr>
          <a:xfrm>
            <a:off x="493800" y="2442808"/>
            <a:ext cx="2736095" cy="2237006"/>
          </a:xfrm>
          <a:prstGeom prst="roundRect">
            <a:avLst>
              <a:gd name="adj" fmla="val 6957"/>
            </a:avLst>
          </a:prstGeom>
          <a:solidFill>
            <a:srgbClr val="48375F"/>
          </a:solidFill>
          <a:ln/>
        </p:spPr>
        <p:txBody>
          <a:bodyPr/>
          <a:lstStyle/>
          <a:p>
            <a:pPr algn="ctr">
              <a:lnSpc>
                <a:spcPts val="1500"/>
              </a:lnSpc>
            </a:pPr>
            <a:r>
              <a:rPr lang="en-US" sz="2400" b="1" dirty="0">
                <a:solidFill>
                  <a:srgbClr val="F3F3F3"/>
                </a:solidFill>
                <a:latin typeface="Calibri" panose="020F0502020204030204" pitchFamily="34" charset="0"/>
                <a:ea typeface="Cambria" pitchFamily="34" charset="-122"/>
                <a:cs typeface="Calibri" panose="020F0502020204030204" pitchFamily="34" charset="0"/>
              </a:rPr>
              <a:t>01</a:t>
            </a:r>
            <a:endParaRPr lang="en-US" sz="2400" dirty="0">
              <a:solidFill>
                <a:srgbClr val="F3F3F3"/>
              </a:solidFill>
              <a:latin typeface="Calibri" panose="020F0502020204030204" pitchFamily="34" charset="0"/>
              <a:cs typeface="Calibri" panose="020F0502020204030204" pitchFamily="34" charset="0"/>
            </a:endParaRPr>
          </a:p>
          <a:p>
            <a:pPr algn="ctr">
              <a:lnSpc>
                <a:spcPts val="1500"/>
              </a:lnSpc>
            </a:pPr>
            <a:endParaRPr lang="en-US" sz="2400" dirty="0">
              <a:solidFill>
                <a:srgbClr val="F3F3F3"/>
              </a:solidFill>
              <a:latin typeface="Calibri" panose="020F0502020204030204" pitchFamily="34" charset="0"/>
              <a:ea typeface="Calibri" pitchFamily="34" charset="-122"/>
              <a:cs typeface="Calibri" panose="020F0502020204030204" pitchFamily="34" charset="0"/>
            </a:endParaRPr>
          </a:p>
          <a:p>
            <a:pPr algn="ctr">
              <a:lnSpc>
                <a:spcPts val="1500"/>
              </a:lnSpc>
            </a:pPr>
            <a:r>
              <a:rPr lang="en-US" sz="2400" b="1" dirty="0">
                <a:solidFill>
                  <a:srgbClr val="F3F3F3"/>
                </a:solidFill>
                <a:latin typeface="Calibri" panose="020F0502020204030204" pitchFamily="34" charset="0"/>
                <a:ea typeface="Calibri" pitchFamily="34" charset="-122"/>
                <a:cs typeface="Calibri" panose="020F0502020204030204" pitchFamily="34" charset="0"/>
              </a:rPr>
              <a:t>Clean &amp; Engineer</a:t>
            </a:r>
          </a:p>
          <a:p>
            <a:pPr>
              <a:lnSpc>
                <a:spcPts val="1500"/>
              </a:lnSpc>
            </a:pPr>
            <a:endParaRPr lang="en-US" sz="2000" dirty="0">
              <a:solidFill>
                <a:srgbClr val="F3F3F3"/>
              </a:solidFill>
              <a:latin typeface="Calibri" panose="020F0502020204030204" pitchFamily="34" charset="0"/>
              <a:ea typeface="Calibri" pitchFamily="34" charset="-122"/>
              <a:cs typeface="Calibri" panose="020F0502020204030204" pitchFamily="34" charset="0"/>
            </a:endParaRPr>
          </a:p>
          <a:p>
            <a:pPr>
              <a:lnSpc>
                <a:spcPts val="1500"/>
              </a:lnSpc>
            </a:pPr>
            <a:r>
              <a:rPr lang="en-US" sz="2000" dirty="0">
                <a:solidFill>
                  <a:srgbClr val="F3F3F3"/>
                </a:solidFill>
                <a:latin typeface="Calibri" panose="020F0502020204030204" pitchFamily="34" charset="0"/>
                <a:ea typeface="Calibri" pitchFamily="34" charset="-122"/>
                <a:cs typeface="Calibri" panose="020F0502020204030204" pitchFamily="34" charset="0"/>
              </a:rPr>
              <a:t>Resolve mislabeled columns, text-encoded specifications and unit inconsistencies; construct modelling-ready features.</a:t>
            </a:r>
            <a:endParaRPr lang="en-US" sz="2000" dirty="0">
              <a:solidFill>
                <a:srgbClr val="F3F3F3"/>
              </a:solidFill>
              <a:latin typeface="Calibri" panose="020F0502020204030204" pitchFamily="34" charset="0"/>
              <a:cs typeface="Calibri" panose="020F0502020204030204" pitchFamily="34" charset="0"/>
            </a:endParaRPr>
          </a:p>
        </p:txBody>
      </p:sp>
      <p:sp>
        <p:nvSpPr>
          <p:cNvPr id="10" name="Shape 2">
            <a:extLst>
              <a:ext uri="{FF2B5EF4-FFF2-40B4-BE49-F238E27FC236}">
                <a16:creationId xmlns:a16="http://schemas.microsoft.com/office/drawing/2014/main" id="{3A251ABB-A7F8-C3EC-6D51-BF1481099003}"/>
              </a:ext>
            </a:extLst>
          </p:cNvPr>
          <p:cNvSpPr/>
          <p:nvPr/>
        </p:nvSpPr>
        <p:spPr>
          <a:xfrm>
            <a:off x="3320346" y="2442803"/>
            <a:ext cx="2732817" cy="2237011"/>
          </a:xfrm>
          <a:prstGeom prst="roundRect">
            <a:avLst>
              <a:gd name="adj" fmla="val 6957"/>
            </a:avLst>
          </a:prstGeom>
          <a:solidFill>
            <a:srgbClr val="48375F"/>
          </a:solidFill>
          <a:ln/>
        </p:spPr>
        <p:txBody>
          <a:bodyPr/>
          <a:lstStyle/>
          <a:p>
            <a:pPr algn="ctr">
              <a:lnSpc>
                <a:spcPts val="1500"/>
              </a:lnSpc>
            </a:pPr>
            <a:r>
              <a:rPr lang="en-US" sz="2400" b="1" dirty="0">
                <a:solidFill>
                  <a:srgbClr val="F3F3F3"/>
                </a:solidFill>
                <a:latin typeface="Calibri" panose="020F0502020204030204" pitchFamily="34" charset="0"/>
                <a:cs typeface="Calibri" panose="020F0502020204030204" pitchFamily="34" charset="0"/>
              </a:rPr>
              <a:t>02</a:t>
            </a:r>
          </a:p>
          <a:p>
            <a:pPr algn="ct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gn="ctr">
              <a:lnSpc>
                <a:spcPts val="1500"/>
              </a:lnSpc>
            </a:pPr>
            <a:r>
              <a:rPr lang="en-US" sz="2400" b="1" dirty="0" err="1">
                <a:solidFill>
                  <a:srgbClr val="F3F3F3"/>
                </a:solidFill>
                <a:latin typeface="Calibri" panose="020F0502020204030204" pitchFamily="34" charset="0"/>
                <a:cs typeface="Calibri" panose="020F0502020204030204" pitchFamily="34" charset="0"/>
              </a:rPr>
              <a:t>Analyse</a:t>
            </a:r>
            <a:endParaRPr lang="en-US" sz="2400" b="1" dirty="0">
              <a:solidFill>
                <a:srgbClr val="F3F3F3"/>
              </a:solidFill>
              <a:latin typeface="Calibri" panose="020F0502020204030204" pitchFamily="34" charset="0"/>
              <a:cs typeface="Calibri" panose="020F0502020204030204" pitchFamily="34" charset="0"/>
            </a:endParaRPr>
          </a:p>
          <a:p>
            <a:pP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nSpc>
                <a:spcPts val="1500"/>
              </a:lnSpc>
            </a:pPr>
            <a:r>
              <a:rPr lang="en-US" sz="2000" dirty="0">
                <a:solidFill>
                  <a:srgbClr val="F3F3F3"/>
                </a:solidFill>
                <a:latin typeface="Calibri" panose="020F0502020204030204" pitchFamily="34" charset="0"/>
                <a:cs typeface="Calibri" panose="020F0502020204030204" pitchFamily="34" charset="0"/>
              </a:rPr>
              <a:t>Univariate, bivariate and multivariate structure, with effect sizes and significance testing throughout.</a:t>
            </a:r>
          </a:p>
        </p:txBody>
      </p:sp>
      <p:pic>
        <p:nvPicPr>
          <p:cNvPr id="5" name="Picture 2" descr="logo">
            <a:extLst>
              <a:ext uri="{FF2B5EF4-FFF2-40B4-BE49-F238E27FC236}">
                <a16:creationId xmlns:a16="http://schemas.microsoft.com/office/drawing/2014/main" id="{E12556DC-8F24-4F81-68AE-1B1E784C5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D5C713AC-872C-9F42-4560-477D8F577FAE}"/>
              </a:ext>
            </a:extLst>
          </p:cNvPr>
          <p:cNvSpPr txBox="1">
            <a:spLocks/>
          </p:cNvSpPr>
          <p:nvPr/>
        </p:nvSpPr>
        <p:spPr>
          <a:xfrm>
            <a:off x="0" y="-10886"/>
            <a:ext cx="12192000" cy="1400297"/>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Four-Stage Workstream From </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Raw Export to Pricing Guidance</a:t>
            </a:r>
            <a:endParaRPr lang="en-US" sz="4800" dirty="0">
              <a:solidFill>
                <a:srgbClr val="48375F"/>
              </a:solidFill>
              <a:latin typeface="Calibri" panose="020F0502020204030204" pitchFamily="34" charset="0"/>
              <a:cs typeface="Calibri" panose="020F0502020204030204" pitchFamily="34" charset="0"/>
            </a:endParaRPr>
          </a:p>
        </p:txBody>
      </p:sp>
      <p:sp>
        <p:nvSpPr>
          <p:cNvPr id="8" name="Shape 2">
            <a:extLst>
              <a:ext uri="{FF2B5EF4-FFF2-40B4-BE49-F238E27FC236}">
                <a16:creationId xmlns:a16="http://schemas.microsoft.com/office/drawing/2014/main" id="{0F9CABA7-AE75-409F-C7C1-063474A26EB3}"/>
              </a:ext>
            </a:extLst>
          </p:cNvPr>
          <p:cNvSpPr/>
          <p:nvPr/>
        </p:nvSpPr>
        <p:spPr>
          <a:xfrm>
            <a:off x="429962" y="5285640"/>
            <a:ext cx="2736095" cy="1326919"/>
          </a:xfrm>
          <a:prstGeom prst="roundRect">
            <a:avLst>
              <a:gd name="adj" fmla="val 6957"/>
            </a:avLst>
          </a:prstGeom>
          <a:solidFill>
            <a:srgbClr val="48375F"/>
          </a:solidFill>
          <a:ln/>
        </p:spPr>
        <p:txBody>
          <a:bodyPr/>
          <a:lstStyle/>
          <a:p>
            <a:pPr algn="ctr">
              <a:lnSpc>
                <a:spcPct val="110000"/>
              </a:lnSpc>
            </a:pPr>
            <a:r>
              <a:rPr lang="en-US" sz="2400" b="1" dirty="0">
                <a:solidFill>
                  <a:srgbClr val="F3F3F3"/>
                </a:solidFill>
                <a:latin typeface="Calibri" panose="020F0502020204030204" pitchFamily="34" charset="0"/>
                <a:ea typeface="Cambria" pitchFamily="34" charset="-122"/>
                <a:cs typeface="Calibri" panose="020F0502020204030204" pitchFamily="34" charset="0"/>
              </a:rPr>
              <a:t>531</a:t>
            </a:r>
          </a:p>
          <a:p>
            <a:pPr algn="ctr">
              <a:lnSpc>
                <a:spcPct val="110000"/>
              </a:lnSpc>
            </a:pPr>
            <a:endParaRPr lang="en-US" b="1" dirty="0">
              <a:solidFill>
                <a:srgbClr val="F3F3F3"/>
              </a:solidFill>
              <a:latin typeface="Calibri" panose="020F0502020204030204" pitchFamily="34" charset="0"/>
              <a:cs typeface="Calibri" panose="020F0502020204030204" pitchFamily="34" charset="0"/>
            </a:endParaRPr>
          </a:p>
          <a:p>
            <a:pPr algn="ctr">
              <a:lnSpc>
                <a:spcPct val="110000"/>
              </a:lnSpc>
            </a:pPr>
            <a:r>
              <a:rPr lang="en-US" sz="1600" dirty="0">
                <a:solidFill>
                  <a:srgbClr val="F3F3F3"/>
                </a:solidFill>
                <a:latin typeface="Calibri" panose="020F0502020204030204" pitchFamily="34" charset="0"/>
                <a:ea typeface="Calibri" pitchFamily="34" charset="-122"/>
                <a:cs typeface="Calibri" panose="020F0502020204030204" pitchFamily="34" charset="0"/>
              </a:rPr>
              <a:t>Listings after de-duplication</a:t>
            </a:r>
            <a:endParaRPr lang="en-US" sz="1600" dirty="0">
              <a:solidFill>
                <a:srgbClr val="F3F3F3"/>
              </a:solidFill>
              <a:latin typeface="Calibri" panose="020F0502020204030204" pitchFamily="34" charset="0"/>
              <a:cs typeface="Calibri" panose="020F0502020204030204" pitchFamily="34" charset="0"/>
            </a:endParaRPr>
          </a:p>
          <a:p>
            <a:pPr algn="ctr">
              <a:lnSpc>
                <a:spcPct val="110000"/>
              </a:lnSpc>
            </a:pPr>
            <a:endParaRPr lang="en-US" b="1" dirty="0">
              <a:solidFill>
                <a:srgbClr val="F3F3F3"/>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6FE04B9-F678-41F8-31B1-34A0C0F4F36F}"/>
              </a:ext>
            </a:extLst>
          </p:cNvPr>
          <p:cNvSpPr txBox="1"/>
          <p:nvPr/>
        </p:nvSpPr>
        <p:spPr>
          <a:xfrm>
            <a:off x="67496" y="1508098"/>
            <a:ext cx="12057008" cy="646331"/>
          </a:xfrm>
          <a:prstGeom prst="rect">
            <a:avLst/>
          </a:prstGeom>
          <a:noFill/>
        </p:spPr>
        <p:txBody>
          <a:bodyPr wrap="square" rtlCol="0">
            <a:spAutoFit/>
          </a:bodyPr>
          <a:lstStyle/>
          <a:p>
            <a:r>
              <a:rPr lang="en-US" dirty="0">
                <a:solidFill>
                  <a:srgbClr val="48375F"/>
                </a:solidFill>
                <a:latin typeface="Calibri" pitchFamily="34" charset="0"/>
                <a:ea typeface="Calibri" pitchFamily="34" charset="-122"/>
                <a:cs typeface="Calibri" pitchFamily="34" charset="-120"/>
              </a:rPr>
              <a:t>Price in this dataset is market-set rather than formula-derived. The objective is to establish which specifications are associated with price, and by how much, while remaining explicit about what the evidence can and cannot support.</a:t>
            </a:r>
          </a:p>
        </p:txBody>
      </p:sp>
      <p:sp>
        <p:nvSpPr>
          <p:cNvPr id="15" name="Shape 2">
            <a:extLst>
              <a:ext uri="{FF2B5EF4-FFF2-40B4-BE49-F238E27FC236}">
                <a16:creationId xmlns:a16="http://schemas.microsoft.com/office/drawing/2014/main" id="{B2DFE548-286F-EEE7-3D1A-08A202984D30}"/>
              </a:ext>
            </a:extLst>
          </p:cNvPr>
          <p:cNvSpPr/>
          <p:nvPr/>
        </p:nvSpPr>
        <p:spPr>
          <a:xfrm>
            <a:off x="3258078" y="5285639"/>
            <a:ext cx="2736095" cy="1326919"/>
          </a:xfrm>
          <a:prstGeom prst="roundRect">
            <a:avLst>
              <a:gd name="adj" fmla="val 6957"/>
            </a:avLst>
          </a:prstGeom>
          <a:solidFill>
            <a:srgbClr val="48375F"/>
          </a:solidFill>
          <a:ln/>
        </p:spPr>
        <p:txBody>
          <a:bodyPr/>
          <a:lstStyle/>
          <a:p>
            <a:pPr algn="ctr">
              <a:lnSpc>
                <a:spcPct val="110000"/>
              </a:lnSpc>
            </a:pPr>
            <a:r>
              <a:rPr lang="en-US" sz="2400" b="1" dirty="0">
                <a:solidFill>
                  <a:srgbClr val="F3F3F3"/>
                </a:solidFill>
                <a:latin typeface="Calibri" panose="020F0502020204030204" pitchFamily="34" charset="0"/>
                <a:cs typeface="Calibri" panose="020F0502020204030204" pitchFamily="34" charset="0"/>
              </a:rPr>
              <a:t>42</a:t>
            </a:r>
          </a:p>
          <a:p>
            <a:pPr algn="ctr">
              <a:lnSpc>
                <a:spcPct val="110000"/>
              </a:lnSpc>
            </a:pPr>
            <a:endParaRPr lang="en-US" sz="1400" b="1" dirty="0">
              <a:solidFill>
                <a:srgbClr val="F3F3F3"/>
              </a:solidFill>
              <a:latin typeface="Calibri" panose="020F0502020204030204" pitchFamily="34" charset="0"/>
              <a:cs typeface="Calibri" panose="020F0502020204030204" pitchFamily="34" charset="0"/>
            </a:endParaRPr>
          </a:p>
          <a:p>
            <a:pPr algn="ctr">
              <a:lnSpc>
                <a:spcPct val="110000"/>
              </a:lnSpc>
            </a:pPr>
            <a:r>
              <a:rPr lang="en-US" sz="1600" dirty="0">
                <a:solidFill>
                  <a:srgbClr val="F3F3F3"/>
                </a:solidFill>
                <a:latin typeface="Calibri" panose="020F0502020204030204" pitchFamily="34" charset="0"/>
                <a:ea typeface="Calibri" pitchFamily="34" charset="-122"/>
                <a:cs typeface="Calibri" panose="020F0502020204030204" pitchFamily="34" charset="0"/>
              </a:rPr>
              <a:t>Model features after encoding</a:t>
            </a:r>
            <a:endParaRPr lang="en-US" sz="1600" dirty="0">
              <a:solidFill>
                <a:srgbClr val="F3F3F3"/>
              </a:solidFill>
              <a:latin typeface="Calibri" panose="020F0502020204030204" pitchFamily="34" charset="0"/>
              <a:cs typeface="Calibri" panose="020F0502020204030204" pitchFamily="34" charset="0"/>
            </a:endParaRPr>
          </a:p>
        </p:txBody>
      </p:sp>
      <p:sp>
        <p:nvSpPr>
          <p:cNvPr id="16" name="Shape 2">
            <a:extLst>
              <a:ext uri="{FF2B5EF4-FFF2-40B4-BE49-F238E27FC236}">
                <a16:creationId xmlns:a16="http://schemas.microsoft.com/office/drawing/2014/main" id="{FF4E0028-9722-D799-702D-03AB3DCAEC8D}"/>
              </a:ext>
            </a:extLst>
          </p:cNvPr>
          <p:cNvSpPr/>
          <p:nvPr/>
        </p:nvSpPr>
        <p:spPr>
          <a:xfrm>
            <a:off x="6086194" y="5285638"/>
            <a:ext cx="2736095" cy="1326919"/>
          </a:xfrm>
          <a:prstGeom prst="roundRect">
            <a:avLst>
              <a:gd name="adj" fmla="val 6957"/>
            </a:avLst>
          </a:prstGeom>
          <a:solidFill>
            <a:srgbClr val="48375F"/>
          </a:solidFill>
          <a:ln/>
        </p:spPr>
        <p:txBody>
          <a:bodyPr/>
          <a:lstStyle/>
          <a:p>
            <a:pPr algn="ctr">
              <a:lnSpc>
                <a:spcPct val="110000"/>
              </a:lnSpc>
            </a:pPr>
            <a:r>
              <a:rPr lang="en-US" sz="2400" b="1" dirty="0">
                <a:solidFill>
                  <a:srgbClr val="F3F3F3"/>
                </a:solidFill>
                <a:latin typeface="Calibri" panose="020F0502020204030204" pitchFamily="34" charset="0"/>
                <a:ea typeface="Cambria" pitchFamily="34" charset="-122"/>
                <a:cs typeface="Calibri" panose="020F0502020204030204" pitchFamily="34" charset="0"/>
              </a:rPr>
              <a:t>9</a:t>
            </a:r>
            <a:endParaRPr lang="en-US" sz="2400" dirty="0">
              <a:solidFill>
                <a:srgbClr val="F3F3F3"/>
              </a:solidFill>
              <a:latin typeface="Calibri" panose="020F0502020204030204" pitchFamily="34" charset="0"/>
              <a:cs typeface="Calibri" panose="020F0502020204030204" pitchFamily="34" charset="0"/>
            </a:endParaRPr>
          </a:p>
          <a:p>
            <a:pPr algn="ctr">
              <a:lnSpc>
                <a:spcPct val="110000"/>
              </a:lnSpc>
            </a:pPr>
            <a:endParaRPr lang="en-US" sz="1600" dirty="0">
              <a:solidFill>
                <a:srgbClr val="F3F3F3"/>
              </a:solidFill>
              <a:latin typeface="Calibri" panose="020F0502020204030204" pitchFamily="34" charset="0"/>
              <a:ea typeface="Calibri" pitchFamily="34" charset="-122"/>
              <a:cs typeface="Calibri" panose="020F0502020204030204" pitchFamily="34" charset="0"/>
            </a:endParaRPr>
          </a:p>
          <a:p>
            <a:pPr algn="ctr">
              <a:lnSpc>
                <a:spcPct val="110000"/>
              </a:lnSpc>
            </a:pPr>
            <a:r>
              <a:rPr lang="en-US" sz="1600" dirty="0">
                <a:solidFill>
                  <a:srgbClr val="F3F3F3"/>
                </a:solidFill>
                <a:latin typeface="Calibri" panose="020F0502020204030204" pitchFamily="34" charset="0"/>
                <a:ea typeface="Calibri" pitchFamily="34" charset="-122"/>
                <a:cs typeface="Calibri" panose="020F0502020204030204" pitchFamily="34" charset="0"/>
              </a:rPr>
              <a:t>Algorithms benchmarked</a:t>
            </a:r>
            <a:endParaRPr lang="en-US" sz="1600" dirty="0">
              <a:solidFill>
                <a:srgbClr val="F3F3F3"/>
              </a:solidFill>
              <a:latin typeface="Calibri" panose="020F0502020204030204" pitchFamily="34" charset="0"/>
              <a:cs typeface="Calibri" panose="020F0502020204030204" pitchFamily="34" charset="0"/>
            </a:endParaRPr>
          </a:p>
        </p:txBody>
      </p:sp>
      <p:sp>
        <p:nvSpPr>
          <p:cNvPr id="17" name="Shape 2">
            <a:extLst>
              <a:ext uri="{FF2B5EF4-FFF2-40B4-BE49-F238E27FC236}">
                <a16:creationId xmlns:a16="http://schemas.microsoft.com/office/drawing/2014/main" id="{9CC07AFF-E5ED-2665-1EC9-BDF7DED2CFA4}"/>
              </a:ext>
            </a:extLst>
          </p:cNvPr>
          <p:cNvSpPr/>
          <p:nvPr/>
        </p:nvSpPr>
        <p:spPr>
          <a:xfrm>
            <a:off x="8914310" y="5291353"/>
            <a:ext cx="2736095" cy="1326919"/>
          </a:xfrm>
          <a:prstGeom prst="roundRect">
            <a:avLst>
              <a:gd name="adj" fmla="val 6957"/>
            </a:avLst>
          </a:prstGeom>
          <a:solidFill>
            <a:srgbClr val="48375F"/>
          </a:solidFill>
          <a:ln/>
        </p:spPr>
        <p:txBody>
          <a:bodyPr/>
          <a:lstStyle/>
          <a:p>
            <a:pPr algn="ctr"/>
            <a:r>
              <a:rPr lang="en-US" sz="2400" b="1" dirty="0">
                <a:solidFill>
                  <a:srgbClr val="F3F3F3"/>
                </a:solidFill>
                <a:latin typeface="Calibri" panose="020F0502020204030204" pitchFamily="34" charset="0"/>
                <a:ea typeface="Cambria" pitchFamily="34" charset="-122"/>
                <a:cs typeface="Calibri" panose="020F0502020204030204" pitchFamily="34" charset="0"/>
              </a:rPr>
              <a:t>187</a:t>
            </a:r>
          </a:p>
          <a:p>
            <a:pPr algn="ctr"/>
            <a:endParaRPr lang="en-US" sz="2400" b="1" dirty="0">
              <a:solidFill>
                <a:srgbClr val="F3F3F3"/>
              </a:solidFill>
              <a:latin typeface="Calibri" panose="020F0502020204030204" pitchFamily="34" charset="0"/>
              <a:ea typeface="Cambria" pitchFamily="34" charset="-122"/>
              <a:cs typeface="Calibri" panose="020F0502020204030204" pitchFamily="34" charset="0"/>
            </a:endParaRPr>
          </a:p>
          <a:p>
            <a:pPr algn="ctr"/>
            <a:r>
              <a:rPr lang="en-US" sz="1600" dirty="0">
                <a:solidFill>
                  <a:srgbClr val="F3F3F3"/>
                </a:solidFill>
                <a:latin typeface="Calibri" panose="020F0502020204030204" pitchFamily="34" charset="0"/>
                <a:ea typeface="Calibri" pitchFamily="34" charset="-122"/>
                <a:cs typeface="Calibri" panose="020F0502020204030204" pitchFamily="34" charset="0"/>
              </a:rPr>
              <a:t>Unique handset models</a:t>
            </a:r>
            <a:endParaRPr lang="en-US" sz="1600" dirty="0">
              <a:solidFill>
                <a:srgbClr val="F3F3F3"/>
              </a:solidFill>
              <a:latin typeface="Calibri" panose="020F0502020204030204" pitchFamily="34" charset="0"/>
              <a:cs typeface="Calibri" panose="020F0502020204030204" pitchFamily="34" charset="0"/>
            </a:endParaRPr>
          </a:p>
        </p:txBody>
      </p:sp>
      <p:sp>
        <p:nvSpPr>
          <p:cNvPr id="21" name="Shape 2">
            <a:extLst>
              <a:ext uri="{FF2B5EF4-FFF2-40B4-BE49-F238E27FC236}">
                <a16:creationId xmlns:a16="http://schemas.microsoft.com/office/drawing/2014/main" id="{B48FCC37-8C5F-9A24-DC77-F1B8DC31A2D8}"/>
              </a:ext>
            </a:extLst>
          </p:cNvPr>
          <p:cNvSpPr/>
          <p:nvPr/>
        </p:nvSpPr>
        <p:spPr>
          <a:xfrm>
            <a:off x="6143614" y="2442803"/>
            <a:ext cx="2732817" cy="2237011"/>
          </a:xfrm>
          <a:prstGeom prst="roundRect">
            <a:avLst>
              <a:gd name="adj" fmla="val 6957"/>
            </a:avLst>
          </a:prstGeom>
          <a:solidFill>
            <a:srgbClr val="48375F"/>
          </a:solidFill>
          <a:ln/>
        </p:spPr>
        <p:txBody>
          <a:bodyPr/>
          <a:lstStyle/>
          <a:p>
            <a:pPr algn="ctr">
              <a:lnSpc>
                <a:spcPts val="1500"/>
              </a:lnSpc>
            </a:pPr>
            <a:r>
              <a:rPr lang="en-US" sz="2400" b="1" dirty="0">
                <a:solidFill>
                  <a:srgbClr val="F3F3F3"/>
                </a:solidFill>
                <a:latin typeface="Calibri" panose="020F0502020204030204" pitchFamily="34" charset="0"/>
                <a:cs typeface="Calibri" panose="020F0502020204030204" pitchFamily="34" charset="0"/>
              </a:rPr>
              <a:t>03</a:t>
            </a:r>
          </a:p>
          <a:p>
            <a:pPr algn="ct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gn="ctr">
              <a:lnSpc>
                <a:spcPts val="1500"/>
              </a:lnSpc>
            </a:pPr>
            <a:r>
              <a:rPr lang="en-US" sz="2400" b="1" dirty="0">
                <a:solidFill>
                  <a:srgbClr val="F3F3F3"/>
                </a:solidFill>
                <a:latin typeface="Calibri" panose="020F0502020204030204" pitchFamily="34" charset="0"/>
                <a:cs typeface="Calibri" panose="020F0502020204030204" pitchFamily="34" charset="0"/>
              </a:rPr>
              <a:t>Model</a:t>
            </a:r>
          </a:p>
          <a:p>
            <a:pP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nSpc>
                <a:spcPts val="1500"/>
              </a:lnSpc>
            </a:pPr>
            <a:r>
              <a:rPr lang="en-US" sz="2000" dirty="0">
                <a:solidFill>
                  <a:srgbClr val="F3F3F3"/>
                </a:solidFill>
                <a:latin typeface="Calibri" panose="020F0502020204030204" pitchFamily="34" charset="0"/>
                <a:cs typeface="Calibri" panose="020F0502020204030204" pitchFamily="34" charset="0"/>
              </a:rPr>
              <a:t>Nine regression algorithms benchmarked against a naive baseline under group-aware cross-validation.</a:t>
            </a:r>
          </a:p>
        </p:txBody>
      </p:sp>
      <p:sp>
        <p:nvSpPr>
          <p:cNvPr id="22" name="Shape 2">
            <a:extLst>
              <a:ext uri="{FF2B5EF4-FFF2-40B4-BE49-F238E27FC236}">
                <a16:creationId xmlns:a16="http://schemas.microsoft.com/office/drawing/2014/main" id="{7AB1489A-CBA6-EEDD-3C4D-F0E2A8C85C9D}"/>
              </a:ext>
            </a:extLst>
          </p:cNvPr>
          <p:cNvSpPr/>
          <p:nvPr/>
        </p:nvSpPr>
        <p:spPr>
          <a:xfrm>
            <a:off x="8966882" y="2442803"/>
            <a:ext cx="2732817" cy="2237011"/>
          </a:xfrm>
          <a:prstGeom prst="roundRect">
            <a:avLst>
              <a:gd name="adj" fmla="val 6957"/>
            </a:avLst>
          </a:prstGeom>
          <a:solidFill>
            <a:srgbClr val="48375F"/>
          </a:solidFill>
          <a:ln/>
        </p:spPr>
        <p:txBody>
          <a:bodyPr/>
          <a:lstStyle/>
          <a:p>
            <a:pPr algn="ctr">
              <a:lnSpc>
                <a:spcPts val="1500"/>
              </a:lnSpc>
            </a:pPr>
            <a:r>
              <a:rPr lang="en-US" sz="2400" b="1" dirty="0">
                <a:solidFill>
                  <a:srgbClr val="F3F3F3"/>
                </a:solidFill>
                <a:latin typeface="Calibri" panose="020F0502020204030204" pitchFamily="34" charset="0"/>
                <a:cs typeface="Calibri" panose="020F0502020204030204" pitchFamily="34" charset="0"/>
              </a:rPr>
              <a:t>04</a:t>
            </a:r>
          </a:p>
          <a:p>
            <a:pPr algn="ct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gn="ctr">
              <a:lnSpc>
                <a:spcPts val="1500"/>
              </a:lnSpc>
            </a:pPr>
            <a:r>
              <a:rPr lang="en-US" sz="2400" b="1" dirty="0">
                <a:solidFill>
                  <a:srgbClr val="F3F3F3"/>
                </a:solidFill>
                <a:latin typeface="Calibri" panose="020F0502020204030204" pitchFamily="34" charset="0"/>
                <a:cs typeface="Calibri" panose="020F0502020204030204" pitchFamily="34" charset="0"/>
              </a:rPr>
              <a:t>Recommend</a:t>
            </a:r>
          </a:p>
          <a:p>
            <a:pPr>
              <a:lnSpc>
                <a:spcPts val="1500"/>
              </a:lnSpc>
            </a:pPr>
            <a:endParaRPr lang="en-US" sz="2400" b="1" dirty="0">
              <a:solidFill>
                <a:srgbClr val="F3F3F3"/>
              </a:solidFill>
              <a:latin typeface="Calibri" panose="020F0502020204030204" pitchFamily="34" charset="0"/>
              <a:cs typeface="Calibri" panose="020F0502020204030204" pitchFamily="34" charset="0"/>
            </a:endParaRPr>
          </a:p>
          <a:p>
            <a:pPr>
              <a:lnSpc>
                <a:spcPts val="1500"/>
              </a:lnSpc>
            </a:pPr>
            <a:r>
              <a:rPr lang="en-US" sz="2000" dirty="0">
                <a:solidFill>
                  <a:srgbClr val="F3F3F3"/>
                </a:solidFill>
                <a:latin typeface="Calibri" panose="020F0502020204030204" pitchFamily="34" charset="0"/>
                <a:cs typeface="Calibri" panose="020F0502020204030204" pitchFamily="34" charset="0"/>
              </a:rPr>
              <a:t>Translate findings into pricing and product-strategy guidance, with limitations disclosed.</a:t>
            </a:r>
          </a:p>
        </p:txBody>
      </p:sp>
    </p:spTree>
    <p:extLst>
      <p:ext uri="{BB962C8B-B14F-4D97-AF65-F5344CB8AC3E}">
        <p14:creationId xmlns:p14="http://schemas.microsoft.com/office/powerpoint/2010/main" val="3219050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BEF3-13D2-AA70-BB75-6919AEAB5BC6}"/>
            </a:ext>
          </a:extLst>
        </p:cNvPr>
        <p:cNvGrpSpPr/>
        <p:nvPr/>
      </p:nvGrpSpPr>
      <p:grpSpPr>
        <a:xfrm>
          <a:off x="0" y="0"/>
          <a:ext cx="0" cy="0"/>
          <a:chOff x="0" y="0"/>
          <a:chExt cx="0" cy="0"/>
        </a:xfrm>
      </p:grpSpPr>
      <p:sp>
        <p:nvSpPr>
          <p:cNvPr id="16" name="Shape 2">
            <a:extLst>
              <a:ext uri="{FF2B5EF4-FFF2-40B4-BE49-F238E27FC236}">
                <a16:creationId xmlns:a16="http://schemas.microsoft.com/office/drawing/2014/main" id="{9E187FD2-52C1-AB40-3E9A-7F11CF58BD8A}"/>
              </a:ext>
            </a:extLst>
          </p:cNvPr>
          <p:cNvSpPr/>
          <p:nvPr/>
        </p:nvSpPr>
        <p:spPr>
          <a:xfrm>
            <a:off x="6302829" y="2754716"/>
            <a:ext cx="5763985" cy="3961682"/>
          </a:xfrm>
          <a:prstGeom prst="roundRect">
            <a:avLst>
              <a:gd name="adj" fmla="val 6957"/>
            </a:avLst>
          </a:prstGeom>
          <a:solidFill>
            <a:srgbClr val="DADBDA"/>
          </a:solidFill>
          <a:ln/>
        </p:spPr>
        <p:txBody>
          <a:bodyPr/>
          <a:lstStyle/>
          <a:p>
            <a:r>
              <a:rPr lang="en-US" sz="2400" b="1" dirty="0">
                <a:solidFill>
                  <a:srgbClr val="48375F"/>
                </a:solidFill>
                <a:latin typeface="Calibri" panose="020F0502020204030204" pitchFamily="34" charset="0"/>
                <a:cs typeface="Calibri" panose="020F0502020204030204" pitchFamily="34" charset="0"/>
              </a:rPr>
              <a:t>Metric                                              Value</a:t>
            </a:r>
          </a:p>
        </p:txBody>
      </p:sp>
      <p:pic>
        <p:nvPicPr>
          <p:cNvPr id="5" name="Picture 2" descr="logo">
            <a:extLst>
              <a:ext uri="{FF2B5EF4-FFF2-40B4-BE49-F238E27FC236}">
                <a16:creationId xmlns:a16="http://schemas.microsoft.com/office/drawing/2014/main" id="{1AB114ED-CD6C-F5B9-F3BF-9C817D7D7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CCBA8FE6-7BD5-06F8-E82B-303CDE1E5436}"/>
              </a:ext>
            </a:extLst>
          </p:cNvPr>
          <p:cNvSpPr txBox="1">
            <a:spLocks/>
          </p:cNvSpPr>
          <p:nvPr/>
        </p:nvSpPr>
        <p:spPr>
          <a:xfrm>
            <a:off x="0" y="-10885"/>
            <a:ext cx="12192000" cy="143147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The Source Export Required</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 Substantive Remediation</a:t>
            </a:r>
            <a:endParaRPr lang="en-US" sz="4800" dirty="0">
              <a:solidFill>
                <a:srgbClr val="48375F"/>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C194ED9-CEC3-4B1B-CF63-A62359BA4434}"/>
              </a:ext>
            </a:extLst>
          </p:cNvPr>
          <p:cNvSpPr txBox="1"/>
          <p:nvPr/>
        </p:nvSpPr>
        <p:spPr>
          <a:xfrm>
            <a:off x="103239" y="1436858"/>
            <a:ext cx="12088761" cy="646331"/>
          </a:xfrm>
          <a:prstGeom prst="rect">
            <a:avLst/>
          </a:prstGeom>
          <a:noFill/>
        </p:spPr>
        <p:txBody>
          <a:bodyPr wrap="square" rtlCol="0">
            <a:spAutoFit/>
          </a:bodyPr>
          <a:lstStyle/>
          <a:p>
            <a:r>
              <a:rPr lang="en-US" dirty="0">
                <a:solidFill>
                  <a:srgbClr val="48375F"/>
                </a:solidFill>
                <a:latin typeface="Calibri" panose="020F0502020204030204" pitchFamily="34" charset="0"/>
                <a:ea typeface="Calibri" pitchFamily="34" charset="-122"/>
                <a:cs typeface="Calibri" panose="020F0502020204030204" pitchFamily="34" charset="0"/>
              </a:rPr>
              <a:t>Three material defects were identified and resolved before analysis, alongside one defensive load-time safeguard. Nothing was silently dropped; the flagged cluster was retained and carried into the model as an explicit feature.</a:t>
            </a:r>
          </a:p>
        </p:txBody>
      </p:sp>
      <p:sp>
        <p:nvSpPr>
          <p:cNvPr id="7" name="TextBox 6">
            <a:extLst>
              <a:ext uri="{FF2B5EF4-FFF2-40B4-BE49-F238E27FC236}">
                <a16:creationId xmlns:a16="http://schemas.microsoft.com/office/drawing/2014/main" id="{DB64C653-6A99-5485-014F-EB884A07F2B5}"/>
              </a:ext>
            </a:extLst>
          </p:cNvPr>
          <p:cNvSpPr txBox="1"/>
          <p:nvPr/>
        </p:nvSpPr>
        <p:spPr>
          <a:xfrm>
            <a:off x="541354" y="2225938"/>
            <a:ext cx="5030544"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DEFECTS RESOLVED, AND ONE SAFEGUARD</a:t>
            </a:r>
            <a:endParaRPr lang="en-US" dirty="0">
              <a:solidFill>
                <a:srgbClr val="48375F"/>
              </a:solidFill>
            </a:endParaRPr>
          </a:p>
        </p:txBody>
      </p:sp>
      <p:sp>
        <p:nvSpPr>
          <p:cNvPr id="8" name="TextBox 7">
            <a:extLst>
              <a:ext uri="{FF2B5EF4-FFF2-40B4-BE49-F238E27FC236}">
                <a16:creationId xmlns:a16="http://schemas.microsoft.com/office/drawing/2014/main" id="{259013E6-AD4F-5B3F-FD42-401D8F06F384}"/>
              </a:ext>
            </a:extLst>
          </p:cNvPr>
          <p:cNvSpPr txBox="1"/>
          <p:nvPr/>
        </p:nvSpPr>
        <p:spPr>
          <a:xfrm>
            <a:off x="17250" y="2635765"/>
            <a:ext cx="6078750" cy="4278094"/>
          </a:xfrm>
          <a:prstGeom prst="rect">
            <a:avLst/>
          </a:prstGeom>
          <a:noFill/>
        </p:spPr>
        <p:txBody>
          <a:bodyPr wrap="square" rtlCol="0">
            <a:spAutoFit/>
          </a:bodyPr>
          <a:lstStyle/>
          <a:p>
            <a:r>
              <a:rPr lang="en-US" sz="1600" b="1" dirty="0">
                <a:solidFill>
                  <a:srgbClr val="48375F"/>
                </a:solidFill>
                <a:latin typeface="Calibri" panose="020F0502020204030204" pitchFamily="34" charset="0"/>
                <a:ea typeface="Calibri" pitchFamily="34" charset="-122"/>
                <a:cs typeface="Calibri" panose="020F0502020204030204" pitchFamily="34" charset="0"/>
              </a:rPr>
              <a:t>Mislabeled screen-size column</a:t>
            </a:r>
            <a:endParaRPr lang="en-US" sz="1600" dirty="0">
              <a:solidFill>
                <a:srgbClr val="48375F"/>
              </a:solidFill>
              <a:latin typeface="Calibri" panose="020F0502020204030204" pitchFamily="34" charset="0"/>
              <a:cs typeface="Calibri" panose="020F0502020204030204" pitchFamily="34" charset="0"/>
            </a:endParaRPr>
          </a:p>
          <a:p>
            <a:r>
              <a:rPr lang="en-US" sz="1600" dirty="0">
                <a:solidFill>
                  <a:srgbClr val="48375F"/>
                </a:solidFill>
                <a:latin typeface="Calibri" panose="020F0502020204030204" pitchFamily="34" charset="0"/>
                <a:ea typeface="Calibri" pitchFamily="34" charset="-122"/>
                <a:cs typeface="Calibri" panose="020F0502020204030204" pitchFamily="34" charset="0"/>
              </a:rPr>
              <a:t>"Mobile Height" stored a subset of rows in inches, mixed with centimeters — traced and converted to a consistent scale rather than dropped.</a:t>
            </a:r>
            <a:endParaRPr lang="en-US" sz="1600" dirty="0">
              <a:solidFill>
                <a:srgbClr val="48375F"/>
              </a:solidFill>
              <a:latin typeface="Calibri" panose="020F0502020204030204" pitchFamily="34" charset="0"/>
              <a:cs typeface="Calibri" panose="020F0502020204030204" pitchFamily="34" charset="0"/>
            </a:endParaRPr>
          </a:p>
          <a:p>
            <a:endParaRPr lang="en-US" sz="1600" dirty="0">
              <a:solidFill>
                <a:srgbClr val="48375F"/>
              </a:solidFill>
              <a:latin typeface="Calibri" panose="020F0502020204030204" pitchFamily="34" charset="0"/>
              <a:cs typeface="Calibri" panose="020F0502020204030204" pitchFamily="34" charset="0"/>
            </a:endParaRPr>
          </a:p>
          <a:p>
            <a:r>
              <a:rPr lang="en-US" sz="1600" b="1" dirty="0">
                <a:solidFill>
                  <a:srgbClr val="48375F"/>
                </a:solidFill>
                <a:latin typeface="Calibri" panose="020F0502020204030204" pitchFamily="34" charset="0"/>
                <a:ea typeface="Calibri" pitchFamily="34" charset="-122"/>
                <a:cs typeface="Calibri" panose="020F0502020204030204" pitchFamily="34" charset="0"/>
              </a:rPr>
              <a:t>Text-encoded camera specifications</a:t>
            </a:r>
            <a:endParaRPr lang="en-US" sz="1600" dirty="0">
              <a:solidFill>
                <a:srgbClr val="48375F"/>
              </a:solidFill>
              <a:latin typeface="Calibri" panose="020F0502020204030204" pitchFamily="34" charset="0"/>
              <a:cs typeface="Calibri" panose="020F0502020204030204" pitchFamily="34" charset="0"/>
            </a:endParaRPr>
          </a:p>
          <a:p>
            <a:r>
              <a:rPr lang="en-US" sz="1600" dirty="0">
                <a:solidFill>
                  <a:srgbClr val="48375F"/>
                </a:solidFill>
                <a:latin typeface="Calibri" panose="020F0502020204030204" pitchFamily="34" charset="0"/>
                <a:ea typeface="Calibri" pitchFamily="34" charset="-122"/>
                <a:cs typeface="Calibri" panose="020F0502020204030204" pitchFamily="34" charset="0"/>
              </a:rPr>
              <a:t>"50MP" / "8MP" strings cast to numeric; ambiguous 0MP entries treated as missing and imputed on training-derived brand medians, not read as zero.</a:t>
            </a:r>
            <a:endParaRPr lang="en-US" sz="1600" dirty="0">
              <a:solidFill>
                <a:srgbClr val="48375F"/>
              </a:solidFill>
              <a:latin typeface="Calibri" panose="020F0502020204030204" pitchFamily="34" charset="0"/>
              <a:cs typeface="Calibri" panose="020F0502020204030204" pitchFamily="34" charset="0"/>
            </a:endParaRPr>
          </a:p>
          <a:p>
            <a:endParaRPr lang="en-US" sz="1600" dirty="0">
              <a:solidFill>
                <a:srgbClr val="48375F"/>
              </a:solidFill>
              <a:latin typeface="Calibri" panose="020F0502020204030204" pitchFamily="34" charset="0"/>
              <a:cs typeface="Calibri" panose="020F0502020204030204" pitchFamily="34" charset="0"/>
            </a:endParaRPr>
          </a:p>
          <a:p>
            <a:r>
              <a:rPr lang="en-US" sz="1600" b="1" dirty="0">
                <a:solidFill>
                  <a:srgbClr val="48375F"/>
                </a:solidFill>
                <a:latin typeface="Calibri" panose="020F0502020204030204" pitchFamily="34" charset="0"/>
                <a:ea typeface="Calibri" pitchFamily="34" charset="-122"/>
                <a:cs typeface="Calibri" panose="020F0502020204030204" pitchFamily="34" charset="0"/>
              </a:rPr>
              <a:t>Flagged data-quality cluster</a:t>
            </a:r>
            <a:endParaRPr lang="en-US" sz="1600" dirty="0">
              <a:solidFill>
                <a:srgbClr val="48375F"/>
              </a:solidFill>
              <a:latin typeface="Calibri" panose="020F0502020204030204" pitchFamily="34" charset="0"/>
              <a:cs typeface="Calibri" panose="020F0502020204030204" pitchFamily="34" charset="0"/>
            </a:endParaRPr>
          </a:p>
          <a:p>
            <a:r>
              <a:rPr lang="en-US" sz="1600" dirty="0">
                <a:solidFill>
                  <a:srgbClr val="48375F"/>
                </a:solidFill>
                <a:latin typeface="Calibri" panose="020F0502020204030204" pitchFamily="34" charset="0"/>
                <a:ea typeface="Calibri" pitchFamily="34" charset="-122"/>
                <a:cs typeface="Calibri" panose="020F0502020204030204" pitchFamily="34" charset="0"/>
              </a:rPr>
              <a:t>15 listings (2.8%) sharing a garbled unit pattern — retained and flagged rather than deleted, and tracked through every downstream stage.</a:t>
            </a:r>
            <a:endParaRPr lang="en-US" sz="1600" dirty="0">
              <a:solidFill>
                <a:srgbClr val="48375F"/>
              </a:solidFill>
              <a:latin typeface="Calibri" panose="020F0502020204030204" pitchFamily="34" charset="0"/>
              <a:cs typeface="Calibri" panose="020F0502020204030204" pitchFamily="34" charset="0"/>
            </a:endParaRPr>
          </a:p>
          <a:p>
            <a:endParaRPr lang="en-US" sz="1600" dirty="0">
              <a:solidFill>
                <a:srgbClr val="48375F"/>
              </a:solidFill>
              <a:latin typeface="Calibri" panose="020F0502020204030204" pitchFamily="34" charset="0"/>
              <a:cs typeface="Calibri" panose="020F0502020204030204" pitchFamily="34" charset="0"/>
            </a:endParaRPr>
          </a:p>
          <a:p>
            <a:r>
              <a:rPr lang="en-US" sz="1600" b="1" dirty="0">
                <a:solidFill>
                  <a:srgbClr val="48375F"/>
                </a:solidFill>
                <a:latin typeface="Calibri" panose="020F0502020204030204" pitchFamily="34" charset="0"/>
                <a:ea typeface="Calibri" pitchFamily="34" charset="-122"/>
                <a:cs typeface="Calibri" panose="020F0502020204030204" pitchFamily="34" charset="0"/>
              </a:rPr>
              <a:t>Safeguard — target column name drift</a:t>
            </a:r>
            <a:endParaRPr lang="en-US" sz="1600" dirty="0">
              <a:solidFill>
                <a:srgbClr val="48375F"/>
              </a:solidFill>
              <a:latin typeface="Calibri" panose="020F0502020204030204" pitchFamily="34" charset="0"/>
              <a:cs typeface="Calibri" panose="020F0502020204030204" pitchFamily="34" charset="0"/>
            </a:endParaRPr>
          </a:p>
          <a:p>
            <a:r>
              <a:rPr lang="en-US" sz="1600" dirty="0">
                <a:solidFill>
                  <a:srgbClr val="48375F"/>
                </a:solidFill>
                <a:latin typeface="Calibri" panose="020F0502020204030204" pitchFamily="34" charset="0"/>
                <a:ea typeface="Calibri" pitchFamily="34" charset="-122"/>
                <a:cs typeface="Calibri" panose="020F0502020204030204" pitchFamily="34" charset="0"/>
              </a:rPr>
              <a:t>Source exports have used both "Price" and "Prize" across runs; handled defensively at load time. A precaution, not a defect in this export.</a:t>
            </a:r>
            <a:endParaRPr lang="en-US" sz="1600" dirty="0">
              <a:solidFill>
                <a:srgbClr val="48375F"/>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F266B3E-2269-B0B2-D971-C46D1ED87F60}"/>
              </a:ext>
            </a:extLst>
          </p:cNvPr>
          <p:cNvSpPr txBox="1"/>
          <p:nvPr/>
        </p:nvSpPr>
        <p:spPr>
          <a:xfrm>
            <a:off x="7678224" y="2223312"/>
            <a:ext cx="3176832"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POST-CLEANING POSITION</a:t>
            </a:r>
            <a:endParaRPr lang="en-US" dirty="0">
              <a:solidFill>
                <a:srgbClr val="48375F"/>
              </a:solidFill>
            </a:endParaRPr>
          </a:p>
        </p:txBody>
      </p:sp>
      <p:sp>
        <p:nvSpPr>
          <p:cNvPr id="10" name="Shape 8">
            <a:extLst>
              <a:ext uri="{FF2B5EF4-FFF2-40B4-BE49-F238E27FC236}">
                <a16:creationId xmlns:a16="http://schemas.microsoft.com/office/drawing/2014/main" id="{77197613-A337-8EF4-7A7E-8F6F286C3E8A}"/>
              </a:ext>
            </a:extLst>
          </p:cNvPr>
          <p:cNvSpPr/>
          <p:nvPr/>
        </p:nvSpPr>
        <p:spPr>
          <a:xfrm>
            <a:off x="94622" y="2548736"/>
            <a:ext cx="5532120" cy="10973"/>
          </a:xfrm>
          <a:prstGeom prst="rect">
            <a:avLst/>
          </a:prstGeom>
          <a:solidFill>
            <a:srgbClr val="0F2748"/>
          </a:solidFill>
          <a:ln w="12700">
            <a:solidFill>
              <a:srgbClr val="333333"/>
            </a:solidFill>
            <a:prstDash val="solid"/>
          </a:ln>
        </p:spPr>
      </p:sp>
      <p:sp>
        <p:nvSpPr>
          <p:cNvPr id="12" name="Shape 22">
            <a:extLst>
              <a:ext uri="{FF2B5EF4-FFF2-40B4-BE49-F238E27FC236}">
                <a16:creationId xmlns:a16="http://schemas.microsoft.com/office/drawing/2014/main" id="{6A843EB8-D9F2-EE7D-21BF-7D9105480672}"/>
              </a:ext>
            </a:extLst>
          </p:cNvPr>
          <p:cNvSpPr/>
          <p:nvPr/>
        </p:nvSpPr>
        <p:spPr>
          <a:xfrm>
            <a:off x="6774900" y="2645709"/>
            <a:ext cx="4983480" cy="10973"/>
          </a:xfrm>
          <a:prstGeom prst="rect">
            <a:avLst/>
          </a:prstGeom>
          <a:solidFill>
            <a:srgbClr val="0F2748"/>
          </a:solidFill>
          <a:ln w="12700">
            <a:solidFill>
              <a:srgbClr val="333333"/>
            </a:solidFill>
            <a:prstDash val="solid"/>
          </a:ln>
        </p:spPr>
      </p:sp>
      <p:sp>
        <p:nvSpPr>
          <p:cNvPr id="13" name="TextBox 12">
            <a:extLst>
              <a:ext uri="{FF2B5EF4-FFF2-40B4-BE49-F238E27FC236}">
                <a16:creationId xmlns:a16="http://schemas.microsoft.com/office/drawing/2014/main" id="{15D02A53-649A-A913-4419-8D3074B27990}"/>
              </a:ext>
            </a:extLst>
          </p:cNvPr>
          <p:cNvSpPr txBox="1"/>
          <p:nvPr/>
        </p:nvSpPr>
        <p:spPr>
          <a:xfrm>
            <a:off x="6302829" y="3249101"/>
            <a:ext cx="2937214" cy="3373359"/>
          </a:xfrm>
          <a:prstGeom prst="rect">
            <a:avLst/>
          </a:prstGeom>
          <a:noFill/>
        </p:spPr>
        <p:txBody>
          <a:bodyPr wrap="none" rtlCol="0">
            <a:spAutoFit/>
          </a:bodyPr>
          <a:lstStyle/>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Total listings</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Duplicate listings removed</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Raw → engineered columns</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Missing values post-clean</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Camera MP imputation basis</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Price range</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Average / median price</a:t>
            </a:r>
            <a:endParaRPr lang="en-US" b="1" dirty="0">
              <a:solidFill>
                <a:srgbClr val="48375F"/>
              </a:solidFill>
              <a:latin typeface="Calibri" panose="020F0502020204030204" pitchFamily="34" charset="0"/>
              <a:cs typeface="Calibri" panose="020F0502020204030204" pitchFamily="34" charset="0"/>
            </a:endParaRPr>
          </a:p>
          <a:p>
            <a:pPr>
              <a:lnSpc>
                <a:spcPct val="150000"/>
              </a:lnSpc>
            </a:pPr>
            <a:r>
              <a:rPr lang="en-US" b="1" dirty="0">
                <a:solidFill>
                  <a:srgbClr val="48375F"/>
                </a:solidFill>
                <a:latin typeface="Calibri" panose="020F0502020204030204" pitchFamily="34" charset="0"/>
                <a:ea typeface="Calibri" pitchFamily="34" charset="-122"/>
                <a:cs typeface="Calibri" panose="020F0502020204030204" pitchFamily="34" charset="0"/>
              </a:rPr>
              <a:t>Flagged-cluster avg. price</a:t>
            </a:r>
            <a:endParaRPr lang="en-US" b="1" dirty="0">
              <a:solidFill>
                <a:srgbClr val="48375F"/>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B82BE6D6-973F-345D-6E5B-01556E7861F7}"/>
              </a:ext>
            </a:extLst>
          </p:cNvPr>
          <p:cNvSpPr txBox="1"/>
          <p:nvPr/>
        </p:nvSpPr>
        <p:spPr>
          <a:xfrm>
            <a:off x="9184821" y="3254670"/>
            <a:ext cx="2921890" cy="3373359"/>
          </a:xfrm>
          <a:prstGeom prst="rect">
            <a:avLst/>
          </a:prstGeom>
          <a:noFill/>
        </p:spPr>
        <p:txBody>
          <a:bodyPr wrap="none" rtlCol="0">
            <a:spAutoFit/>
          </a:bodyPr>
          <a:lstStyle/>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541 raw → 531 clean</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10 exact (first retained)</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12 → 23 (11 post index-drop)</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0 nulls</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Brand median (train-derived)</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₹920 – ₹80,999</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₹16,306 / ₹13,999</a:t>
            </a:r>
            <a:endParaRPr lang="en-US" dirty="0">
              <a:solidFill>
                <a:srgbClr val="48375F"/>
              </a:solidFill>
              <a:latin typeface="Calibri" panose="020F0502020204030204" pitchFamily="34" charset="0"/>
              <a:cs typeface="Calibri" panose="020F0502020204030204" pitchFamily="34" charset="0"/>
            </a:endParaRPr>
          </a:p>
          <a:p>
            <a:pPr>
              <a:lnSpc>
                <a:spcPct val="150000"/>
              </a:lnSpc>
            </a:pPr>
            <a:r>
              <a:rPr lang="en-US" dirty="0">
                <a:solidFill>
                  <a:srgbClr val="48375F"/>
                </a:solidFill>
                <a:latin typeface="Calibri" panose="020F0502020204030204" pitchFamily="34" charset="0"/>
                <a:ea typeface="Calibri" pitchFamily="34" charset="-122"/>
                <a:cs typeface="Calibri" panose="020F0502020204030204" pitchFamily="34" charset="0"/>
              </a:rPr>
              <a:t>₹1,851 vs. ₹16,726 rest</a:t>
            </a:r>
            <a:endParaRPr lang="en-US"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870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D405F-B271-F137-3956-DF28FFB59E52}"/>
            </a:ext>
          </a:extLst>
        </p:cNvPr>
        <p:cNvGrpSpPr/>
        <p:nvPr/>
      </p:nvGrpSpPr>
      <p:grpSpPr>
        <a:xfrm>
          <a:off x="0" y="0"/>
          <a:ext cx="0" cy="0"/>
          <a:chOff x="0" y="0"/>
          <a:chExt cx="0" cy="0"/>
        </a:xfrm>
      </p:grpSpPr>
      <p:pic>
        <p:nvPicPr>
          <p:cNvPr id="3" name="Picture 2" descr="logo">
            <a:extLst>
              <a:ext uri="{FF2B5EF4-FFF2-40B4-BE49-F238E27FC236}">
                <a16:creationId xmlns:a16="http://schemas.microsoft.com/office/drawing/2014/main" id="{69273A0D-FB01-1B4D-D82A-0E4B84D4F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21772"/>
            <a:ext cx="1520142" cy="6333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379A3A1-19A4-24F9-E871-8A38F1CAA3B0}"/>
              </a:ext>
            </a:extLst>
          </p:cNvPr>
          <p:cNvPicPr>
            <a:picLocks noChangeAspect="1"/>
          </p:cNvPicPr>
          <p:nvPr/>
        </p:nvPicPr>
        <p:blipFill>
          <a:blip r:embed="rId4"/>
          <a:stretch>
            <a:fillRect/>
          </a:stretch>
        </p:blipFill>
        <p:spPr>
          <a:xfrm>
            <a:off x="175670" y="1353376"/>
            <a:ext cx="11840659" cy="4090970"/>
          </a:xfrm>
          <a:prstGeom prst="rect">
            <a:avLst/>
          </a:prstGeom>
        </p:spPr>
      </p:pic>
      <p:sp>
        <p:nvSpPr>
          <p:cNvPr id="14" name="Title 1">
            <a:extLst>
              <a:ext uri="{FF2B5EF4-FFF2-40B4-BE49-F238E27FC236}">
                <a16:creationId xmlns:a16="http://schemas.microsoft.com/office/drawing/2014/main" id="{6B42B0FB-A3ED-BDDC-E01A-87E6B098E5A9}"/>
              </a:ext>
            </a:extLst>
          </p:cNvPr>
          <p:cNvSpPr txBox="1">
            <a:spLocks/>
          </p:cNvSpPr>
          <p:nvPr/>
        </p:nvSpPr>
        <p:spPr>
          <a:xfrm>
            <a:off x="0" y="56775"/>
            <a:ext cx="12192000" cy="732934"/>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Target Price Distribution</a:t>
            </a:r>
            <a:endParaRPr lang="en-US" sz="4800" b="1" dirty="0">
              <a:solidFill>
                <a:srgbClr val="48375F"/>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7A55DE4-846F-ECA3-1832-E450AEE3ADD5}"/>
              </a:ext>
            </a:extLst>
          </p:cNvPr>
          <p:cNvSpPr txBox="1"/>
          <p:nvPr/>
        </p:nvSpPr>
        <p:spPr>
          <a:xfrm>
            <a:off x="1101437" y="5694218"/>
            <a:ext cx="10457546" cy="830997"/>
          </a:xfrm>
          <a:prstGeom prst="rect">
            <a:avLst/>
          </a:prstGeom>
          <a:noFill/>
        </p:spPr>
        <p:txBody>
          <a:bodyPr wrap="square" rtlCol="0">
            <a:spAutoFit/>
          </a:bodyPr>
          <a:lstStyle/>
          <a:p>
            <a:r>
              <a:rPr lang="en-IN" sz="2400" dirty="0">
                <a:solidFill>
                  <a:srgbClr val="48375F"/>
                </a:solidFill>
                <a:latin typeface="Calibri" panose="020F0502020204030204" pitchFamily="34" charset="0"/>
                <a:cs typeface="Calibri" panose="020F0502020204030204" pitchFamily="34" charset="0"/>
              </a:rPr>
              <a:t>Mobile prices are strongly right-skewed, with most listings concentrated in the budget and mid-range segments.</a:t>
            </a:r>
            <a:endParaRPr lang="en-US" sz="2400"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89082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B9D7-6AA0-8576-6FCA-6FD33062CB99}"/>
            </a:ext>
          </a:extLst>
        </p:cNvPr>
        <p:cNvGrpSpPr/>
        <p:nvPr/>
      </p:nvGrpSpPr>
      <p:grpSpPr>
        <a:xfrm>
          <a:off x="0" y="0"/>
          <a:ext cx="0" cy="0"/>
          <a:chOff x="0" y="0"/>
          <a:chExt cx="0" cy="0"/>
        </a:xfrm>
      </p:grpSpPr>
      <p:pic>
        <p:nvPicPr>
          <p:cNvPr id="3" name="Picture 2" descr="logo">
            <a:extLst>
              <a:ext uri="{FF2B5EF4-FFF2-40B4-BE49-F238E27FC236}">
                <a16:creationId xmlns:a16="http://schemas.microsoft.com/office/drawing/2014/main" id="{044D09D8-99A2-F70E-8666-2F1CA2758F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21772"/>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DCA8CE46-6AA6-3051-F2D2-E6E58B726DA9}"/>
              </a:ext>
            </a:extLst>
          </p:cNvPr>
          <p:cNvSpPr txBox="1">
            <a:spLocks/>
          </p:cNvSpPr>
          <p:nvPr/>
        </p:nvSpPr>
        <p:spPr>
          <a:xfrm>
            <a:off x="0" y="56775"/>
            <a:ext cx="12192000" cy="816061"/>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Screen-Size Correction</a:t>
            </a:r>
            <a:endParaRPr lang="en-US" sz="4800" b="1" dirty="0">
              <a:solidFill>
                <a:srgbClr val="48375F"/>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B98C9B53-BDBE-FA53-1A7B-282A19103092}"/>
              </a:ext>
            </a:extLst>
          </p:cNvPr>
          <p:cNvPicPr>
            <a:picLocks noChangeAspect="1"/>
          </p:cNvPicPr>
          <p:nvPr/>
        </p:nvPicPr>
        <p:blipFill>
          <a:blip r:embed="rId4"/>
          <a:stretch>
            <a:fillRect/>
          </a:stretch>
        </p:blipFill>
        <p:spPr>
          <a:xfrm>
            <a:off x="548225" y="1267759"/>
            <a:ext cx="11163158" cy="3846862"/>
          </a:xfrm>
          <a:prstGeom prst="rect">
            <a:avLst/>
          </a:prstGeom>
        </p:spPr>
      </p:pic>
      <p:sp>
        <p:nvSpPr>
          <p:cNvPr id="5" name="TextBox 4">
            <a:extLst>
              <a:ext uri="{FF2B5EF4-FFF2-40B4-BE49-F238E27FC236}">
                <a16:creationId xmlns:a16="http://schemas.microsoft.com/office/drawing/2014/main" id="{09E41900-1E56-FBC9-C052-B9E233666DF8}"/>
              </a:ext>
            </a:extLst>
          </p:cNvPr>
          <p:cNvSpPr txBox="1"/>
          <p:nvPr/>
        </p:nvSpPr>
        <p:spPr>
          <a:xfrm>
            <a:off x="698822" y="5509545"/>
            <a:ext cx="10861964" cy="461665"/>
          </a:xfrm>
          <a:prstGeom prst="rect">
            <a:avLst/>
          </a:prstGeom>
          <a:noFill/>
        </p:spPr>
        <p:txBody>
          <a:bodyPr wrap="square" rtlCol="0">
            <a:spAutoFit/>
          </a:bodyPr>
          <a:lstStyle/>
          <a:p>
            <a:r>
              <a:rPr lang="en-IN" sz="2400" dirty="0">
                <a:solidFill>
                  <a:srgbClr val="48375F"/>
                </a:solidFill>
                <a:latin typeface="Calibri" panose="020F0502020204030204" pitchFamily="34" charset="0"/>
                <a:cs typeface="Calibri" panose="020F0502020204030204" pitchFamily="34" charset="0"/>
              </a:rPr>
              <a:t>Mixed inch and centimetre values were standardised to centimetres before analysis.</a:t>
            </a:r>
            <a:endParaRPr lang="en-US" sz="2400"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9558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53E3-33B3-382E-17E1-D7631D919317}"/>
            </a:ext>
          </a:extLst>
        </p:cNvPr>
        <p:cNvGrpSpPr/>
        <p:nvPr/>
      </p:nvGrpSpPr>
      <p:grpSpPr>
        <a:xfrm>
          <a:off x="0" y="0"/>
          <a:ext cx="0" cy="0"/>
          <a:chOff x="0" y="0"/>
          <a:chExt cx="0" cy="0"/>
        </a:xfrm>
      </p:grpSpPr>
      <p:pic>
        <p:nvPicPr>
          <p:cNvPr id="5" name="Picture 2" descr="logo">
            <a:extLst>
              <a:ext uri="{FF2B5EF4-FFF2-40B4-BE49-F238E27FC236}">
                <a16:creationId xmlns:a16="http://schemas.microsoft.com/office/drawing/2014/main" id="{B68D3584-661D-0344-7227-0835EDE90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F570CA4-3B90-BED6-F533-9E24E0FEC473}"/>
              </a:ext>
            </a:extLst>
          </p:cNvPr>
          <p:cNvSpPr txBox="1"/>
          <p:nvPr/>
        </p:nvSpPr>
        <p:spPr>
          <a:xfrm>
            <a:off x="1969025" y="6507334"/>
            <a:ext cx="8104656" cy="307777"/>
          </a:xfrm>
          <a:prstGeom prst="rect">
            <a:avLst/>
          </a:prstGeom>
          <a:noFill/>
        </p:spPr>
        <p:txBody>
          <a:bodyPr wrap="square" rtlCol="0">
            <a:spAutoFit/>
          </a:bodyPr>
          <a:lstStyle/>
          <a:p>
            <a:r>
              <a:rPr lang="en-US" sz="1400" b="1" i="1" dirty="0">
                <a:solidFill>
                  <a:srgbClr val="48375F"/>
                </a:solidFill>
                <a:latin typeface="Calibri" panose="020F0502020204030204" pitchFamily="34" charset="0"/>
                <a:ea typeface="Calibri" pitchFamily="34" charset="-122"/>
                <a:cs typeface="Calibri" panose="020F0502020204030204" pitchFamily="34" charset="0"/>
              </a:rPr>
              <a:t>Final model feature set:   </a:t>
            </a:r>
            <a:r>
              <a:rPr lang="en-US" sz="1400" i="1" dirty="0">
                <a:solidFill>
                  <a:srgbClr val="48375F"/>
                </a:solidFill>
                <a:latin typeface="Calibri" panose="020F0502020204030204" pitchFamily="34" charset="0"/>
                <a:ea typeface="Calibri" pitchFamily="34" charset="-122"/>
                <a:cs typeface="Calibri" panose="020F0502020204030204" pitchFamily="34" charset="0"/>
              </a:rPr>
              <a:t>6 numeric  +  5 categorical (one-hot encoded)   →   42 columns entering the model</a:t>
            </a:r>
            <a:endParaRPr lang="en-US" sz="1400" i="1" dirty="0">
              <a:solidFill>
                <a:srgbClr val="48375F"/>
              </a:solidFill>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DBF2D4A3-E980-B101-B5D8-17E5436BBA79}"/>
              </a:ext>
            </a:extLst>
          </p:cNvPr>
          <p:cNvSpPr txBox="1">
            <a:spLocks/>
          </p:cNvSpPr>
          <p:nvPr/>
        </p:nvSpPr>
        <p:spPr>
          <a:xfrm>
            <a:off x="0" y="-10886"/>
            <a:ext cx="12192000" cy="134790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Six Derived Features Convert Raw Specifications Into Modelling Inputs</a:t>
            </a:r>
            <a:endParaRPr lang="en-US" sz="4800" dirty="0">
              <a:solidFill>
                <a:srgbClr val="48375F"/>
              </a:solidFill>
              <a:latin typeface="Calibri" panose="020F0502020204030204" pitchFamily="34" charset="0"/>
              <a:cs typeface="Calibri" panose="020F0502020204030204" pitchFamily="34" charset="0"/>
            </a:endParaRPr>
          </a:p>
        </p:txBody>
      </p:sp>
      <p:sp>
        <p:nvSpPr>
          <p:cNvPr id="3" name="Shape 2">
            <a:extLst>
              <a:ext uri="{FF2B5EF4-FFF2-40B4-BE49-F238E27FC236}">
                <a16:creationId xmlns:a16="http://schemas.microsoft.com/office/drawing/2014/main" id="{64F2DB3A-F8C6-0AF5-EA8B-D54C9CAD3F65}"/>
              </a:ext>
            </a:extLst>
          </p:cNvPr>
          <p:cNvSpPr/>
          <p:nvPr/>
        </p:nvSpPr>
        <p:spPr>
          <a:xfrm>
            <a:off x="278607" y="1365321"/>
            <a:ext cx="3569493" cy="2270508"/>
          </a:xfrm>
          <a:prstGeom prst="roundRect">
            <a:avLst>
              <a:gd name="adj" fmla="val 6957"/>
            </a:avLst>
          </a:prstGeom>
          <a:solidFill>
            <a:srgbClr val="DADBDA"/>
          </a:solidFill>
          <a:ln/>
        </p:spPr>
        <p:txBody>
          <a:bodyPr/>
          <a:lstStyle/>
          <a:p>
            <a:pPr algn="ctr"/>
            <a:r>
              <a:rPr lang="en-IN" sz="2400" b="1" dirty="0">
                <a:solidFill>
                  <a:srgbClr val="48375F"/>
                </a:solidFill>
                <a:latin typeface="Calibri" panose="020F0502020204030204" pitchFamily="34" charset="0"/>
                <a:cs typeface="Calibri" panose="020F0502020204030204" pitchFamily="34" charset="0"/>
              </a:rPr>
              <a:t>Brand – </a:t>
            </a: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First token of the model-name string, with typo and alias correction (e.g. "I" → IKALL).</a:t>
            </a:r>
            <a:endParaRPr lang="en-IN" sz="2400" dirty="0">
              <a:solidFill>
                <a:srgbClr val="48375F"/>
              </a:solidFill>
              <a:latin typeface="Calibri" panose="020F0502020204030204" pitchFamily="34" charset="0"/>
              <a:cs typeface="Calibri" panose="020F0502020204030204" pitchFamily="34" charset="0"/>
            </a:endParaRPr>
          </a:p>
          <a:p>
            <a:pPr algn="ctr"/>
            <a:br>
              <a:rPr lang="en-IN" sz="2400" dirty="0">
                <a:solidFill>
                  <a:srgbClr val="48375F"/>
                </a:solidFill>
                <a:latin typeface="Calibri" panose="020F0502020204030204" pitchFamily="34" charset="0"/>
                <a:cs typeface="Calibri" panose="020F0502020204030204" pitchFamily="34" charset="0"/>
              </a:rPr>
            </a:br>
            <a:endParaRPr lang="en-US" sz="2400" dirty="0">
              <a:solidFill>
                <a:srgbClr val="48375F"/>
              </a:solidFill>
              <a:latin typeface="Calibri" panose="020F0502020204030204" pitchFamily="34" charset="0"/>
              <a:cs typeface="Calibri" panose="020F0502020204030204" pitchFamily="34" charset="0"/>
            </a:endParaRPr>
          </a:p>
        </p:txBody>
      </p:sp>
      <p:sp>
        <p:nvSpPr>
          <p:cNvPr id="4" name="Shape 2">
            <a:extLst>
              <a:ext uri="{FF2B5EF4-FFF2-40B4-BE49-F238E27FC236}">
                <a16:creationId xmlns:a16="http://schemas.microsoft.com/office/drawing/2014/main" id="{5D7A9C4B-A6C6-D705-2642-7777920AFE80}"/>
              </a:ext>
            </a:extLst>
          </p:cNvPr>
          <p:cNvSpPr/>
          <p:nvPr/>
        </p:nvSpPr>
        <p:spPr>
          <a:xfrm>
            <a:off x="4236608" y="1365321"/>
            <a:ext cx="3569493" cy="2270508"/>
          </a:xfrm>
          <a:prstGeom prst="roundRect">
            <a:avLst>
              <a:gd name="adj" fmla="val 6957"/>
            </a:avLst>
          </a:prstGeom>
          <a:solidFill>
            <a:srgbClr val="DADBDA"/>
          </a:solidFill>
          <a:ln/>
        </p:spPr>
        <p:txBody>
          <a:bodyPr/>
          <a:lstStyle/>
          <a:p>
            <a:pPr algn="ctr"/>
            <a:r>
              <a:rPr lang="en-IN" sz="2400" b="1" dirty="0" err="1">
                <a:solidFill>
                  <a:srgbClr val="48375F"/>
                </a:solidFill>
                <a:latin typeface="Calibri" panose="020F0502020204030204" pitchFamily="34" charset="0"/>
                <a:cs typeface="Calibri" panose="020F0502020204030204" pitchFamily="34" charset="0"/>
              </a:rPr>
              <a:t>Base_Colour</a:t>
            </a:r>
            <a:r>
              <a:rPr lang="en-IN" sz="2400" b="1" dirty="0">
                <a:solidFill>
                  <a:srgbClr val="48375F"/>
                </a:solidFill>
                <a:latin typeface="Calibri" panose="020F0502020204030204" pitchFamily="34" charset="0"/>
                <a:cs typeface="Calibri" panose="020F0502020204030204" pitchFamily="34" charset="0"/>
              </a:rPr>
              <a:t> –</a:t>
            </a: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15 keyword-matched </a:t>
            </a:r>
            <a:r>
              <a:rPr lang="en-US" sz="2400" dirty="0" err="1">
                <a:solidFill>
                  <a:srgbClr val="48375F"/>
                </a:solidFill>
                <a:latin typeface="Calibri" panose="020F0502020204030204" pitchFamily="34" charset="0"/>
                <a:ea typeface="Calibri" pitchFamily="34" charset="-122"/>
                <a:cs typeface="Calibri" panose="020F0502020204030204" pitchFamily="34" charset="0"/>
              </a:rPr>
              <a:t>colour</a:t>
            </a:r>
            <a:r>
              <a:rPr lang="en-US" sz="2400" dirty="0">
                <a:solidFill>
                  <a:srgbClr val="48375F"/>
                </a:solidFill>
                <a:latin typeface="Calibri" panose="020F0502020204030204" pitchFamily="34" charset="0"/>
                <a:ea typeface="Calibri" pitchFamily="34" charset="-122"/>
                <a:cs typeface="Calibri" panose="020F0502020204030204" pitchFamily="34" charset="0"/>
              </a:rPr>
              <a:t> families; buckets below 10 observations folded into "Other”.</a:t>
            </a:r>
            <a:endParaRPr lang="en-US" sz="2400" dirty="0">
              <a:solidFill>
                <a:srgbClr val="48375F"/>
              </a:solidFill>
              <a:latin typeface="Calibri" panose="020F0502020204030204" pitchFamily="34" charset="0"/>
              <a:cs typeface="Calibri" panose="020F0502020204030204" pitchFamily="34" charset="0"/>
            </a:endParaRPr>
          </a:p>
        </p:txBody>
      </p:sp>
      <p:sp>
        <p:nvSpPr>
          <p:cNvPr id="7" name="Shape 2">
            <a:extLst>
              <a:ext uri="{FF2B5EF4-FFF2-40B4-BE49-F238E27FC236}">
                <a16:creationId xmlns:a16="http://schemas.microsoft.com/office/drawing/2014/main" id="{09E85169-A7A3-3D16-79A9-560FBEE03D72}"/>
              </a:ext>
            </a:extLst>
          </p:cNvPr>
          <p:cNvSpPr/>
          <p:nvPr/>
        </p:nvSpPr>
        <p:spPr>
          <a:xfrm>
            <a:off x="278606" y="4013272"/>
            <a:ext cx="3569493" cy="2270508"/>
          </a:xfrm>
          <a:prstGeom prst="roundRect">
            <a:avLst>
              <a:gd name="adj" fmla="val 6957"/>
            </a:avLst>
          </a:prstGeom>
          <a:solidFill>
            <a:srgbClr val="DADBDA"/>
          </a:solidFill>
          <a:ln/>
        </p:spPr>
        <p:txBody>
          <a:bodyPr/>
          <a:lstStyle/>
          <a:p>
            <a:pPr algn="ctr"/>
            <a:endParaRPr lang="en-IN" sz="2400" b="1" dirty="0">
              <a:solidFill>
                <a:srgbClr val="48375F"/>
              </a:solidFill>
              <a:latin typeface="Calibri" panose="020F0502020204030204" pitchFamily="34" charset="0"/>
              <a:cs typeface="Calibri" panose="020F0502020204030204" pitchFamily="34" charset="0"/>
            </a:endParaRPr>
          </a:p>
          <a:p>
            <a:pPr algn="ctr"/>
            <a:r>
              <a:rPr lang="en-IN" sz="2400" b="1" dirty="0">
                <a:solidFill>
                  <a:srgbClr val="48375F"/>
                </a:solidFill>
                <a:latin typeface="Calibri" panose="020F0502020204030204" pitchFamily="34" charset="0"/>
                <a:cs typeface="Calibri" panose="020F0502020204030204" pitchFamily="34" charset="0"/>
              </a:rPr>
              <a:t>Is_5G – </a:t>
            </a:r>
          </a:p>
          <a:p>
            <a:pPr algn="ctr"/>
            <a:endParaRPr lang="en-IN" sz="2400" b="1" dirty="0">
              <a:solidFill>
                <a:srgbClr val="48375F"/>
              </a:solidFill>
              <a:latin typeface="Calibri" panose="020F0502020204030204" pitchFamily="34" charset="0"/>
              <a:cs typeface="Calibri" panose="020F0502020204030204" pitchFamily="34" charset="0"/>
            </a:endParaRP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Boolean flag parsed from the model-name string.</a:t>
            </a:r>
            <a:endParaRPr lang="en-IN" sz="2400" dirty="0">
              <a:solidFill>
                <a:srgbClr val="48375F"/>
              </a:solidFill>
              <a:latin typeface="Calibri" panose="020F0502020204030204" pitchFamily="34" charset="0"/>
              <a:cs typeface="Calibri" panose="020F0502020204030204" pitchFamily="34" charset="0"/>
            </a:endParaRPr>
          </a:p>
        </p:txBody>
      </p:sp>
      <p:sp>
        <p:nvSpPr>
          <p:cNvPr id="8" name="Shape 2">
            <a:extLst>
              <a:ext uri="{FF2B5EF4-FFF2-40B4-BE49-F238E27FC236}">
                <a16:creationId xmlns:a16="http://schemas.microsoft.com/office/drawing/2014/main" id="{3E47F747-8961-787F-9798-E720F7AB0FF6}"/>
              </a:ext>
            </a:extLst>
          </p:cNvPr>
          <p:cNvSpPr/>
          <p:nvPr/>
        </p:nvSpPr>
        <p:spPr>
          <a:xfrm>
            <a:off x="8194607" y="4013272"/>
            <a:ext cx="3569493" cy="2270508"/>
          </a:xfrm>
          <a:prstGeom prst="roundRect">
            <a:avLst>
              <a:gd name="adj" fmla="val 6957"/>
            </a:avLst>
          </a:prstGeom>
          <a:solidFill>
            <a:srgbClr val="DADBDA"/>
          </a:solidFill>
          <a:ln/>
        </p:spPr>
        <p:txBody>
          <a:bodyPr/>
          <a:lstStyle/>
          <a:p>
            <a:pPr algn="ctr"/>
            <a:r>
              <a:rPr lang="en-US" sz="2400" b="1" dirty="0" err="1">
                <a:solidFill>
                  <a:srgbClr val="48375F"/>
                </a:solidFill>
                <a:latin typeface="Calibri" panose="020F0502020204030204" pitchFamily="34" charset="0"/>
                <a:cs typeface="Calibri" panose="020F0502020204030204" pitchFamily="34" charset="0"/>
              </a:rPr>
              <a:t>is_flagged_dq</a:t>
            </a:r>
            <a:endParaRPr lang="en-US" sz="2400" b="1" dirty="0">
              <a:solidFill>
                <a:srgbClr val="48375F"/>
              </a:solidFill>
              <a:latin typeface="Calibri" panose="020F0502020204030204" pitchFamily="34" charset="0"/>
              <a:cs typeface="Calibri" panose="020F0502020204030204" pitchFamily="34" charset="0"/>
            </a:endParaRP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Data-quality cluster membership carried through as a genuine model feature, not discarded.</a:t>
            </a:r>
            <a:endParaRPr lang="en-US" sz="2400" dirty="0">
              <a:solidFill>
                <a:srgbClr val="48375F"/>
              </a:solidFill>
              <a:latin typeface="Calibri" panose="020F0502020204030204" pitchFamily="34" charset="0"/>
              <a:cs typeface="Calibri" panose="020F0502020204030204" pitchFamily="34" charset="0"/>
            </a:endParaRP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9" name="Shape 2">
            <a:extLst>
              <a:ext uri="{FF2B5EF4-FFF2-40B4-BE49-F238E27FC236}">
                <a16:creationId xmlns:a16="http://schemas.microsoft.com/office/drawing/2014/main" id="{D7B7F085-5D94-D414-0FBD-7B74407AF32A}"/>
              </a:ext>
            </a:extLst>
          </p:cNvPr>
          <p:cNvSpPr/>
          <p:nvPr/>
        </p:nvSpPr>
        <p:spPr>
          <a:xfrm>
            <a:off x="8194609" y="1365321"/>
            <a:ext cx="3569493" cy="2270508"/>
          </a:xfrm>
          <a:prstGeom prst="roundRect">
            <a:avLst>
              <a:gd name="adj" fmla="val 6957"/>
            </a:avLst>
          </a:prstGeom>
          <a:solidFill>
            <a:srgbClr val="DADBDA"/>
          </a:solidFill>
          <a:ln/>
        </p:spPr>
        <p:txBody>
          <a:bodyPr/>
          <a:lstStyle/>
          <a:p>
            <a:pPr algn="ctr"/>
            <a:r>
              <a:rPr lang="en-IN" sz="2400" b="1" dirty="0" err="1">
                <a:solidFill>
                  <a:srgbClr val="48375F"/>
                </a:solidFill>
                <a:latin typeface="Calibri" panose="020F0502020204030204" pitchFamily="34" charset="0"/>
                <a:cs typeface="Calibri" panose="020F0502020204030204" pitchFamily="34" charset="0"/>
              </a:rPr>
              <a:t>Processor_Brand</a:t>
            </a:r>
            <a:r>
              <a:rPr lang="en-IN" sz="2400" b="1" dirty="0">
                <a:solidFill>
                  <a:srgbClr val="48375F"/>
                </a:solidFill>
                <a:latin typeface="Calibri" panose="020F0502020204030204" pitchFamily="34" charset="0"/>
                <a:cs typeface="Calibri" panose="020F0502020204030204" pitchFamily="34" charset="0"/>
              </a:rPr>
              <a:t> –</a:t>
            </a: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Chipset text mapped to Qualcomm, MediaTek, </a:t>
            </a:r>
            <a:r>
              <a:rPr lang="en-US" sz="2400" dirty="0" err="1">
                <a:solidFill>
                  <a:srgbClr val="48375F"/>
                </a:solidFill>
                <a:latin typeface="Calibri" panose="020F0502020204030204" pitchFamily="34" charset="0"/>
                <a:ea typeface="Calibri" pitchFamily="34" charset="-122"/>
                <a:cs typeface="Calibri" panose="020F0502020204030204" pitchFamily="34" charset="0"/>
              </a:rPr>
              <a:t>Exynos</a:t>
            </a:r>
            <a:r>
              <a:rPr lang="en-US" sz="2400" dirty="0">
                <a:solidFill>
                  <a:srgbClr val="48375F"/>
                </a:solidFill>
                <a:latin typeface="Calibri" panose="020F0502020204030204" pitchFamily="34" charset="0"/>
                <a:ea typeface="Calibri" pitchFamily="34" charset="-122"/>
                <a:cs typeface="Calibri" panose="020F0502020204030204" pitchFamily="34" charset="0"/>
              </a:rPr>
              <a:t>, </a:t>
            </a:r>
            <a:r>
              <a:rPr lang="en-US" sz="2400" dirty="0" err="1">
                <a:solidFill>
                  <a:srgbClr val="48375F"/>
                </a:solidFill>
                <a:latin typeface="Calibri" panose="020F0502020204030204" pitchFamily="34" charset="0"/>
                <a:ea typeface="Calibri" pitchFamily="34" charset="-122"/>
                <a:cs typeface="Calibri" panose="020F0502020204030204" pitchFamily="34" charset="0"/>
              </a:rPr>
              <a:t>Unisoc</a:t>
            </a:r>
            <a:r>
              <a:rPr lang="en-US" sz="2400" dirty="0">
                <a:solidFill>
                  <a:srgbClr val="48375F"/>
                </a:solidFill>
                <a:latin typeface="Calibri" panose="020F0502020204030204" pitchFamily="34" charset="0"/>
                <a:ea typeface="Calibri" pitchFamily="34" charset="-122"/>
                <a:cs typeface="Calibri" panose="020F0502020204030204" pitchFamily="34" charset="0"/>
              </a:rPr>
              <a:t>, Google or Apple.</a:t>
            </a:r>
            <a:endParaRPr lang="en-US" sz="2400" dirty="0">
              <a:solidFill>
                <a:srgbClr val="48375F"/>
              </a:solidFill>
              <a:latin typeface="Calibri" panose="020F0502020204030204" pitchFamily="34" charset="0"/>
              <a:cs typeface="Calibri" panose="020F0502020204030204" pitchFamily="34" charset="0"/>
            </a:endParaRPr>
          </a:p>
          <a:p>
            <a:pPr algn="ctr"/>
            <a:br>
              <a:rPr lang="en-IN" sz="2400" dirty="0">
                <a:solidFill>
                  <a:srgbClr val="48375F"/>
                </a:solidFill>
                <a:latin typeface="Calibri" panose="020F0502020204030204" pitchFamily="34" charset="0"/>
                <a:cs typeface="Calibri" panose="020F0502020204030204" pitchFamily="34" charset="0"/>
              </a:rPr>
            </a:br>
            <a:endParaRPr lang="en-US" sz="2400" dirty="0">
              <a:solidFill>
                <a:srgbClr val="48375F"/>
              </a:solidFill>
              <a:latin typeface="Calibri" panose="020F0502020204030204" pitchFamily="34" charset="0"/>
              <a:cs typeface="Calibri" panose="020F0502020204030204" pitchFamily="34" charset="0"/>
            </a:endParaRPr>
          </a:p>
        </p:txBody>
      </p:sp>
      <p:sp>
        <p:nvSpPr>
          <p:cNvPr id="10" name="Shape 2">
            <a:extLst>
              <a:ext uri="{FF2B5EF4-FFF2-40B4-BE49-F238E27FC236}">
                <a16:creationId xmlns:a16="http://schemas.microsoft.com/office/drawing/2014/main" id="{B43FF96E-15F7-EF5C-D9C4-9FCF2E483C78}"/>
              </a:ext>
            </a:extLst>
          </p:cNvPr>
          <p:cNvSpPr/>
          <p:nvPr/>
        </p:nvSpPr>
        <p:spPr>
          <a:xfrm>
            <a:off x="4236607" y="4013272"/>
            <a:ext cx="3569493" cy="2270508"/>
          </a:xfrm>
          <a:prstGeom prst="roundRect">
            <a:avLst>
              <a:gd name="adj" fmla="val 6957"/>
            </a:avLst>
          </a:prstGeom>
          <a:solidFill>
            <a:srgbClr val="DADBDA"/>
          </a:solidFill>
          <a:ln/>
        </p:spPr>
        <p:txBody>
          <a:bodyPr/>
          <a:lstStyle/>
          <a:p>
            <a:pPr algn="ctr"/>
            <a:r>
              <a:rPr lang="en-IN" sz="2400" b="1" dirty="0" err="1">
                <a:solidFill>
                  <a:srgbClr val="48375F"/>
                </a:solidFill>
                <a:latin typeface="Calibri" panose="020F0502020204030204" pitchFamily="34" charset="0"/>
                <a:cs typeface="Calibri" panose="020F0502020204030204" pitchFamily="34" charset="0"/>
              </a:rPr>
              <a:t>Total_Camera_MP</a:t>
            </a:r>
            <a:r>
              <a:rPr lang="en-IN" sz="2400" b="1" dirty="0">
                <a:solidFill>
                  <a:srgbClr val="48375F"/>
                </a:solidFill>
                <a:latin typeface="Calibri" panose="020F0502020204030204" pitchFamily="34" charset="0"/>
                <a:cs typeface="Calibri" panose="020F0502020204030204" pitchFamily="34" charset="0"/>
              </a:rPr>
              <a:t> –</a:t>
            </a:r>
          </a:p>
          <a:p>
            <a:pPr algn="ctr"/>
            <a:endParaRPr lang="en-US" sz="2400" dirty="0">
              <a:solidFill>
                <a:srgbClr val="48375F"/>
              </a:solidFill>
              <a:latin typeface="Calibri" panose="020F0502020204030204" pitchFamily="34" charset="0"/>
              <a:ea typeface="Calibri" pitchFamily="34" charset="-122"/>
              <a:cs typeface="Calibri" panose="020F0502020204030204" pitchFamily="34" charset="0"/>
            </a:endParaRPr>
          </a:p>
          <a:p>
            <a:pPr algn="ctr"/>
            <a:r>
              <a:rPr lang="en-US" sz="2400" dirty="0">
                <a:solidFill>
                  <a:srgbClr val="48375F"/>
                </a:solidFill>
                <a:latin typeface="Calibri" panose="020F0502020204030204" pitchFamily="34" charset="0"/>
                <a:ea typeface="Calibri" pitchFamily="34" charset="-122"/>
                <a:cs typeface="Calibri" panose="020F0502020204030204" pitchFamily="34" charset="0"/>
              </a:rPr>
              <a:t>Rear and front megapixels combined into a single camera-capability signal.</a:t>
            </a:r>
            <a:endParaRPr lang="en-US" sz="2400"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0470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EB3A-C082-F287-78F4-F8796F6E1872}"/>
            </a:ext>
          </a:extLst>
        </p:cNvPr>
        <p:cNvGrpSpPr/>
        <p:nvPr/>
      </p:nvGrpSpPr>
      <p:grpSpPr>
        <a:xfrm>
          <a:off x="0" y="0"/>
          <a:ext cx="0" cy="0"/>
          <a:chOff x="0" y="0"/>
          <a:chExt cx="0" cy="0"/>
        </a:xfrm>
      </p:grpSpPr>
      <p:pic>
        <p:nvPicPr>
          <p:cNvPr id="5" name="Picture 2" descr="logo">
            <a:extLst>
              <a:ext uri="{FF2B5EF4-FFF2-40B4-BE49-F238E27FC236}">
                <a16:creationId xmlns:a16="http://schemas.microsoft.com/office/drawing/2014/main" id="{F215DA0F-71F1-F82D-F2E7-5AFC929F8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F027D960-CBB9-FD4B-85E7-9562B45C8193}"/>
              </a:ext>
            </a:extLst>
          </p:cNvPr>
          <p:cNvSpPr txBox="1"/>
          <p:nvPr/>
        </p:nvSpPr>
        <p:spPr>
          <a:xfrm>
            <a:off x="1969025" y="6507334"/>
            <a:ext cx="8104656" cy="307777"/>
          </a:xfrm>
          <a:prstGeom prst="rect">
            <a:avLst/>
          </a:prstGeom>
          <a:noFill/>
        </p:spPr>
        <p:txBody>
          <a:bodyPr wrap="square" rtlCol="0">
            <a:spAutoFit/>
          </a:bodyPr>
          <a:lstStyle/>
          <a:p>
            <a:r>
              <a:rPr lang="en-US" sz="1400" b="1" i="1" dirty="0">
                <a:solidFill>
                  <a:srgbClr val="48375F"/>
                </a:solidFill>
                <a:latin typeface="Calibri" panose="020F0502020204030204" pitchFamily="34" charset="0"/>
                <a:ea typeface="Calibri" pitchFamily="34" charset="-122"/>
                <a:cs typeface="Calibri" panose="020F0502020204030204" pitchFamily="34" charset="0"/>
              </a:rPr>
              <a:t>Final model feature set:   </a:t>
            </a:r>
            <a:r>
              <a:rPr lang="en-US" sz="1400" i="1" dirty="0">
                <a:solidFill>
                  <a:srgbClr val="48375F"/>
                </a:solidFill>
                <a:latin typeface="Calibri" panose="020F0502020204030204" pitchFamily="34" charset="0"/>
                <a:ea typeface="Calibri" pitchFamily="34" charset="-122"/>
                <a:cs typeface="Calibri" panose="020F0502020204030204" pitchFamily="34" charset="0"/>
              </a:rPr>
              <a:t>6 numeric  +  5 categorical (one-hot encoded)   →   42 columns entering the model</a:t>
            </a:r>
            <a:endParaRPr lang="en-US" sz="1400" i="1" dirty="0">
              <a:solidFill>
                <a:srgbClr val="48375F"/>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559FE14-0E88-0F29-3F6B-0F145C838A2B}"/>
              </a:ext>
            </a:extLst>
          </p:cNvPr>
          <p:cNvPicPr>
            <a:picLocks noChangeAspect="1"/>
          </p:cNvPicPr>
          <p:nvPr/>
        </p:nvPicPr>
        <p:blipFill>
          <a:blip r:embed="rId4"/>
          <a:stretch>
            <a:fillRect/>
          </a:stretch>
        </p:blipFill>
        <p:spPr>
          <a:xfrm>
            <a:off x="6397673" y="865564"/>
            <a:ext cx="5297859" cy="2329619"/>
          </a:xfrm>
          <a:prstGeom prst="rect">
            <a:avLst/>
          </a:prstGeom>
        </p:spPr>
      </p:pic>
      <p:pic>
        <p:nvPicPr>
          <p:cNvPr id="11" name="Picture 10">
            <a:extLst>
              <a:ext uri="{FF2B5EF4-FFF2-40B4-BE49-F238E27FC236}">
                <a16:creationId xmlns:a16="http://schemas.microsoft.com/office/drawing/2014/main" id="{A72C31EA-3940-2281-3C93-126F69E61DB4}"/>
              </a:ext>
            </a:extLst>
          </p:cNvPr>
          <p:cNvPicPr>
            <a:picLocks noChangeAspect="1"/>
          </p:cNvPicPr>
          <p:nvPr/>
        </p:nvPicPr>
        <p:blipFill>
          <a:blip r:embed="rId5"/>
          <a:stretch>
            <a:fillRect/>
          </a:stretch>
        </p:blipFill>
        <p:spPr>
          <a:xfrm>
            <a:off x="1828800" y="865564"/>
            <a:ext cx="3182717" cy="3106332"/>
          </a:xfrm>
          <a:prstGeom prst="rect">
            <a:avLst/>
          </a:prstGeom>
        </p:spPr>
      </p:pic>
      <p:pic>
        <p:nvPicPr>
          <p:cNvPr id="12" name="Picture 11">
            <a:extLst>
              <a:ext uri="{FF2B5EF4-FFF2-40B4-BE49-F238E27FC236}">
                <a16:creationId xmlns:a16="http://schemas.microsoft.com/office/drawing/2014/main" id="{A980C55F-402C-388A-79CC-97B06D7D8E1B}"/>
              </a:ext>
            </a:extLst>
          </p:cNvPr>
          <p:cNvPicPr>
            <a:picLocks noChangeAspect="1"/>
          </p:cNvPicPr>
          <p:nvPr/>
        </p:nvPicPr>
        <p:blipFill>
          <a:blip r:embed="rId6"/>
          <a:stretch>
            <a:fillRect/>
          </a:stretch>
        </p:blipFill>
        <p:spPr>
          <a:xfrm>
            <a:off x="6397674" y="3551529"/>
            <a:ext cx="5297859" cy="2599459"/>
          </a:xfrm>
          <a:prstGeom prst="rect">
            <a:avLst/>
          </a:prstGeom>
        </p:spPr>
      </p:pic>
      <p:pic>
        <p:nvPicPr>
          <p:cNvPr id="13" name="Picture 12">
            <a:extLst>
              <a:ext uri="{FF2B5EF4-FFF2-40B4-BE49-F238E27FC236}">
                <a16:creationId xmlns:a16="http://schemas.microsoft.com/office/drawing/2014/main" id="{192897BB-0F81-F2B6-FD95-0921E9AD635D}"/>
              </a:ext>
            </a:extLst>
          </p:cNvPr>
          <p:cNvPicPr>
            <a:picLocks noChangeAspect="1"/>
          </p:cNvPicPr>
          <p:nvPr/>
        </p:nvPicPr>
        <p:blipFill>
          <a:blip r:embed="rId7"/>
          <a:stretch>
            <a:fillRect/>
          </a:stretch>
        </p:blipFill>
        <p:spPr>
          <a:xfrm>
            <a:off x="152977" y="4155933"/>
            <a:ext cx="5915840" cy="1995055"/>
          </a:xfrm>
          <a:prstGeom prst="rect">
            <a:avLst/>
          </a:prstGeom>
        </p:spPr>
      </p:pic>
      <p:sp>
        <p:nvSpPr>
          <p:cNvPr id="15" name="TextBox 14">
            <a:extLst>
              <a:ext uri="{FF2B5EF4-FFF2-40B4-BE49-F238E27FC236}">
                <a16:creationId xmlns:a16="http://schemas.microsoft.com/office/drawing/2014/main" id="{14405170-F3F1-3B3B-81DD-12911E783ACB}"/>
              </a:ext>
            </a:extLst>
          </p:cNvPr>
          <p:cNvSpPr txBox="1"/>
          <p:nvPr/>
        </p:nvSpPr>
        <p:spPr>
          <a:xfrm>
            <a:off x="3453706" y="-86962"/>
            <a:ext cx="5316135" cy="830997"/>
          </a:xfrm>
          <a:prstGeom prst="rect">
            <a:avLst/>
          </a:prstGeom>
          <a:noFill/>
        </p:spPr>
        <p:txBody>
          <a:bodyPr wrap="none" rtlCol="0">
            <a:spAutoFit/>
          </a:bodyPr>
          <a:lstStyle/>
          <a:p>
            <a:r>
              <a:rPr lang="en-IN" sz="4800" b="1" dirty="0">
                <a:solidFill>
                  <a:srgbClr val="48375F"/>
                </a:solidFill>
                <a:latin typeface="Calibri" panose="020F0502020204030204" pitchFamily="34" charset="0"/>
                <a:cs typeface="Calibri" panose="020F0502020204030204" pitchFamily="34" charset="0"/>
              </a:rPr>
              <a:t>Feature Distribution</a:t>
            </a:r>
            <a:endParaRPr lang="en-US" sz="4800" b="1"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7991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969F3-99A4-F5DD-8580-E9C804AB8FF9}"/>
            </a:ext>
          </a:extLst>
        </p:cNvPr>
        <p:cNvGrpSpPr/>
        <p:nvPr/>
      </p:nvGrpSpPr>
      <p:grpSpPr>
        <a:xfrm>
          <a:off x="0" y="0"/>
          <a:ext cx="0" cy="0"/>
          <a:chOff x="0" y="0"/>
          <a:chExt cx="0" cy="0"/>
        </a:xfrm>
      </p:grpSpPr>
      <p:pic>
        <p:nvPicPr>
          <p:cNvPr id="5" name="Picture 2" descr="logo">
            <a:extLst>
              <a:ext uri="{FF2B5EF4-FFF2-40B4-BE49-F238E27FC236}">
                <a16:creationId xmlns:a16="http://schemas.microsoft.com/office/drawing/2014/main" id="{2DAB62A6-3488-ABB1-D3A5-C2096AB5C8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72C7200-D017-D858-E4C2-E6AB2D413F62}"/>
              </a:ext>
            </a:extLst>
          </p:cNvPr>
          <p:cNvSpPr txBox="1"/>
          <p:nvPr/>
        </p:nvSpPr>
        <p:spPr>
          <a:xfrm>
            <a:off x="295249" y="5761166"/>
            <a:ext cx="11601502" cy="646331"/>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Memory, RAM and Front Camera MP show the strongest positive relationships with price, while the flagged cluster distorts Battery and Screen Size correlations.</a:t>
            </a:r>
            <a:endParaRPr lang="en-US" dirty="0">
              <a:solidFill>
                <a:srgbClr val="48375F"/>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51DABD4B-97C7-F67D-4DD6-509BFF4E83E9}"/>
              </a:ext>
            </a:extLst>
          </p:cNvPr>
          <p:cNvSpPr txBox="1"/>
          <p:nvPr/>
        </p:nvSpPr>
        <p:spPr>
          <a:xfrm>
            <a:off x="0" y="-86962"/>
            <a:ext cx="12192000" cy="830997"/>
          </a:xfrm>
          <a:prstGeom prst="rect">
            <a:avLst/>
          </a:prstGeom>
          <a:noFill/>
        </p:spPr>
        <p:txBody>
          <a:bodyPr wrap="square" rtlCol="0">
            <a:spAutoFit/>
          </a:bodyPr>
          <a:lstStyle/>
          <a:p>
            <a:pPr algn="ctr"/>
            <a:r>
              <a:rPr lang="en-IN" sz="4800" b="1" dirty="0">
                <a:solidFill>
                  <a:srgbClr val="48375F"/>
                </a:solidFill>
                <a:latin typeface="Calibri" panose="020F0502020204030204" pitchFamily="34" charset="0"/>
                <a:cs typeface="Calibri" panose="020F0502020204030204" pitchFamily="34" charset="0"/>
              </a:rPr>
              <a:t>Numerical Correlation Analysis</a:t>
            </a:r>
            <a:endParaRPr lang="en-US" sz="4800" b="1" dirty="0">
              <a:solidFill>
                <a:srgbClr val="48375F"/>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42B4D81-B98F-CF42-7117-7D4093916005}"/>
              </a:ext>
            </a:extLst>
          </p:cNvPr>
          <p:cNvPicPr>
            <a:picLocks noChangeAspect="1"/>
          </p:cNvPicPr>
          <p:nvPr/>
        </p:nvPicPr>
        <p:blipFill>
          <a:blip r:embed="rId4"/>
          <a:stretch>
            <a:fillRect/>
          </a:stretch>
        </p:blipFill>
        <p:spPr>
          <a:xfrm>
            <a:off x="819202" y="1049482"/>
            <a:ext cx="10553596" cy="4479844"/>
          </a:xfrm>
          <a:prstGeom prst="rect">
            <a:avLst/>
          </a:prstGeom>
        </p:spPr>
      </p:pic>
    </p:spTree>
    <p:extLst>
      <p:ext uri="{BB962C8B-B14F-4D97-AF65-F5344CB8AC3E}">
        <p14:creationId xmlns:p14="http://schemas.microsoft.com/office/powerpoint/2010/main" val="730741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52883-4635-B268-AE94-5501B4E7C92F}"/>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482A923A-232C-8AE7-A829-91794B5D9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2D9C4EFD-1EAE-0821-E797-29B53F5D05E3}"/>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Memory and RAM Lead on </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Linear Correlation — But Not Unconditionally</a:t>
            </a:r>
            <a:endParaRPr lang="en-US" sz="4800" dirty="0">
              <a:solidFill>
                <a:srgbClr val="48375F"/>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2FD9E3D-504D-D207-0B99-831E94BAD19A}"/>
              </a:ext>
            </a:extLst>
          </p:cNvPr>
          <p:cNvSpPr txBox="1"/>
          <p:nvPr/>
        </p:nvSpPr>
        <p:spPr>
          <a:xfrm>
            <a:off x="1" y="1382543"/>
            <a:ext cx="12192000" cy="923330"/>
          </a:xfrm>
          <a:prstGeom prst="rect">
            <a:avLst/>
          </a:prstGeom>
          <a:noFill/>
        </p:spPr>
        <p:txBody>
          <a:bodyPr wrap="square" rtlCol="0">
            <a:spAutoFit/>
          </a:bodyPr>
          <a:lstStyle/>
          <a:p>
            <a:r>
              <a:rPr lang="en-US" dirty="0">
                <a:solidFill>
                  <a:srgbClr val="48375F"/>
                </a:solidFill>
                <a:latin typeface="Calibri" panose="020F0502020204030204" pitchFamily="34" charset="0"/>
                <a:ea typeface="Calibri" pitchFamily="34" charset="-122"/>
                <a:cs typeface="Calibri" panose="020F0502020204030204" pitchFamily="34" charset="0"/>
              </a:rPr>
              <a:t>Simple correlations understate front-camera megapixels, whose relationship with price is materially non-linear, and overstate brand, which largely duplicates the chipset signal. RAM and Memory are themselves correlated (r = +0.644), so RAM adds little once Memory is in the model.</a:t>
            </a:r>
          </a:p>
        </p:txBody>
      </p:sp>
      <p:sp>
        <p:nvSpPr>
          <p:cNvPr id="5" name="TextBox 4">
            <a:extLst>
              <a:ext uri="{FF2B5EF4-FFF2-40B4-BE49-F238E27FC236}">
                <a16:creationId xmlns:a16="http://schemas.microsoft.com/office/drawing/2014/main" id="{3CFABD12-860C-937A-1408-DC6CDDA0CCF1}"/>
              </a:ext>
            </a:extLst>
          </p:cNvPr>
          <p:cNvSpPr txBox="1"/>
          <p:nvPr/>
        </p:nvSpPr>
        <p:spPr>
          <a:xfrm>
            <a:off x="7065028" y="2305873"/>
            <a:ext cx="4366901"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WHAT THE DEEPER ANALYSIS FOUND</a:t>
            </a:r>
            <a:endParaRPr lang="en-US" dirty="0">
              <a:solidFill>
                <a:srgbClr val="48375F"/>
              </a:solidFill>
            </a:endParaRPr>
          </a:p>
        </p:txBody>
      </p:sp>
      <p:sp>
        <p:nvSpPr>
          <p:cNvPr id="7" name="TextBox 6">
            <a:extLst>
              <a:ext uri="{FF2B5EF4-FFF2-40B4-BE49-F238E27FC236}">
                <a16:creationId xmlns:a16="http://schemas.microsoft.com/office/drawing/2014/main" id="{166336E5-17E0-0FBB-7995-5034B6365E1A}"/>
              </a:ext>
            </a:extLst>
          </p:cNvPr>
          <p:cNvSpPr txBox="1"/>
          <p:nvPr/>
        </p:nvSpPr>
        <p:spPr>
          <a:xfrm>
            <a:off x="6686939" y="2783745"/>
            <a:ext cx="5505061" cy="3416320"/>
          </a:xfrm>
          <a:prstGeom prst="rect">
            <a:avLst/>
          </a:prstGeom>
          <a:noFill/>
        </p:spPr>
        <p:txBody>
          <a:bodyPr wrap="square" rtlCol="0">
            <a:spAutoFit/>
          </a:bodyPr>
          <a:lstStyle/>
          <a:p>
            <a:pPr marL="285750" indent="-285750">
              <a:buFont typeface="Wingdings" pitchFamily="2" charset="2"/>
              <a:buChar char="Ø"/>
            </a:pPr>
            <a:r>
              <a:rPr lang="en-US" dirty="0">
                <a:solidFill>
                  <a:srgbClr val="48375F"/>
                </a:solidFill>
                <a:latin typeface="Calibri" panose="020F0502020204030204" pitchFamily="34" charset="0"/>
                <a:ea typeface="Calibri" pitchFamily="34" charset="-122"/>
                <a:cs typeface="Calibri" panose="020F0502020204030204" pitchFamily="34" charset="0"/>
              </a:rPr>
              <a:t>Memory and RAM are the strongest linear predictors, but interact sub-additively — the interaction is statistically confirmed (p = 0.017).</a:t>
            </a:r>
            <a:endParaRPr lang="en-US"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Ø"/>
            </a:pPr>
            <a:r>
              <a:rPr lang="en-US" dirty="0">
                <a:solidFill>
                  <a:srgbClr val="48375F"/>
                </a:solidFill>
                <a:latin typeface="Calibri" panose="020F0502020204030204" pitchFamily="34" charset="0"/>
                <a:ea typeface="Calibri" pitchFamily="34" charset="-122"/>
                <a:cs typeface="Calibri" panose="020F0502020204030204" pitchFamily="34" charset="0"/>
              </a:rPr>
              <a:t>Front-camera megapixels are materially non-linear; their rank rises sharply once multivariate structure is accounted for.</a:t>
            </a:r>
            <a:endParaRPr lang="en-US"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Ø"/>
            </a:pPr>
            <a:r>
              <a:rPr lang="en-US" dirty="0">
                <a:solidFill>
                  <a:srgbClr val="48375F"/>
                </a:solidFill>
                <a:latin typeface="Calibri" panose="020F0502020204030204" pitchFamily="34" charset="0"/>
                <a:ea typeface="Calibri" pitchFamily="34" charset="-122"/>
                <a:cs typeface="Calibri" panose="020F0502020204030204" pitchFamily="34" charset="0"/>
              </a:rPr>
              <a:t>Brand appears dominant in isolation (ε² = 0.366) but is effectively tied with chipset (ε² = 0.368) — one signal, not two levers.</a:t>
            </a:r>
            <a:endParaRPr lang="en-US"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Ø"/>
            </a:pPr>
            <a:r>
              <a:rPr lang="en-US" dirty="0">
                <a:solidFill>
                  <a:srgbClr val="48375F"/>
                </a:solidFill>
                <a:latin typeface="Calibri" panose="020F0502020204030204" pitchFamily="34" charset="0"/>
                <a:ea typeface="Calibri" pitchFamily="34" charset="-122"/>
                <a:cs typeface="Calibri" panose="020F0502020204030204" pitchFamily="34" charset="0"/>
              </a:rPr>
              <a:t>Battery level and screen size showed masked relationships that only resolved once the 15-listing flagged cluster was handled.</a:t>
            </a:r>
            <a:endParaRPr lang="en-US" dirty="0">
              <a:solidFill>
                <a:srgbClr val="48375F"/>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66C4A30-66CF-9451-FB8C-B425FB84ABEB}"/>
              </a:ext>
            </a:extLst>
          </p:cNvPr>
          <p:cNvSpPr txBox="1"/>
          <p:nvPr/>
        </p:nvSpPr>
        <p:spPr>
          <a:xfrm>
            <a:off x="0" y="6308810"/>
            <a:ext cx="12223276" cy="738664"/>
          </a:xfrm>
          <a:prstGeom prst="rect">
            <a:avLst/>
          </a:prstGeom>
          <a:noFill/>
        </p:spPr>
        <p:txBody>
          <a:bodyPr wrap="square" rtlCol="0">
            <a:spAutoFit/>
          </a:bodyPr>
          <a:lstStyle/>
          <a:p>
            <a:r>
              <a:rPr lang="en-US" sz="1400" dirty="0">
                <a:solidFill>
                  <a:srgbClr val="48375F"/>
                </a:solidFill>
                <a:latin typeface="Calibri" panose="020F0502020204030204" pitchFamily="34" charset="0"/>
                <a:ea typeface="Calibri" pitchFamily="34" charset="-122"/>
                <a:cs typeface="Calibri" panose="020F0502020204030204" pitchFamily="34" charset="0"/>
              </a:rPr>
              <a:t>Pearson correlations on the full 531-listing dataset. Effect sizes are ε² from Kruskal-Wallis, not η² from ANOVA: both Brand and </a:t>
            </a:r>
            <a:r>
              <a:rPr lang="en-US" sz="1400" dirty="0" err="1">
                <a:solidFill>
                  <a:srgbClr val="48375F"/>
                </a:solidFill>
                <a:latin typeface="Calibri" panose="020F0502020204030204" pitchFamily="34" charset="0"/>
                <a:ea typeface="Calibri" pitchFamily="34" charset="-122"/>
                <a:cs typeface="Calibri" panose="020F0502020204030204" pitchFamily="34" charset="0"/>
              </a:rPr>
              <a:t>Processor_Brand</a:t>
            </a:r>
            <a:r>
              <a:rPr lang="en-US" sz="1400" dirty="0">
                <a:solidFill>
                  <a:srgbClr val="48375F"/>
                </a:solidFill>
                <a:latin typeface="Calibri" panose="020F0502020204030204" pitchFamily="34" charset="0"/>
                <a:ea typeface="Calibri" pitchFamily="34" charset="-122"/>
                <a:cs typeface="Calibri" panose="020F0502020204030204" pitchFamily="34" charset="0"/>
              </a:rPr>
              <a:t> fail Levene's test for equality of variance, so the ANOVA-based statistic is not valid here. Correlations are associations, not causal effects.</a:t>
            </a:r>
          </a:p>
          <a:p>
            <a:endParaRPr lang="en-US" sz="1400" dirty="0">
              <a:solidFill>
                <a:srgbClr val="48375F"/>
              </a:solidFill>
              <a:latin typeface="Calibri" panose="020F0502020204030204" pitchFamily="34" charset="0"/>
              <a:cs typeface="Calibri" panose="020F0502020204030204" pitchFamily="34" charset="0"/>
            </a:endParaRPr>
          </a:p>
        </p:txBody>
      </p:sp>
      <p:sp>
        <p:nvSpPr>
          <p:cNvPr id="9" name="Shape 9">
            <a:extLst>
              <a:ext uri="{FF2B5EF4-FFF2-40B4-BE49-F238E27FC236}">
                <a16:creationId xmlns:a16="http://schemas.microsoft.com/office/drawing/2014/main" id="{8F4634E2-E7F9-BA4D-0392-FE5BB096EB90}"/>
              </a:ext>
            </a:extLst>
          </p:cNvPr>
          <p:cNvSpPr/>
          <p:nvPr/>
        </p:nvSpPr>
        <p:spPr>
          <a:xfrm>
            <a:off x="6990384" y="2664027"/>
            <a:ext cx="4983480" cy="10973"/>
          </a:xfrm>
          <a:prstGeom prst="rect">
            <a:avLst/>
          </a:prstGeom>
          <a:solidFill>
            <a:srgbClr val="0F2748"/>
          </a:solidFill>
          <a:ln w="12700">
            <a:solidFill>
              <a:srgbClr val="333333"/>
            </a:solidFill>
            <a:prstDash val="solid"/>
          </a:ln>
        </p:spPr>
      </p:sp>
      <p:pic>
        <p:nvPicPr>
          <p:cNvPr id="10" name="Picture 9">
            <a:extLst>
              <a:ext uri="{FF2B5EF4-FFF2-40B4-BE49-F238E27FC236}">
                <a16:creationId xmlns:a16="http://schemas.microsoft.com/office/drawing/2014/main" id="{B5099960-87AA-4A49-00D9-4E9C7C2C1BA9}"/>
              </a:ext>
            </a:extLst>
          </p:cNvPr>
          <p:cNvPicPr>
            <a:picLocks noChangeAspect="1"/>
          </p:cNvPicPr>
          <p:nvPr/>
        </p:nvPicPr>
        <p:blipFill>
          <a:blip r:embed="rId4"/>
          <a:stretch>
            <a:fillRect/>
          </a:stretch>
        </p:blipFill>
        <p:spPr>
          <a:xfrm>
            <a:off x="175202" y="2675000"/>
            <a:ext cx="6273247" cy="3078045"/>
          </a:xfrm>
          <a:prstGeom prst="rect">
            <a:avLst/>
          </a:prstGeom>
        </p:spPr>
      </p:pic>
    </p:spTree>
    <p:extLst>
      <p:ext uri="{BB962C8B-B14F-4D97-AF65-F5344CB8AC3E}">
        <p14:creationId xmlns:p14="http://schemas.microsoft.com/office/powerpoint/2010/main" val="2014571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71FF-F280-7E71-85CB-CFFB01263BFC}"/>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5E4612A0-9123-8DC6-4476-854CFF224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BC077ECC-5D8B-B494-B0D4-329A17F4A4B7}"/>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Nine Algorithms Benchmarked </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Under Group-Aware Cross-Validation</a:t>
            </a:r>
            <a:endParaRPr lang="en-US" sz="4800" dirty="0">
              <a:solidFill>
                <a:srgbClr val="48375F"/>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C858FB7-1CA2-8A53-485E-AB102016133D}"/>
              </a:ext>
            </a:extLst>
          </p:cNvPr>
          <p:cNvSpPr txBox="1"/>
          <p:nvPr/>
        </p:nvSpPr>
        <p:spPr>
          <a:xfrm>
            <a:off x="0" y="1390316"/>
            <a:ext cx="12192000" cy="615553"/>
          </a:xfrm>
          <a:prstGeom prst="rect">
            <a:avLst/>
          </a:prstGeom>
          <a:noFill/>
        </p:spPr>
        <p:txBody>
          <a:bodyPr wrap="square" rtlCol="0">
            <a:spAutoFit/>
          </a:bodyPr>
          <a:lstStyle/>
          <a:p>
            <a:r>
              <a:rPr lang="en-US" sz="1700" dirty="0">
                <a:solidFill>
                  <a:srgbClr val="48375F"/>
                </a:solidFill>
                <a:latin typeface="Calibri" pitchFamily="34" charset="0"/>
                <a:ea typeface="Calibri" pitchFamily="34" charset="-122"/>
                <a:cs typeface="Calibri" pitchFamily="34" charset="-120"/>
              </a:rPr>
              <a:t>Model selection ran entirely on </a:t>
            </a:r>
            <a:r>
              <a:rPr lang="en-US" sz="1700" dirty="0" err="1">
                <a:solidFill>
                  <a:srgbClr val="48375F"/>
                </a:solidFill>
                <a:latin typeface="Calibri" pitchFamily="34" charset="0"/>
                <a:ea typeface="Calibri" pitchFamily="34" charset="-122"/>
                <a:cs typeface="Calibri" pitchFamily="34" charset="-120"/>
              </a:rPr>
              <a:t>GroupKFold</a:t>
            </a:r>
            <a:r>
              <a:rPr lang="en-US" sz="1700" dirty="0">
                <a:solidFill>
                  <a:srgbClr val="48375F"/>
                </a:solidFill>
                <a:latin typeface="Calibri" pitchFamily="34" charset="0"/>
                <a:ea typeface="Calibri" pitchFamily="34" charset="-122"/>
                <a:cs typeface="Calibri" pitchFamily="34" charset="-120"/>
              </a:rPr>
              <a:t> cross-validation, which ensures the same handset model never appears in both training and validation folds. The test set was touched once, for the top three CV finalists, to confirm the choice rather than to make it.</a:t>
            </a:r>
            <a:endParaRPr lang="en-US" sz="1700" dirty="0">
              <a:solidFill>
                <a:srgbClr val="48375F"/>
              </a:solidFill>
            </a:endParaRPr>
          </a:p>
        </p:txBody>
      </p:sp>
      <p:sp>
        <p:nvSpPr>
          <p:cNvPr id="11" name="Shape 2">
            <a:extLst>
              <a:ext uri="{FF2B5EF4-FFF2-40B4-BE49-F238E27FC236}">
                <a16:creationId xmlns:a16="http://schemas.microsoft.com/office/drawing/2014/main" id="{6BD4DA7D-F684-6590-CB5F-97428A46D40B}"/>
              </a:ext>
            </a:extLst>
          </p:cNvPr>
          <p:cNvSpPr/>
          <p:nvPr/>
        </p:nvSpPr>
        <p:spPr>
          <a:xfrm>
            <a:off x="6096001" y="2117836"/>
            <a:ext cx="5869258" cy="4226980"/>
          </a:xfrm>
          <a:prstGeom prst="roundRect">
            <a:avLst>
              <a:gd name="adj" fmla="val 6957"/>
            </a:avLst>
          </a:prstGeom>
          <a:solidFill>
            <a:srgbClr val="48375F"/>
          </a:solidFill>
          <a:ln/>
        </p:spPr>
        <p:txBody>
          <a:bodyPr/>
          <a:lstStyle/>
          <a:p>
            <a:r>
              <a:rPr lang="en-US" sz="2000" b="1" dirty="0">
                <a:solidFill>
                  <a:srgbClr val="F5C28A"/>
                </a:solidFill>
                <a:latin typeface="Calibri" panose="020F0502020204030204" pitchFamily="34" charset="0"/>
                <a:cs typeface="Calibri" panose="020F0502020204030204" pitchFamily="34" charset="0"/>
              </a:rPr>
              <a:t>Why </a:t>
            </a:r>
            <a:r>
              <a:rPr lang="en-US" sz="2000" b="1" dirty="0" err="1">
                <a:solidFill>
                  <a:srgbClr val="F5C28A"/>
                </a:solidFill>
                <a:latin typeface="Calibri" panose="020F0502020204030204" pitchFamily="34" charset="0"/>
                <a:cs typeface="Calibri" panose="020F0502020204030204" pitchFamily="34" charset="0"/>
              </a:rPr>
              <a:t>XGBoost</a:t>
            </a:r>
            <a:r>
              <a:rPr lang="en-US" sz="2000" b="1" dirty="0">
                <a:solidFill>
                  <a:srgbClr val="F5C28A"/>
                </a:solidFill>
                <a:latin typeface="Calibri" panose="020F0502020204030204" pitchFamily="34" charset="0"/>
                <a:cs typeface="Calibri" panose="020F0502020204030204" pitchFamily="34" charset="0"/>
              </a:rPr>
              <a:t> led cross-validation</a:t>
            </a:r>
            <a:r>
              <a:rPr lang="en-IN" sz="2000" dirty="0">
                <a:solidFill>
                  <a:srgbClr val="F5C28A"/>
                </a:solidFill>
                <a:latin typeface="Calibri" panose="020F0502020204030204" pitchFamily="34" charset="0"/>
                <a:cs typeface="Calibri" panose="020F0502020204030204" pitchFamily="34" charset="0"/>
              </a:rPr>
              <a:t> </a:t>
            </a:r>
            <a:r>
              <a:rPr lang="en-US" sz="2000" b="1" dirty="0">
                <a:solidFill>
                  <a:srgbClr val="F5C28A"/>
                </a:solidFill>
                <a:latin typeface="Calibri" panose="020F0502020204030204" pitchFamily="34" charset="0"/>
                <a:cs typeface="Calibri" panose="020F0502020204030204" pitchFamily="34" charset="0"/>
              </a:rPr>
              <a:t>but Random Forest was retained</a:t>
            </a:r>
          </a:p>
          <a:p>
            <a:endParaRPr lang="en-IN" dirty="0">
              <a:solidFill>
                <a:srgbClr val="F5C28A"/>
              </a:solidFill>
              <a:latin typeface="Calibri" panose="020F0502020204030204" pitchFamily="34" charset="0"/>
              <a:cs typeface="Calibri" panose="020F0502020204030204" pitchFamily="34" charset="0"/>
            </a:endParaRPr>
          </a:p>
          <a:p>
            <a:r>
              <a:rPr lang="en-US" dirty="0" err="1">
                <a:solidFill>
                  <a:schemeClr val="bg1"/>
                </a:solidFill>
                <a:latin typeface="Calibri" panose="020F0502020204030204" pitchFamily="34" charset="0"/>
                <a:cs typeface="Calibri" panose="020F0502020204030204" pitchFamily="34" charset="0"/>
              </a:rPr>
              <a:t>XGBoost</a:t>
            </a:r>
            <a:r>
              <a:rPr lang="en-US" dirty="0">
                <a:solidFill>
                  <a:schemeClr val="bg1"/>
                </a:solidFill>
                <a:latin typeface="Calibri" panose="020F0502020204030204" pitchFamily="34" charset="0"/>
                <a:cs typeface="Calibri" panose="020F0502020204030204" pitchFamily="34" charset="0"/>
              </a:rPr>
              <a:t> led the tuned CV ranking (R² = 0.612 vs. 0.590), but that lead did not hold on the held-out split, where it was the weakest of the three finalists.</a:t>
            </a:r>
          </a:p>
          <a:p>
            <a:endParaRPr lang="en-IN" dirty="0">
              <a:solidFill>
                <a:schemeClr val="bg1"/>
              </a:solidFill>
              <a:latin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cs typeface="Calibri" panose="020F0502020204030204" pitchFamily="34" charset="0"/>
              </a:rPr>
              <a:t>The tuned Random Forest achieved the highest held-out test R² (0.751) and was retained.</a:t>
            </a:r>
          </a:p>
          <a:p>
            <a:endParaRPr lang="en-IN" dirty="0">
              <a:solidFill>
                <a:schemeClr val="bg1"/>
              </a:solidFill>
              <a:latin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cs typeface="Calibri" panose="020F0502020204030204" pitchFamily="34" charset="0"/>
              </a:rPr>
              <a:t>The Decision Tree is the cautionary case: it ranked first on a single random split (R² = 0.745) but eighth of nine under grouped CV (0.365) — the clearest evidence that a single split cannot carry the ranking.</a:t>
            </a:r>
            <a:endParaRPr lang="en-IN" dirty="0">
              <a:solidFill>
                <a:schemeClr val="bg1"/>
              </a:solidFill>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15A224D-4631-02AD-6C05-4ABEA9F20666}"/>
              </a:ext>
            </a:extLst>
          </p:cNvPr>
          <p:cNvSpPr txBox="1"/>
          <p:nvPr/>
        </p:nvSpPr>
        <p:spPr>
          <a:xfrm>
            <a:off x="81776" y="6380674"/>
            <a:ext cx="12110224" cy="523220"/>
          </a:xfrm>
          <a:prstGeom prst="rect">
            <a:avLst/>
          </a:prstGeom>
          <a:noFill/>
        </p:spPr>
        <p:txBody>
          <a:bodyPr wrap="square" rtlCol="0">
            <a:spAutoFit/>
          </a:bodyPr>
          <a:lstStyle/>
          <a:p>
            <a:r>
              <a:rPr lang="en-US" sz="1400" i="1" dirty="0">
                <a:solidFill>
                  <a:srgbClr val="48375F"/>
                </a:solidFill>
                <a:latin typeface="Calibri" pitchFamily="34" charset="0"/>
                <a:ea typeface="Calibri" pitchFamily="34" charset="-122"/>
                <a:cs typeface="Calibri" pitchFamily="34" charset="-120"/>
              </a:rPr>
              <a:t>Untuned five-fold </a:t>
            </a:r>
            <a:r>
              <a:rPr lang="en-US" sz="1400" i="1" dirty="0" err="1">
                <a:solidFill>
                  <a:srgbClr val="48375F"/>
                </a:solidFill>
                <a:latin typeface="Calibri" pitchFamily="34" charset="0"/>
                <a:ea typeface="Calibri" pitchFamily="34" charset="-122"/>
                <a:cs typeface="Calibri" pitchFamily="34" charset="-120"/>
              </a:rPr>
              <a:t>GroupKFold</a:t>
            </a:r>
            <a:r>
              <a:rPr lang="en-US" sz="1400" i="1" dirty="0">
                <a:solidFill>
                  <a:srgbClr val="48375F"/>
                </a:solidFill>
                <a:latin typeface="Calibri" pitchFamily="34" charset="0"/>
                <a:ea typeface="Calibri" pitchFamily="34" charset="-122"/>
                <a:cs typeface="Calibri" pitchFamily="34" charset="-120"/>
              </a:rPr>
              <a:t>  cross-validation, grouped on handset model; Ridge and Lasso shown at CV-selected α. Naive benchmark is the training-mean predictor. SVR reached CV R² = 0.534 after tuning but ranked fourth and so never touched the test set.</a:t>
            </a:r>
            <a:endParaRPr lang="en-US" sz="1400" i="1" dirty="0">
              <a:solidFill>
                <a:srgbClr val="48375F"/>
              </a:solidFill>
            </a:endParaRPr>
          </a:p>
        </p:txBody>
      </p:sp>
      <p:pic>
        <p:nvPicPr>
          <p:cNvPr id="13" name="Picture 12">
            <a:extLst>
              <a:ext uri="{FF2B5EF4-FFF2-40B4-BE49-F238E27FC236}">
                <a16:creationId xmlns:a16="http://schemas.microsoft.com/office/drawing/2014/main" id="{22700D31-2768-BD3A-F51F-B0C0B63E13E8}"/>
              </a:ext>
            </a:extLst>
          </p:cNvPr>
          <p:cNvPicPr>
            <a:picLocks noChangeAspect="1"/>
          </p:cNvPicPr>
          <p:nvPr/>
        </p:nvPicPr>
        <p:blipFill>
          <a:blip r:embed="rId4"/>
          <a:stretch>
            <a:fillRect/>
          </a:stretch>
        </p:blipFill>
        <p:spPr>
          <a:xfrm>
            <a:off x="81776" y="2815990"/>
            <a:ext cx="5769084" cy="2830671"/>
          </a:xfrm>
          <a:prstGeom prst="rect">
            <a:avLst/>
          </a:prstGeom>
        </p:spPr>
      </p:pic>
    </p:spTree>
    <p:extLst>
      <p:ext uri="{BB962C8B-B14F-4D97-AF65-F5344CB8AC3E}">
        <p14:creationId xmlns:p14="http://schemas.microsoft.com/office/powerpoint/2010/main" val="1286432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44BFF-3ED0-52C9-0550-87DCB50AB851}"/>
            </a:ext>
          </a:extLst>
        </p:cNvPr>
        <p:cNvGrpSpPr/>
        <p:nvPr/>
      </p:nvGrpSpPr>
      <p:grpSpPr>
        <a:xfrm>
          <a:off x="0" y="0"/>
          <a:ext cx="0" cy="0"/>
          <a:chOff x="0" y="0"/>
          <a:chExt cx="0" cy="0"/>
        </a:xfrm>
      </p:grpSpPr>
      <p:pic>
        <p:nvPicPr>
          <p:cNvPr id="5" name="Picture 2" descr="logo">
            <a:extLst>
              <a:ext uri="{FF2B5EF4-FFF2-40B4-BE49-F238E27FC236}">
                <a16:creationId xmlns:a16="http://schemas.microsoft.com/office/drawing/2014/main" id="{AD4B81C3-A232-2511-9C0E-E99924FD9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D04A620-A73E-6F81-EAC1-FAD86AED4B18}"/>
              </a:ext>
            </a:extLst>
          </p:cNvPr>
          <p:cNvSpPr txBox="1"/>
          <p:nvPr/>
        </p:nvSpPr>
        <p:spPr>
          <a:xfrm>
            <a:off x="0" y="6381831"/>
            <a:ext cx="12192000" cy="523220"/>
          </a:xfrm>
          <a:prstGeom prst="rect">
            <a:avLst/>
          </a:prstGeom>
          <a:noFill/>
        </p:spPr>
        <p:txBody>
          <a:bodyPr wrap="square" rtlCol="0">
            <a:spAutoFit/>
          </a:bodyPr>
          <a:lstStyle/>
          <a:p>
            <a:r>
              <a:rPr lang="en-US" sz="1400" i="1" dirty="0">
                <a:solidFill>
                  <a:srgbClr val="48375F"/>
                </a:solidFill>
                <a:latin typeface="Calibri" pitchFamily="34" charset="0"/>
                <a:ea typeface="Calibri" pitchFamily="34" charset="-122"/>
                <a:cs typeface="Calibri" pitchFamily="34" charset="-120"/>
              </a:rPr>
              <a:t>CV R² is the model's best five-fold </a:t>
            </a:r>
            <a:r>
              <a:rPr lang="en-US" sz="1400" i="1" dirty="0" err="1">
                <a:solidFill>
                  <a:srgbClr val="48375F"/>
                </a:solidFill>
                <a:latin typeface="Calibri" pitchFamily="34" charset="0"/>
                <a:ea typeface="Calibri" pitchFamily="34" charset="-122"/>
                <a:cs typeface="Calibri" pitchFamily="34" charset="-120"/>
              </a:rPr>
              <a:t>GroupKFold</a:t>
            </a:r>
            <a:r>
              <a:rPr lang="en-US" sz="1400" i="1" dirty="0">
                <a:solidFill>
                  <a:srgbClr val="48375F"/>
                </a:solidFill>
                <a:latin typeface="Calibri" pitchFamily="34" charset="0"/>
                <a:ea typeface="Calibri" pitchFamily="34" charset="-122"/>
                <a:cs typeface="Calibri" pitchFamily="34" charset="-120"/>
              </a:rPr>
              <a:t> score (untuned for Linear and Lasso, tuned for the ensembles); test figures come from the single 428 / 103 held-out split at seed 42. The two are computed on different samples and are not directly comparable. Figures in parentheses denote negative values.</a:t>
            </a:r>
            <a:endParaRPr lang="en-US" sz="1400" i="1" dirty="0">
              <a:solidFill>
                <a:srgbClr val="48375F"/>
              </a:solidFill>
            </a:endParaRPr>
          </a:p>
        </p:txBody>
      </p:sp>
      <p:sp>
        <p:nvSpPr>
          <p:cNvPr id="11" name="TextBox 10">
            <a:extLst>
              <a:ext uri="{FF2B5EF4-FFF2-40B4-BE49-F238E27FC236}">
                <a16:creationId xmlns:a16="http://schemas.microsoft.com/office/drawing/2014/main" id="{9553752F-53BE-09FE-2C80-7B2531123049}"/>
              </a:ext>
            </a:extLst>
          </p:cNvPr>
          <p:cNvSpPr txBox="1"/>
          <p:nvPr/>
        </p:nvSpPr>
        <p:spPr>
          <a:xfrm>
            <a:off x="0" y="1077418"/>
            <a:ext cx="12192000" cy="584775"/>
          </a:xfrm>
          <a:prstGeom prst="rect">
            <a:avLst/>
          </a:prstGeom>
          <a:noFill/>
        </p:spPr>
        <p:txBody>
          <a:bodyPr wrap="square" rtlCol="0">
            <a:spAutoFit/>
          </a:bodyPr>
          <a:lstStyle/>
          <a:p>
            <a:r>
              <a:rPr lang="en-US" sz="1600" dirty="0">
                <a:solidFill>
                  <a:srgbClr val="48375F"/>
                </a:solidFill>
                <a:latin typeface="Calibri" pitchFamily="34" charset="0"/>
                <a:ea typeface="Calibri" pitchFamily="34" charset="-122"/>
                <a:cs typeface="Calibri" pitchFamily="34" charset="-120"/>
              </a:rPr>
              <a:t>At n = 531 a single train/test split is a fragile basis for a headline figure. Two independent stability checks place the defensible expectation at R² ≈ 0.58–0.69, with the reported 0.751 sitting near the </a:t>
            </a:r>
            <a:r>
              <a:rPr lang="en-US" sz="1600" dirty="0" err="1">
                <a:solidFill>
                  <a:srgbClr val="48375F"/>
                </a:solidFill>
                <a:latin typeface="Calibri" pitchFamily="34" charset="0"/>
                <a:ea typeface="Calibri" pitchFamily="34" charset="-122"/>
                <a:cs typeface="Calibri" pitchFamily="34" charset="-120"/>
              </a:rPr>
              <a:t>favourable</a:t>
            </a:r>
            <a:r>
              <a:rPr lang="en-US" sz="1600" dirty="0">
                <a:solidFill>
                  <a:srgbClr val="48375F"/>
                </a:solidFill>
                <a:latin typeface="Calibri" pitchFamily="34" charset="0"/>
                <a:ea typeface="Calibri" pitchFamily="34" charset="-122"/>
                <a:cs typeface="Calibri" pitchFamily="34" charset="-120"/>
              </a:rPr>
              <a:t> end.</a:t>
            </a:r>
            <a:endParaRPr lang="en-US" sz="1600" dirty="0">
              <a:solidFill>
                <a:srgbClr val="48375F"/>
              </a:solidFill>
            </a:endParaRPr>
          </a:p>
        </p:txBody>
      </p:sp>
      <p:sp>
        <p:nvSpPr>
          <p:cNvPr id="17" name="Shape 2">
            <a:extLst>
              <a:ext uri="{FF2B5EF4-FFF2-40B4-BE49-F238E27FC236}">
                <a16:creationId xmlns:a16="http://schemas.microsoft.com/office/drawing/2014/main" id="{47AA9051-3C00-94DE-183F-4BAC1F9AB745}"/>
              </a:ext>
            </a:extLst>
          </p:cNvPr>
          <p:cNvSpPr/>
          <p:nvPr/>
        </p:nvSpPr>
        <p:spPr>
          <a:xfrm>
            <a:off x="7590193" y="2964166"/>
            <a:ext cx="4425270" cy="3397344"/>
          </a:xfrm>
          <a:prstGeom prst="roundRect">
            <a:avLst>
              <a:gd name="adj" fmla="val 6957"/>
            </a:avLst>
          </a:prstGeom>
          <a:solidFill>
            <a:srgbClr val="DADBDA"/>
          </a:solidFill>
          <a:ln/>
        </p:spPr>
        <p:txBody>
          <a:bodyPr/>
          <a:lstStyle/>
          <a:p>
            <a:r>
              <a:rPr lang="en-US" b="1" dirty="0">
                <a:solidFill>
                  <a:srgbClr val="48375F"/>
                </a:solidFill>
                <a:latin typeface="Calibri" panose="020F0502020204030204" pitchFamily="34" charset="0"/>
                <a:cs typeface="Calibri" panose="020F0502020204030204" pitchFamily="34" charset="0"/>
              </a:rPr>
              <a:t>Test-set protocol</a:t>
            </a:r>
            <a:endParaRPr lang="en-IN"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Selection was made on CV alone; the test set was touched once, for the top three finalists. It was subsequently reused for residual and permutation diagnostics, so comparisons of the alternative techniques on test are directional rather than independent.</a:t>
            </a:r>
            <a:endParaRPr lang="en-IN" dirty="0">
              <a:solidFill>
                <a:srgbClr val="48375F"/>
              </a:solidFill>
              <a:latin typeface="Calibri" panose="020F0502020204030204" pitchFamily="34" charset="0"/>
              <a:cs typeface="Calibri" panose="020F0502020204030204" pitchFamily="34" charset="0"/>
            </a:endParaRPr>
          </a:p>
          <a:p>
            <a:r>
              <a:rPr lang="en-US" i="1" dirty="0">
                <a:solidFill>
                  <a:srgbClr val="48375F"/>
                </a:solidFill>
                <a:latin typeface="Calibri" panose="020F0502020204030204" pitchFamily="34" charset="0"/>
                <a:cs typeface="Calibri" panose="020F0502020204030204" pitchFamily="34" charset="0"/>
              </a:rPr>
              <a:t>Full metric suite: R² 0.7507  ·  MAE ₹3,206  ·  RMSE ₹5,548  ·  MAPE 19.67%. Hyperparameters: </a:t>
            </a:r>
            <a:r>
              <a:rPr lang="en-US" i="1" dirty="0" err="1">
                <a:solidFill>
                  <a:srgbClr val="48375F"/>
                </a:solidFill>
                <a:latin typeface="Calibri" panose="020F0502020204030204" pitchFamily="34" charset="0"/>
                <a:cs typeface="Calibri" panose="020F0502020204030204" pitchFamily="34" charset="0"/>
              </a:rPr>
              <a:t>max_depth</a:t>
            </a:r>
            <a:r>
              <a:rPr lang="en-US" i="1" dirty="0">
                <a:solidFill>
                  <a:srgbClr val="48375F"/>
                </a:solidFill>
                <a:latin typeface="Calibri" panose="020F0502020204030204" pitchFamily="34" charset="0"/>
                <a:cs typeface="Calibri" panose="020F0502020204030204" pitchFamily="34" charset="0"/>
              </a:rPr>
              <a:t> 15, </a:t>
            </a:r>
            <a:r>
              <a:rPr lang="en-US" i="1" dirty="0" err="1">
                <a:solidFill>
                  <a:srgbClr val="48375F"/>
                </a:solidFill>
                <a:latin typeface="Calibri" panose="020F0502020204030204" pitchFamily="34" charset="0"/>
                <a:cs typeface="Calibri" panose="020F0502020204030204" pitchFamily="34" charset="0"/>
              </a:rPr>
              <a:t>min_samples_leaf</a:t>
            </a:r>
            <a:r>
              <a:rPr lang="en-US" i="1" dirty="0">
                <a:solidFill>
                  <a:srgbClr val="48375F"/>
                </a:solidFill>
                <a:latin typeface="Calibri" panose="020F0502020204030204" pitchFamily="34" charset="0"/>
                <a:cs typeface="Calibri" panose="020F0502020204030204" pitchFamily="34" charset="0"/>
              </a:rPr>
              <a:t> 2, </a:t>
            </a:r>
            <a:r>
              <a:rPr lang="en-US" i="1" dirty="0" err="1">
                <a:solidFill>
                  <a:srgbClr val="48375F"/>
                </a:solidFill>
                <a:latin typeface="Calibri" panose="020F0502020204030204" pitchFamily="34" charset="0"/>
                <a:cs typeface="Calibri" panose="020F0502020204030204" pitchFamily="34" charset="0"/>
              </a:rPr>
              <a:t>n_estimators</a:t>
            </a:r>
            <a:r>
              <a:rPr lang="en-US" i="1" dirty="0">
                <a:solidFill>
                  <a:srgbClr val="48375F"/>
                </a:solidFill>
                <a:latin typeface="Calibri" panose="020F0502020204030204" pitchFamily="34" charset="0"/>
                <a:cs typeface="Calibri" panose="020F0502020204030204" pitchFamily="34" charset="0"/>
              </a:rPr>
              <a:t> 500.</a:t>
            </a:r>
            <a:endParaRPr lang="en-IN" dirty="0">
              <a:solidFill>
                <a:srgbClr val="48375F"/>
              </a:solidFill>
              <a:latin typeface="Calibri" panose="020F0502020204030204" pitchFamily="34" charset="0"/>
              <a:cs typeface="Calibri" panose="020F0502020204030204" pitchFamily="34" charset="0"/>
            </a:endParaRPr>
          </a:p>
        </p:txBody>
      </p:sp>
      <p:sp>
        <p:nvSpPr>
          <p:cNvPr id="18" name="Shape 2">
            <a:extLst>
              <a:ext uri="{FF2B5EF4-FFF2-40B4-BE49-F238E27FC236}">
                <a16:creationId xmlns:a16="http://schemas.microsoft.com/office/drawing/2014/main" id="{C6296A1F-C0BD-57A3-FBF8-2F4CCD21D19D}"/>
              </a:ext>
            </a:extLst>
          </p:cNvPr>
          <p:cNvSpPr/>
          <p:nvPr/>
        </p:nvSpPr>
        <p:spPr>
          <a:xfrm>
            <a:off x="689361" y="1747697"/>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anose="020F0502020204030204" pitchFamily="34" charset="0"/>
                <a:ea typeface="Cambria" pitchFamily="34" charset="-122"/>
                <a:cs typeface="Calibri" panose="020F0502020204030204" pitchFamily="34" charset="0"/>
              </a:rPr>
              <a:t>15 / 531</a:t>
            </a:r>
          </a:p>
          <a:p>
            <a:pPr algn="ctr"/>
            <a:endParaRPr lang="en-US" sz="1100" dirty="0">
              <a:solidFill>
                <a:schemeClr val="bg1"/>
              </a:solidFill>
              <a:latin typeface="Calibri" panose="020F0502020204030204" pitchFamily="34" charset="0"/>
              <a:cs typeface="Calibri" panose="020F0502020204030204" pitchFamily="34" charset="0"/>
            </a:endParaRPr>
          </a:p>
          <a:p>
            <a:pPr algn="ctr"/>
            <a:r>
              <a:rPr lang="en-US" sz="1600" dirty="0">
                <a:solidFill>
                  <a:schemeClr val="bg1"/>
                </a:solidFill>
                <a:latin typeface="Calibri" panose="020F0502020204030204" pitchFamily="34" charset="0"/>
                <a:ea typeface="Calibri" pitchFamily="34" charset="-122"/>
                <a:cs typeface="Calibri" panose="020F0502020204030204" pitchFamily="34" charset="0"/>
              </a:rPr>
              <a:t>Listings flagged (2.82% of dataset)</a:t>
            </a:r>
            <a:endParaRPr lang="en-US" sz="1600" dirty="0">
              <a:solidFill>
                <a:schemeClr val="bg1"/>
              </a:solidFill>
              <a:latin typeface="Calibri" panose="020F0502020204030204" pitchFamily="34" charset="0"/>
              <a:cs typeface="Calibri" panose="020F0502020204030204" pitchFamily="34" charset="0"/>
            </a:endParaRPr>
          </a:p>
        </p:txBody>
      </p:sp>
      <p:sp>
        <p:nvSpPr>
          <p:cNvPr id="19" name="Shape 2">
            <a:extLst>
              <a:ext uri="{FF2B5EF4-FFF2-40B4-BE49-F238E27FC236}">
                <a16:creationId xmlns:a16="http://schemas.microsoft.com/office/drawing/2014/main" id="{67DCA656-9C06-B1E8-C609-57BEF7511860}"/>
              </a:ext>
            </a:extLst>
          </p:cNvPr>
          <p:cNvSpPr/>
          <p:nvPr/>
        </p:nvSpPr>
        <p:spPr>
          <a:xfrm>
            <a:off x="3394087" y="1747697"/>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4.6%</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Share of total model error contributed</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0" name="Shape 2">
            <a:extLst>
              <a:ext uri="{FF2B5EF4-FFF2-40B4-BE49-F238E27FC236}">
                <a16:creationId xmlns:a16="http://schemas.microsoft.com/office/drawing/2014/main" id="{58FF3CC6-543C-320D-F27D-0D3936480DC0}"/>
              </a:ext>
            </a:extLst>
          </p:cNvPr>
          <p:cNvSpPr/>
          <p:nvPr/>
        </p:nvSpPr>
        <p:spPr>
          <a:xfrm>
            <a:off x="6098813" y="1769914"/>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4.6×</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Error over-representation vs. cluster size</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1" name="Shape 2">
            <a:extLst>
              <a:ext uri="{FF2B5EF4-FFF2-40B4-BE49-F238E27FC236}">
                <a16:creationId xmlns:a16="http://schemas.microsoft.com/office/drawing/2014/main" id="{0A0229D3-F190-A62E-F69F-23C412CDBA2F}"/>
              </a:ext>
            </a:extLst>
          </p:cNvPr>
          <p:cNvSpPr/>
          <p:nvPr/>
        </p:nvSpPr>
        <p:spPr>
          <a:xfrm>
            <a:off x="8803539" y="1769913"/>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₹1,851</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Cluster average price vs. ₹16,726 rest</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F483B331-7196-A527-B8CF-B69E4DA362AE}"/>
              </a:ext>
            </a:extLst>
          </p:cNvPr>
          <p:cNvSpPr txBox="1"/>
          <p:nvPr/>
        </p:nvSpPr>
        <p:spPr>
          <a:xfrm>
            <a:off x="176537" y="2964166"/>
            <a:ext cx="7050328"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BEST CV SCORE PER MODEL, AND HELD-OUT CONFIRMATION</a:t>
            </a:r>
            <a:endParaRPr lang="en-US" dirty="0">
              <a:solidFill>
                <a:srgbClr val="48375F"/>
              </a:solidFill>
            </a:endParaRPr>
          </a:p>
        </p:txBody>
      </p:sp>
      <p:sp>
        <p:nvSpPr>
          <p:cNvPr id="2" name="Title 1">
            <a:extLst>
              <a:ext uri="{FF2B5EF4-FFF2-40B4-BE49-F238E27FC236}">
                <a16:creationId xmlns:a16="http://schemas.microsoft.com/office/drawing/2014/main" id="{AE4B19DA-5783-E826-B32C-B1FA36507EB4}"/>
              </a:ext>
            </a:extLst>
          </p:cNvPr>
          <p:cNvSpPr txBox="1">
            <a:spLocks/>
          </p:cNvSpPr>
          <p:nvPr/>
        </p:nvSpPr>
        <p:spPr>
          <a:xfrm>
            <a:off x="0" y="-18659"/>
            <a:ext cx="12192000" cy="107205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Random Forest (Tuned): </a:t>
            </a:r>
          </a:p>
          <a:p>
            <a:r>
              <a:rPr lang="en-US" sz="2800" b="1" dirty="0">
                <a:solidFill>
                  <a:srgbClr val="48375F"/>
                </a:solidFill>
                <a:latin typeface="Calibri" panose="020F0502020204030204" pitchFamily="34" charset="0"/>
                <a:ea typeface="Cambria" pitchFamily="34" charset="-122"/>
                <a:cs typeface="Calibri" panose="020F0502020204030204" pitchFamily="34" charset="0"/>
              </a:rPr>
              <a:t>Report the Range, Not the Single Split</a:t>
            </a:r>
            <a:endParaRPr lang="en-US" sz="2800" dirty="0">
              <a:solidFill>
                <a:srgbClr val="48375F"/>
              </a:solidFill>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F6F58E74-22A2-0A49-F21D-4863AA3AAA16}"/>
              </a:ext>
            </a:extLst>
          </p:cNvPr>
          <p:cNvGraphicFramePr>
            <a:graphicFrameLocks noGrp="1"/>
          </p:cNvGraphicFramePr>
          <p:nvPr>
            <p:extLst>
              <p:ext uri="{D42A27DB-BD31-4B8C-83A1-F6EECF244321}">
                <p14:modId xmlns:p14="http://schemas.microsoft.com/office/powerpoint/2010/main" val="3413524130"/>
              </p:ext>
            </p:extLst>
          </p:nvPr>
        </p:nvGraphicFramePr>
        <p:xfrm>
          <a:off x="253187" y="3506850"/>
          <a:ext cx="6973676" cy="2852762"/>
        </p:xfrm>
        <a:graphic>
          <a:graphicData uri="http://schemas.openxmlformats.org/drawingml/2006/table">
            <a:tbl>
              <a:tblPr firstRow="1" firstCol="1" bandRow="1">
                <a:tableStyleId>{5C22544A-7EE6-4342-B048-85BDC9FD1C3A}</a:tableStyleId>
              </a:tblPr>
              <a:tblGrid>
                <a:gridCol w="1491377">
                  <a:extLst>
                    <a:ext uri="{9D8B030D-6E8A-4147-A177-3AD203B41FA5}">
                      <a16:colId xmlns:a16="http://schemas.microsoft.com/office/drawing/2014/main" val="4234647121"/>
                    </a:ext>
                  </a:extLst>
                </a:gridCol>
                <a:gridCol w="1518589">
                  <a:extLst>
                    <a:ext uri="{9D8B030D-6E8A-4147-A177-3AD203B41FA5}">
                      <a16:colId xmlns:a16="http://schemas.microsoft.com/office/drawing/2014/main" val="2018537835"/>
                    </a:ext>
                  </a:extLst>
                </a:gridCol>
                <a:gridCol w="1035848">
                  <a:extLst>
                    <a:ext uri="{9D8B030D-6E8A-4147-A177-3AD203B41FA5}">
                      <a16:colId xmlns:a16="http://schemas.microsoft.com/office/drawing/2014/main" val="3407597198"/>
                    </a:ext>
                  </a:extLst>
                </a:gridCol>
                <a:gridCol w="1380819">
                  <a:extLst>
                    <a:ext uri="{9D8B030D-6E8A-4147-A177-3AD203B41FA5}">
                      <a16:colId xmlns:a16="http://schemas.microsoft.com/office/drawing/2014/main" val="2345938530"/>
                    </a:ext>
                  </a:extLst>
                </a:gridCol>
                <a:gridCol w="1547043">
                  <a:extLst>
                    <a:ext uri="{9D8B030D-6E8A-4147-A177-3AD203B41FA5}">
                      <a16:colId xmlns:a16="http://schemas.microsoft.com/office/drawing/2014/main" val="593825961"/>
                    </a:ext>
                  </a:extLst>
                </a:gridCol>
              </a:tblGrid>
              <a:tr h="539712">
                <a:tc>
                  <a:txBody>
                    <a:bodyPr/>
                    <a:lstStyle/>
                    <a:p>
                      <a:pPr algn="ctr">
                        <a:buNone/>
                      </a:pPr>
                      <a:r>
                        <a:rPr lang="en-IN" sz="1400" dirty="0">
                          <a:solidFill>
                            <a:schemeClr val="bg1"/>
                          </a:solidFill>
                          <a:effectLst/>
                          <a:latin typeface="Calibri" panose="020F0502020204030204" pitchFamily="34" charset="0"/>
                          <a:cs typeface="Calibri" panose="020F0502020204030204" pitchFamily="34" charset="0"/>
                        </a:rPr>
                        <a:t>Model</a:t>
                      </a:r>
                      <a:endParaRPr lang="en-IN" sz="1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solidFill>
                      <a:srgbClr val="48375F"/>
                    </a:solidFill>
                  </a:tcPr>
                </a:tc>
                <a:tc>
                  <a:txBody>
                    <a:bodyPr/>
                    <a:lstStyle/>
                    <a:p>
                      <a:pPr algn="ctr">
                        <a:buNone/>
                      </a:pPr>
                      <a:r>
                        <a:rPr lang="en-IN" sz="1400" dirty="0">
                          <a:solidFill>
                            <a:schemeClr val="bg1"/>
                          </a:solidFill>
                          <a:effectLst/>
                          <a:latin typeface="Calibri" panose="020F0502020204030204" pitchFamily="34" charset="0"/>
                          <a:cs typeface="Calibri" panose="020F0502020204030204" pitchFamily="34" charset="0"/>
                        </a:rPr>
                        <a:t>C</a:t>
                      </a:r>
                      <a:r>
                        <a:rPr lang="en-IN" sz="1400" cap="all" dirty="0">
                          <a:solidFill>
                            <a:schemeClr val="bg1"/>
                          </a:solidFill>
                          <a:effectLst/>
                          <a:latin typeface="Calibri" panose="020F0502020204030204" pitchFamily="34" charset="0"/>
                          <a:cs typeface="Calibri" panose="020F0502020204030204" pitchFamily="34" charset="0"/>
                        </a:rPr>
                        <a:t>V</a:t>
                      </a:r>
                      <a:r>
                        <a:rPr lang="en-IN" sz="1400" dirty="0">
                          <a:solidFill>
                            <a:schemeClr val="bg1"/>
                          </a:solidFill>
                          <a:effectLst/>
                          <a:latin typeface="Calibri" panose="020F0502020204030204" pitchFamily="34" charset="0"/>
                          <a:cs typeface="Calibri" panose="020F0502020204030204" pitchFamily="34" charset="0"/>
                        </a:rPr>
                        <a:t> R² (</a:t>
                      </a:r>
                      <a:r>
                        <a:rPr lang="en-IN" sz="1400" dirty="0" err="1">
                          <a:solidFill>
                            <a:schemeClr val="bg1"/>
                          </a:solidFill>
                          <a:effectLst/>
                          <a:latin typeface="Calibri" panose="020F0502020204030204" pitchFamily="34" charset="0"/>
                          <a:cs typeface="Calibri" panose="020F0502020204030204" pitchFamily="34" charset="0"/>
                        </a:rPr>
                        <a:t>GroupKFold</a:t>
                      </a:r>
                      <a:r>
                        <a:rPr lang="en-IN" sz="1400" dirty="0">
                          <a:solidFill>
                            <a:schemeClr val="bg1"/>
                          </a:solidFill>
                          <a:effectLst/>
                          <a:latin typeface="Calibri" panose="020F0502020204030204" pitchFamily="34" charset="0"/>
                          <a:cs typeface="Calibri" panose="020F0502020204030204" pitchFamily="34" charset="0"/>
                        </a:rPr>
                        <a:t>)</a:t>
                      </a:r>
                      <a:r>
                        <a:rPr lang="en-IN" sz="700" cap="all" dirty="0">
                          <a:solidFill>
                            <a:schemeClr val="bg1"/>
                          </a:solidFill>
                          <a:effectLst/>
                          <a:latin typeface="Calibri" panose="020F0502020204030204" pitchFamily="34" charset="0"/>
                          <a:cs typeface="Calibri" panose="020F0502020204030204" pitchFamily="34" charset="0"/>
                        </a:rPr>
                        <a:t> </a:t>
                      </a:r>
                      <a:endParaRPr lang="en-IN" sz="7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solidFill>
                      <a:srgbClr val="48375F"/>
                    </a:solidFill>
                  </a:tcPr>
                </a:tc>
                <a:tc>
                  <a:txBody>
                    <a:bodyPr/>
                    <a:lstStyle/>
                    <a:p>
                      <a:pPr algn="ctr">
                        <a:buNone/>
                      </a:pPr>
                      <a:r>
                        <a:rPr lang="en-IN" sz="1400" dirty="0">
                          <a:solidFill>
                            <a:schemeClr val="bg1"/>
                          </a:solidFill>
                          <a:effectLst/>
                          <a:latin typeface="Calibri" panose="020F0502020204030204" pitchFamily="34" charset="0"/>
                          <a:cs typeface="Calibri" panose="020F0502020204030204" pitchFamily="34" charset="0"/>
                        </a:rPr>
                        <a:t>Test R²</a:t>
                      </a:r>
                      <a:endParaRPr lang="en-IN" sz="1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solidFill>
                      <a:srgbClr val="48375F"/>
                    </a:solidFill>
                  </a:tcPr>
                </a:tc>
                <a:tc>
                  <a:txBody>
                    <a:bodyPr/>
                    <a:lstStyle/>
                    <a:p>
                      <a:pPr algn="ctr">
                        <a:buNone/>
                      </a:pPr>
                      <a:r>
                        <a:rPr lang="en-IN" sz="1400" dirty="0">
                          <a:solidFill>
                            <a:schemeClr val="bg1"/>
                          </a:solidFill>
                          <a:effectLst/>
                          <a:latin typeface="Calibri" panose="020F0502020204030204" pitchFamily="34" charset="0"/>
                          <a:cs typeface="Calibri" panose="020F0502020204030204" pitchFamily="34" charset="0"/>
                        </a:rPr>
                        <a:t>Test MAE</a:t>
                      </a:r>
                      <a:endParaRPr lang="en-IN" sz="1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solidFill>
                      <a:srgbClr val="48375F"/>
                    </a:solidFill>
                  </a:tcPr>
                </a:tc>
                <a:tc>
                  <a:txBody>
                    <a:bodyPr/>
                    <a:lstStyle/>
                    <a:p>
                      <a:pPr algn="ctr">
                        <a:buNone/>
                      </a:pPr>
                      <a:r>
                        <a:rPr lang="en-IN" sz="1400" dirty="0">
                          <a:solidFill>
                            <a:schemeClr val="bg1"/>
                          </a:solidFill>
                          <a:effectLst/>
                          <a:latin typeface="Calibri" panose="020F0502020204030204" pitchFamily="34" charset="0"/>
                          <a:cs typeface="Calibri" panose="020F0502020204030204" pitchFamily="34" charset="0"/>
                        </a:rPr>
                        <a:t>Status</a:t>
                      </a:r>
                      <a:endParaRPr lang="en-IN" sz="1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solidFill>
                      <a:srgbClr val="48375F"/>
                    </a:solidFill>
                  </a:tcPr>
                </a:tc>
                <a:extLst>
                  <a:ext uri="{0D108BD9-81ED-4DB2-BD59-A6C34878D82A}">
                    <a16:rowId xmlns:a16="http://schemas.microsoft.com/office/drawing/2014/main" val="738688788"/>
                  </a:ext>
                </a:extLst>
              </a:tr>
              <a:tr h="462610">
                <a:tc>
                  <a:txBody>
                    <a:bodyPr/>
                    <a:lstStyle/>
                    <a:p>
                      <a:pPr algn="ctr">
                        <a:buNone/>
                      </a:pPr>
                      <a:r>
                        <a:rPr lang="en-IN" sz="1200" b="0" dirty="0">
                          <a:solidFill>
                            <a:schemeClr val="bg1"/>
                          </a:solidFill>
                          <a:effectLst/>
                          <a:latin typeface="Calibri" panose="020F0502020204030204" pitchFamily="34" charset="0"/>
                          <a:cs typeface="Calibri" panose="020F0502020204030204" pitchFamily="34" charset="0"/>
                        </a:rPr>
                        <a:t>Naive (Mean Predictor)</a:t>
                      </a:r>
                      <a:endParaRPr lang="en-IN"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(0.028)</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(0.000)</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₹7,040</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Floor</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2549834380"/>
                  </a:ext>
                </a:extLst>
              </a:tr>
              <a:tr h="231305">
                <a:tc>
                  <a:txBody>
                    <a:bodyPr/>
                    <a:lstStyle/>
                    <a:p>
                      <a:pPr algn="ctr">
                        <a:buNone/>
                      </a:pPr>
                      <a:r>
                        <a:rPr lang="en-IN" sz="1200" b="0" dirty="0">
                          <a:solidFill>
                            <a:schemeClr val="bg1"/>
                          </a:solidFill>
                          <a:effectLst/>
                          <a:latin typeface="Calibri" panose="020F0502020204030204" pitchFamily="34" charset="0"/>
                          <a:cs typeface="Calibri" panose="020F0502020204030204" pitchFamily="34" charset="0"/>
                        </a:rPr>
                        <a:t>Linear Regression</a:t>
                      </a:r>
                      <a:endParaRPr lang="en-IN"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0.374</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0.511</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₹3,499</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Untuned Baseline</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552309596"/>
                  </a:ext>
                </a:extLst>
              </a:tr>
              <a:tr h="462610">
                <a:tc>
                  <a:txBody>
                    <a:bodyPr/>
                    <a:lstStyle/>
                    <a:p>
                      <a:pPr algn="ctr">
                        <a:buNone/>
                      </a:pPr>
                      <a:r>
                        <a:rPr lang="en-IN" sz="1200" b="0" dirty="0">
                          <a:solidFill>
                            <a:schemeClr val="bg1"/>
                          </a:solidFill>
                          <a:effectLst/>
                          <a:latin typeface="Calibri" panose="020F0502020204030204" pitchFamily="34" charset="0"/>
                          <a:cs typeface="Calibri" panose="020F0502020204030204" pitchFamily="34" charset="0"/>
                        </a:rPr>
                        <a:t>Lasso (Best Linear Model)</a:t>
                      </a:r>
                      <a:endParaRPr lang="en-IN"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0.499</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0.688</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₹2,743</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Best Interpretable Model</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3751096353"/>
                  </a:ext>
                </a:extLst>
              </a:tr>
              <a:tr h="231305">
                <a:tc>
                  <a:txBody>
                    <a:bodyPr/>
                    <a:lstStyle/>
                    <a:p>
                      <a:pPr algn="ctr">
                        <a:buNone/>
                      </a:pPr>
                      <a:r>
                        <a:rPr lang="en-IN" sz="1200" b="0" dirty="0" err="1">
                          <a:solidFill>
                            <a:schemeClr val="bg1"/>
                          </a:solidFill>
                          <a:effectLst/>
                          <a:latin typeface="Calibri" panose="020F0502020204030204" pitchFamily="34" charset="0"/>
                          <a:cs typeface="Calibri" panose="020F0502020204030204" pitchFamily="34" charset="0"/>
                        </a:rPr>
                        <a:t>XGBoost</a:t>
                      </a:r>
                      <a:r>
                        <a:rPr lang="en-IN" sz="1200" b="0" dirty="0">
                          <a:solidFill>
                            <a:schemeClr val="bg1"/>
                          </a:solidFill>
                          <a:effectLst/>
                          <a:latin typeface="Calibri" panose="020F0502020204030204" pitchFamily="34" charset="0"/>
                          <a:cs typeface="Calibri" panose="020F0502020204030204" pitchFamily="34" charset="0"/>
                        </a:rPr>
                        <a:t> (tuned)</a:t>
                      </a:r>
                      <a:endParaRPr lang="en-IN"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0.612</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0.644</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₹3,337 </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CV leader, test laggard</a:t>
                      </a:r>
                      <a:endParaRPr lang="en-IN" sz="700">
                        <a:solidFill>
                          <a:srgbClr val="48375F"/>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nchor="ctr"/>
                </a:tc>
                <a:extLst>
                  <a:ext uri="{0D108BD9-81ED-4DB2-BD59-A6C34878D82A}">
                    <a16:rowId xmlns:a16="http://schemas.microsoft.com/office/drawing/2014/main" val="2552636299"/>
                  </a:ext>
                </a:extLst>
              </a:tr>
              <a:tr h="462610">
                <a:tc>
                  <a:txBody>
                    <a:bodyPr/>
                    <a:lstStyle/>
                    <a:p>
                      <a:pPr algn="ctr">
                        <a:buNone/>
                      </a:pPr>
                      <a:r>
                        <a:rPr lang="en-IN" sz="1200" b="0" dirty="0">
                          <a:solidFill>
                            <a:schemeClr val="bg1"/>
                          </a:solidFill>
                          <a:effectLst/>
                          <a:latin typeface="Calibri" panose="020F0502020204030204" pitchFamily="34" charset="0"/>
                          <a:cs typeface="Calibri" panose="020F0502020204030204" pitchFamily="34" charset="0"/>
                        </a:rPr>
                        <a:t>Gradient Boosting (Tuned)</a:t>
                      </a:r>
                      <a:endParaRPr lang="en-IN"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dirty="0">
                          <a:solidFill>
                            <a:srgbClr val="48375F"/>
                          </a:solidFill>
                          <a:effectLst/>
                          <a:latin typeface="Calibri" panose="020F0502020204030204" pitchFamily="34" charset="0"/>
                          <a:cs typeface="Calibri" panose="020F0502020204030204" pitchFamily="34" charset="0"/>
                        </a:rPr>
                        <a:t>0.595</a:t>
                      </a:r>
                      <a:endParaRPr lang="en-IN" sz="1200"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a:solidFill>
                            <a:srgbClr val="48375F"/>
                          </a:solidFill>
                          <a:effectLst/>
                          <a:latin typeface="Calibri" panose="020F0502020204030204" pitchFamily="34" charset="0"/>
                          <a:cs typeface="Calibri" panose="020F0502020204030204" pitchFamily="34" charset="0"/>
                        </a:rPr>
                        <a:t>0.723</a:t>
                      </a:r>
                      <a:endParaRPr lang="en-IN" sz="120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dirty="0">
                          <a:solidFill>
                            <a:srgbClr val="48375F"/>
                          </a:solidFill>
                          <a:effectLst/>
                          <a:latin typeface="Calibri" panose="020F0502020204030204" pitchFamily="34" charset="0"/>
                          <a:cs typeface="Calibri" panose="020F0502020204030204" pitchFamily="34" charset="0"/>
                        </a:rPr>
                        <a:t>₹2,968</a:t>
                      </a:r>
                      <a:endParaRPr lang="en-IN" sz="1200"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dirty="0">
                          <a:solidFill>
                            <a:srgbClr val="48375F"/>
                          </a:solidFill>
                          <a:effectLst/>
                          <a:latin typeface="Calibri" panose="020F0502020204030204" pitchFamily="34" charset="0"/>
                          <a:cs typeface="Calibri" panose="020F0502020204030204" pitchFamily="34" charset="0"/>
                        </a:rPr>
                        <a:t>Runner-Up (Best MAE)</a:t>
                      </a:r>
                      <a:endParaRPr lang="en-IN" sz="1200"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954111856"/>
                  </a:ext>
                </a:extLst>
              </a:tr>
              <a:tr h="462610">
                <a:tc>
                  <a:txBody>
                    <a:bodyPr/>
                    <a:lstStyle/>
                    <a:p>
                      <a:pPr algn="ctr">
                        <a:buNone/>
                      </a:pPr>
                      <a:r>
                        <a:rPr lang="en-IN" sz="1200" b="1" dirty="0">
                          <a:solidFill>
                            <a:schemeClr val="bg1"/>
                          </a:solidFill>
                          <a:effectLst/>
                          <a:latin typeface="Calibri" panose="020F0502020204030204" pitchFamily="34" charset="0"/>
                          <a:cs typeface="Calibri" panose="020F0502020204030204" pitchFamily="34" charset="0"/>
                        </a:rPr>
                        <a:t>Random Forest (Tuned)</a:t>
                      </a:r>
                      <a:endParaRPr lang="en-IN" sz="12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solidFill>
                      <a:srgbClr val="48375F"/>
                    </a:solidFill>
                  </a:tcPr>
                </a:tc>
                <a:tc>
                  <a:txBody>
                    <a:bodyPr/>
                    <a:lstStyle/>
                    <a:p>
                      <a:pPr algn="ctr">
                        <a:buNone/>
                      </a:pPr>
                      <a:r>
                        <a:rPr lang="en-IN" sz="1200" b="1" dirty="0">
                          <a:solidFill>
                            <a:srgbClr val="48375F"/>
                          </a:solidFill>
                          <a:effectLst/>
                          <a:latin typeface="Calibri" panose="020F0502020204030204" pitchFamily="34" charset="0"/>
                          <a:cs typeface="Calibri" panose="020F0502020204030204" pitchFamily="34" charset="0"/>
                        </a:rPr>
                        <a:t>0.590</a:t>
                      </a:r>
                      <a:endParaRPr lang="en-IN" sz="1200" b="1"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b="1" dirty="0">
                          <a:solidFill>
                            <a:srgbClr val="48375F"/>
                          </a:solidFill>
                          <a:effectLst/>
                          <a:latin typeface="Calibri" panose="020F0502020204030204" pitchFamily="34" charset="0"/>
                          <a:cs typeface="Calibri" panose="020F0502020204030204" pitchFamily="34" charset="0"/>
                        </a:rPr>
                        <a:t>0.751</a:t>
                      </a:r>
                      <a:endParaRPr lang="en-IN" sz="1200" b="1"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b="1" dirty="0">
                          <a:solidFill>
                            <a:srgbClr val="48375F"/>
                          </a:solidFill>
                          <a:effectLst/>
                          <a:latin typeface="Calibri" panose="020F0502020204030204" pitchFamily="34" charset="0"/>
                          <a:cs typeface="Calibri" panose="020F0502020204030204" pitchFamily="34" charset="0"/>
                        </a:rPr>
                        <a:t>₹3,206</a:t>
                      </a:r>
                      <a:endParaRPr lang="en-IN" sz="1200" b="1"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ctr">
                        <a:buNone/>
                      </a:pPr>
                      <a:r>
                        <a:rPr lang="en-IN" sz="1200" b="1" dirty="0">
                          <a:solidFill>
                            <a:srgbClr val="48375F"/>
                          </a:solidFill>
                          <a:effectLst/>
                          <a:latin typeface="Calibri" panose="020F0502020204030204" pitchFamily="34" charset="0"/>
                          <a:cs typeface="Calibri" panose="020F0502020204030204" pitchFamily="34" charset="0"/>
                        </a:rPr>
                        <a:t>★ Final Model</a:t>
                      </a:r>
                      <a:endParaRPr lang="en-IN" sz="1200" b="1" dirty="0">
                        <a:solidFill>
                          <a:srgbClr val="48375F"/>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3624816643"/>
                  </a:ext>
                </a:extLst>
              </a:tr>
            </a:tbl>
          </a:graphicData>
        </a:graphic>
      </p:graphicFrame>
      <p:sp>
        <p:nvSpPr>
          <p:cNvPr id="4" name="Shape 20">
            <a:extLst>
              <a:ext uri="{FF2B5EF4-FFF2-40B4-BE49-F238E27FC236}">
                <a16:creationId xmlns:a16="http://schemas.microsoft.com/office/drawing/2014/main" id="{7DFE7592-413C-9739-4D76-E59280703FBD}"/>
              </a:ext>
            </a:extLst>
          </p:cNvPr>
          <p:cNvSpPr/>
          <p:nvPr/>
        </p:nvSpPr>
        <p:spPr>
          <a:xfrm>
            <a:off x="350548" y="3383280"/>
            <a:ext cx="6720840" cy="10973"/>
          </a:xfrm>
          <a:prstGeom prst="rect">
            <a:avLst/>
          </a:prstGeom>
          <a:solidFill>
            <a:srgbClr val="0F2748"/>
          </a:solidFill>
          <a:ln w="12700">
            <a:solidFill>
              <a:srgbClr val="333333"/>
            </a:solidFill>
            <a:prstDash val="solid"/>
          </a:ln>
        </p:spPr>
      </p:sp>
    </p:spTree>
    <p:extLst>
      <p:ext uri="{BB962C8B-B14F-4D97-AF65-F5344CB8AC3E}">
        <p14:creationId xmlns:p14="http://schemas.microsoft.com/office/powerpoint/2010/main" val="2943683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F7AF1-76A7-6F68-D599-4A5A61B792F0}"/>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43371973-1C3A-0E6E-03D3-599AA9469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1372FE7-D140-346F-B14A-95FCC067D0C8}"/>
              </a:ext>
            </a:extLst>
          </p:cNvPr>
          <p:cNvSpPr txBox="1">
            <a:spLocks/>
          </p:cNvSpPr>
          <p:nvPr/>
        </p:nvSpPr>
        <p:spPr>
          <a:xfrm>
            <a:off x="0" y="-18659"/>
            <a:ext cx="12192000" cy="115172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Two Independent Methods, </a:t>
            </a:r>
          </a:p>
          <a:p>
            <a:r>
              <a:rPr lang="en-US" sz="2800" b="1" dirty="0">
                <a:solidFill>
                  <a:srgbClr val="48375F"/>
                </a:solidFill>
                <a:latin typeface="Calibri" panose="020F0502020204030204" pitchFamily="34" charset="0"/>
                <a:cs typeface="Calibri" panose="020F0502020204030204" pitchFamily="34" charset="0"/>
              </a:rPr>
              <a:t>Triangulated Rather Than Trusted Alone</a:t>
            </a:r>
          </a:p>
        </p:txBody>
      </p:sp>
      <p:sp>
        <p:nvSpPr>
          <p:cNvPr id="4" name="Shape 2">
            <a:extLst>
              <a:ext uri="{FF2B5EF4-FFF2-40B4-BE49-F238E27FC236}">
                <a16:creationId xmlns:a16="http://schemas.microsoft.com/office/drawing/2014/main" id="{A86F62C1-CD5D-2CAB-DABF-171D9AAEF64E}"/>
              </a:ext>
            </a:extLst>
          </p:cNvPr>
          <p:cNvSpPr/>
          <p:nvPr/>
        </p:nvSpPr>
        <p:spPr>
          <a:xfrm>
            <a:off x="159026" y="4472608"/>
            <a:ext cx="11856437" cy="1888901"/>
          </a:xfrm>
          <a:prstGeom prst="roundRect">
            <a:avLst>
              <a:gd name="adj" fmla="val 6957"/>
            </a:avLst>
          </a:prstGeom>
          <a:solidFill>
            <a:srgbClr val="DADBDA"/>
          </a:solidFill>
          <a:ln/>
        </p:spPr>
        <p:txBody>
          <a:bodyPr/>
          <a:lstStyle/>
          <a:p>
            <a:r>
              <a:rPr lang="en-US" b="1" dirty="0">
                <a:solidFill>
                  <a:srgbClr val="48375F"/>
                </a:solidFill>
                <a:latin typeface="Calibri" panose="020F0502020204030204" pitchFamily="34" charset="0"/>
                <a:ea typeface="Calibri" pitchFamily="34" charset="-122"/>
                <a:cs typeface="Calibri" panose="020F0502020204030204" pitchFamily="34" charset="0"/>
              </a:rPr>
              <a:t>Read the confounding, not just the ranking</a:t>
            </a:r>
          </a:p>
          <a:p>
            <a:endParaRPr lang="en-US" b="1" dirty="0">
              <a:solidFill>
                <a:srgbClr val="48375F"/>
              </a:solidFill>
              <a:latin typeface="Calibri" panose="020F0502020204030204" pitchFamily="34" charset="0"/>
              <a:cs typeface="Calibri" panose="020F0502020204030204" pitchFamily="34" charset="0"/>
            </a:endParaRPr>
          </a:p>
          <a:p>
            <a:r>
              <a:rPr lang="en-US" dirty="0" err="1">
                <a:solidFill>
                  <a:srgbClr val="48375F"/>
                </a:solidFill>
                <a:latin typeface="Calibri" panose="020F0502020204030204" pitchFamily="34" charset="0"/>
                <a:ea typeface="Calibri" pitchFamily="34" charset="-122"/>
                <a:cs typeface="Calibri" panose="020F0502020204030204" pitchFamily="34" charset="0"/>
              </a:rPr>
              <a:t>Front_Camera_MP</a:t>
            </a:r>
            <a:r>
              <a:rPr lang="en-US" dirty="0">
                <a:solidFill>
                  <a:srgbClr val="48375F"/>
                </a:solidFill>
                <a:latin typeface="Calibri" panose="020F0502020204030204" pitchFamily="34" charset="0"/>
                <a:ea typeface="Calibri" pitchFamily="34" charset="-122"/>
                <a:cs typeface="Calibri" panose="020F0502020204030204" pitchFamily="34" charset="0"/>
              </a:rPr>
              <a:t> tops both rankings, but its impurity score (0.492) is partly inflated: all five Apple rows in the training subset share </a:t>
            </a:r>
            <a:r>
              <a:rPr lang="en-US" dirty="0" err="1">
                <a:solidFill>
                  <a:srgbClr val="48375F"/>
                </a:solidFill>
                <a:latin typeface="Calibri" panose="020F0502020204030204" pitchFamily="34" charset="0"/>
                <a:ea typeface="Calibri" pitchFamily="34" charset="-122"/>
                <a:cs typeface="Calibri" panose="020F0502020204030204" pitchFamily="34" charset="0"/>
              </a:rPr>
              <a:t>Front_Camera_MP</a:t>
            </a:r>
            <a:r>
              <a:rPr lang="en-US" dirty="0">
                <a:solidFill>
                  <a:srgbClr val="48375F"/>
                </a:solidFill>
                <a:latin typeface="Calibri" panose="020F0502020204030204" pitchFamily="34" charset="0"/>
                <a:ea typeface="Calibri" pitchFamily="34" charset="-122"/>
                <a:cs typeface="Calibri" panose="020F0502020204030204" pitchFamily="34" charset="0"/>
              </a:rPr>
              <a:t> = 12, confounding the feature with the highest-priced brand. The permutation check — run on a test set containing zero Apple rows — confirms the signal survives, but the two methods use different samples, and both are triangulated against SHAP rather than relied on individually.</a:t>
            </a:r>
            <a:endParaRPr lang="en-US" dirty="0">
              <a:solidFill>
                <a:srgbClr val="48375F"/>
              </a:solidFill>
              <a:latin typeface="Calibri" panose="020F0502020204030204" pitchFamily="34" charset="0"/>
              <a:cs typeface="Calibri" panose="020F0502020204030204" pitchFamily="34" charset="0"/>
            </a:endParaRPr>
          </a:p>
          <a:p>
            <a:endParaRPr lang="en-US" dirty="0">
              <a:solidFill>
                <a:srgbClr val="48375F"/>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5E30427-CA7D-6A5F-9C21-C99B939B17A4}"/>
              </a:ext>
            </a:extLst>
          </p:cNvPr>
          <p:cNvSpPr txBox="1"/>
          <p:nvPr/>
        </p:nvSpPr>
        <p:spPr>
          <a:xfrm>
            <a:off x="159026" y="6396335"/>
            <a:ext cx="11856437" cy="523220"/>
          </a:xfrm>
          <a:prstGeom prst="rect">
            <a:avLst/>
          </a:prstGeom>
          <a:noFill/>
        </p:spPr>
        <p:txBody>
          <a:bodyPr wrap="square" rtlCol="0">
            <a:spAutoFit/>
          </a:bodyPr>
          <a:lstStyle/>
          <a:p>
            <a:r>
              <a:rPr lang="en-US" sz="1400" i="1" dirty="0">
                <a:solidFill>
                  <a:srgbClr val="48375F"/>
                </a:solidFill>
                <a:latin typeface="Calibri" panose="020F0502020204030204" pitchFamily="34" charset="0"/>
                <a:ea typeface="Calibri" pitchFamily="34" charset="-122"/>
                <a:cs typeface="Calibri" panose="020F0502020204030204" pitchFamily="34" charset="0"/>
              </a:rPr>
              <a:t>Impurity importance from the tuned Random Forest fitted on the 428-row training subset; permutation importance measured on the held-out test split. The two are computed on different samples and are not directly comparable in magnitude.</a:t>
            </a:r>
            <a:endParaRPr lang="en-US" sz="1400" i="1" dirty="0">
              <a:solidFill>
                <a:srgbClr val="48375F"/>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54D521B-5CD9-16E5-35FF-AE0CA13D4A4A}"/>
              </a:ext>
            </a:extLst>
          </p:cNvPr>
          <p:cNvPicPr>
            <a:picLocks noChangeAspect="1"/>
          </p:cNvPicPr>
          <p:nvPr/>
        </p:nvPicPr>
        <p:blipFill>
          <a:blip r:embed="rId4"/>
          <a:stretch>
            <a:fillRect/>
          </a:stretch>
        </p:blipFill>
        <p:spPr>
          <a:xfrm>
            <a:off x="159026" y="1111290"/>
            <a:ext cx="5921829" cy="3235177"/>
          </a:xfrm>
          <a:prstGeom prst="rect">
            <a:avLst/>
          </a:prstGeom>
        </p:spPr>
      </p:pic>
      <p:pic>
        <p:nvPicPr>
          <p:cNvPr id="7" name="Picture 6">
            <a:extLst>
              <a:ext uri="{FF2B5EF4-FFF2-40B4-BE49-F238E27FC236}">
                <a16:creationId xmlns:a16="http://schemas.microsoft.com/office/drawing/2014/main" id="{BF1DEE2C-A457-40AA-C67E-266EC5084F86}"/>
              </a:ext>
            </a:extLst>
          </p:cNvPr>
          <p:cNvPicPr>
            <a:picLocks noChangeAspect="1"/>
          </p:cNvPicPr>
          <p:nvPr/>
        </p:nvPicPr>
        <p:blipFill>
          <a:blip r:embed="rId5"/>
          <a:stretch>
            <a:fillRect/>
          </a:stretch>
        </p:blipFill>
        <p:spPr>
          <a:xfrm>
            <a:off x="6080855" y="1122175"/>
            <a:ext cx="5881979" cy="3213406"/>
          </a:xfrm>
          <a:prstGeom prst="rect">
            <a:avLst/>
          </a:prstGeom>
        </p:spPr>
      </p:pic>
    </p:spTree>
    <p:extLst>
      <p:ext uri="{BB962C8B-B14F-4D97-AF65-F5344CB8AC3E}">
        <p14:creationId xmlns:p14="http://schemas.microsoft.com/office/powerpoint/2010/main" val="420183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92BD-A484-D791-521B-553A4421E6B0}"/>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08C9B3E8-3571-0A7C-E65C-5CE60D656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E11B3E8-1ABC-EE68-AE28-85F351429CAF}"/>
              </a:ext>
            </a:extLst>
          </p:cNvPr>
          <p:cNvSpPr txBox="1">
            <a:spLocks/>
          </p:cNvSpPr>
          <p:nvPr/>
        </p:nvSpPr>
        <p:spPr>
          <a:xfrm>
            <a:off x="9180" y="-367186"/>
            <a:ext cx="12192000" cy="115172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SHAP Global Interpretation</a:t>
            </a:r>
            <a:endParaRPr lang="en-US" sz="4800" b="1" dirty="0">
              <a:solidFill>
                <a:srgbClr val="48375F"/>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0FF861AB-8D51-700C-66A9-2821C20712C8}"/>
              </a:ext>
            </a:extLst>
          </p:cNvPr>
          <p:cNvPicPr>
            <a:picLocks noChangeAspect="1"/>
          </p:cNvPicPr>
          <p:nvPr/>
        </p:nvPicPr>
        <p:blipFill>
          <a:blip r:embed="rId4"/>
          <a:stretch>
            <a:fillRect/>
          </a:stretch>
        </p:blipFill>
        <p:spPr>
          <a:xfrm>
            <a:off x="1622713" y="1133061"/>
            <a:ext cx="8946573" cy="4887637"/>
          </a:xfrm>
          <a:prstGeom prst="rect">
            <a:avLst/>
          </a:prstGeom>
        </p:spPr>
      </p:pic>
      <p:sp>
        <p:nvSpPr>
          <p:cNvPr id="10" name="TextBox 9">
            <a:extLst>
              <a:ext uri="{FF2B5EF4-FFF2-40B4-BE49-F238E27FC236}">
                <a16:creationId xmlns:a16="http://schemas.microsoft.com/office/drawing/2014/main" id="{1C4BFFB0-EFB2-8CAF-8E39-F1397D9478E0}"/>
              </a:ext>
            </a:extLst>
          </p:cNvPr>
          <p:cNvSpPr txBox="1"/>
          <p:nvPr/>
        </p:nvSpPr>
        <p:spPr>
          <a:xfrm>
            <a:off x="176646" y="5999893"/>
            <a:ext cx="12089592" cy="369332"/>
          </a:xfrm>
          <a:prstGeom prst="rect">
            <a:avLst/>
          </a:prstGeom>
          <a:noFill/>
        </p:spPr>
        <p:txBody>
          <a:bodyPr wrap="none" rtlCol="0">
            <a:spAutoFit/>
          </a:bodyPr>
          <a:lstStyle/>
          <a:p>
            <a:r>
              <a:rPr lang="en-IN" dirty="0">
                <a:solidFill>
                  <a:srgbClr val="48375F"/>
                </a:solidFill>
                <a:latin typeface="Calibri" panose="020F0502020204030204" pitchFamily="34" charset="0"/>
                <a:cs typeface="Calibri" panose="020F0502020204030204" pitchFamily="34" charset="0"/>
              </a:rPr>
              <a:t>SHAP provides a third importance check and confirms Front Camera MP and Memory as major drivers of individual predictions.</a:t>
            </a:r>
            <a:endParaRPr lang="en-US"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8601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282DE-6B99-FE2C-03F7-E9D2C1170ECF}"/>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F6FF5132-555F-C9BC-06A1-C0E5001F73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290C4DE3-BFCD-424E-5BF6-B93ED0A88356}"/>
              </a:ext>
            </a:extLst>
          </p:cNvPr>
          <p:cNvSpPr txBox="1">
            <a:spLocks/>
          </p:cNvSpPr>
          <p:nvPr/>
        </p:nvSpPr>
        <p:spPr>
          <a:xfrm>
            <a:off x="9180" y="-367186"/>
            <a:ext cx="12192000" cy="115172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Residual</a:t>
            </a:r>
            <a:r>
              <a:rPr lang="en-IN" sz="4800" dirty="0"/>
              <a:t> </a:t>
            </a:r>
            <a:r>
              <a:rPr lang="en-IN" sz="4800" b="1" dirty="0">
                <a:solidFill>
                  <a:srgbClr val="48375F"/>
                </a:solidFill>
                <a:latin typeface="Calibri" panose="020F0502020204030204" pitchFamily="34" charset="0"/>
                <a:cs typeface="Calibri" panose="020F0502020204030204" pitchFamily="34" charset="0"/>
              </a:rPr>
              <a:t>Diagnostics</a:t>
            </a:r>
            <a:endParaRPr lang="en-US" sz="4800" b="1" dirty="0">
              <a:solidFill>
                <a:srgbClr val="48375F"/>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AD7B7FB-323C-0E6B-E709-445642D4D7DB}"/>
              </a:ext>
            </a:extLst>
          </p:cNvPr>
          <p:cNvSpPr txBox="1"/>
          <p:nvPr/>
        </p:nvSpPr>
        <p:spPr>
          <a:xfrm>
            <a:off x="1198484" y="5894200"/>
            <a:ext cx="9813392" cy="369332"/>
          </a:xfrm>
          <a:prstGeom prst="rect">
            <a:avLst/>
          </a:prstGeom>
          <a:noFill/>
        </p:spPr>
        <p:txBody>
          <a:bodyPr wrap="none" rtlCol="0">
            <a:spAutoFit/>
          </a:bodyPr>
          <a:lstStyle/>
          <a:p>
            <a:r>
              <a:rPr lang="en-IN" dirty="0">
                <a:solidFill>
                  <a:srgbClr val="48375F"/>
                </a:solidFill>
                <a:latin typeface="Calibri" panose="020F0502020204030204" pitchFamily="34" charset="0"/>
                <a:cs typeface="Calibri" panose="020F0502020204030204" pitchFamily="34" charset="0"/>
              </a:rPr>
              <a:t>Residual spread increases at higher fitted values, showing that prediction uncertainty grows with price.</a:t>
            </a:r>
            <a:endParaRPr lang="en-US" dirty="0">
              <a:solidFill>
                <a:srgbClr val="48375F"/>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270C4EE-B0BC-9BEF-23C9-49F8B46EADC5}"/>
              </a:ext>
            </a:extLst>
          </p:cNvPr>
          <p:cNvPicPr>
            <a:picLocks noChangeAspect="1"/>
          </p:cNvPicPr>
          <p:nvPr/>
        </p:nvPicPr>
        <p:blipFill>
          <a:blip r:embed="rId4"/>
          <a:stretch>
            <a:fillRect/>
          </a:stretch>
        </p:blipFill>
        <p:spPr>
          <a:xfrm>
            <a:off x="245922" y="1140834"/>
            <a:ext cx="11700156" cy="4397066"/>
          </a:xfrm>
          <a:prstGeom prst="rect">
            <a:avLst/>
          </a:prstGeom>
        </p:spPr>
      </p:pic>
    </p:spTree>
    <p:extLst>
      <p:ext uri="{BB962C8B-B14F-4D97-AF65-F5344CB8AC3E}">
        <p14:creationId xmlns:p14="http://schemas.microsoft.com/office/powerpoint/2010/main" val="47636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DAFB8-3BB4-BC78-39C6-E90E78C851C1}"/>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E6577E82-BAC4-D104-A897-DE458F56E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D735F35A-1500-D194-E7C6-FF3DE9E56735}"/>
              </a:ext>
            </a:extLst>
          </p:cNvPr>
          <p:cNvSpPr txBox="1">
            <a:spLocks/>
          </p:cNvSpPr>
          <p:nvPr/>
        </p:nvSpPr>
        <p:spPr>
          <a:xfrm>
            <a:off x="9180" y="-367186"/>
            <a:ext cx="11684000" cy="1151720"/>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Price-Tier Classification Performance</a:t>
            </a:r>
            <a:endParaRPr lang="en-US" sz="4800" b="1" dirty="0">
              <a:solidFill>
                <a:srgbClr val="48375F"/>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3BCB4A9A-701F-26BA-9E72-619285F09E84}"/>
              </a:ext>
            </a:extLst>
          </p:cNvPr>
          <p:cNvSpPr txBox="1"/>
          <p:nvPr/>
        </p:nvSpPr>
        <p:spPr>
          <a:xfrm>
            <a:off x="287868" y="6028266"/>
            <a:ext cx="11684000" cy="646331"/>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The classifier achieves 72.8% accuracy, identifying Budget phones most reliably while showing greater confusion between Mid and Premium tiers.</a:t>
            </a:r>
            <a:endParaRPr lang="en-US" dirty="0">
              <a:solidFill>
                <a:srgbClr val="48375F"/>
              </a:solidFill>
              <a:latin typeface="Calibri" panose="020F0502020204030204" pitchFamily="34" charset="0"/>
              <a:cs typeface="Calibri" panose="020F0502020204030204" pitchFamily="34" charset="0"/>
            </a:endParaRPr>
          </a:p>
        </p:txBody>
      </p:sp>
      <p:pic>
        <p:nvPicPr>
          <p:cNvPr id="5" name="Picture 4" descr="A screenshot of a chart&#10;&#10;AI-generated content may be incorrect.">
            <a:extLst>
              <a:ext uri="{FF2B5EF4-FFF2-40B4-BE49-F238E27FC236}">
                <a16:creationId xmlns:a16="http://schemas.microsoft.com/office/drawing/2014/main" id="{43124963-8501-8D9A-8D01-82782711D14C}"/>
              </a:ext>
            </a:extLst>
          </p:cNvPr>
          <p:cNvPicPr>
            <a:picLocks noChangeAspect="1"/>
          </p:cNvPicPr>
          <p:nvPr/>
        </p:nvPicPr>
        <p:blipFill>
          <a:blip r:embed="rId4"/>
          <a:stretch>
            <a:fillRect/>
          </a:stretch>
        </p:blipFill>
        <p:spPr>
          <a:xfrm>
            <a:off x="3226590" y="1026908"/>
            <a:ext cx="5738819" cy="4624917"/>
          </a:xfrm>
          <a:prstGeom prst="rect">
            <a:avLst/>
          </a:prstGeom>
        </p:spPr>
      </p:pic>
    </p:spTree>
    <p:extLst>
      <p:ext uri="{BB962C8B-B14F-4D97-AF65-F5344CB8AC3E}">
        <p14:creationId xmlns:p14="http://schemas.microsoft.com/office/powerpoint/2010/main" val="3097144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A4C7-8E2C-8E33-7FBB-14EF4EB95F47}"/>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EBAA16C5-7B2D-4403-CA0B-8D897C496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07294500-9D66-2317-F11F-796E079B67B7}"/>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Uncertainty Is Surfaced </a:t>
            </a:r>
          </a:p>
          <a:p>
            <a:r>
              <a:rPr lang="en-US" sz="4800" b="1" dirty="0">
                <a:solidFill>
                  <a:srgbClr val="48375F"/>
                </a:solidFill>
                <a:latin typeface="Calibri" panose="020F0502020204030204" pitchFamily="34" charset="0"/>
                <a:cs typeface="Calibri" panose="020F0502020204030204" pitchFamily="34" charset="0"/>
              </a:rPr>
              <a:t>Alongside Every Prediction, Not Behind It</a:t>
            </a:r>
          </a:p>
        </p:txBody>
      </p:sp>
      <p:sp>
        <p:nvSpPr>
          <p:cNvPr id="4" name="TextBox 3">
            <a:extLst>
              <a:ext uri="{FF2B5EF4-FFF2-40B4-BE49-F238E27FC236}">
                <a16:creationId xmlns:a16="http://schemas.microsoft.com/office/drawing/2014/main" id="{F614777F-5394-4566-07B0-BB1F9F9AEC02}"/>
              </a:ext>
            </a:extLst>
          </p:cNvPr>
          <p:cNvSpPr txBox="1"/>
          <p:nvPr/>
        </p:nvSpPr>
        <p:spPr>
          <a:xfrm>
            <a:off x="1376844" y="1633914"/>
            <a:ext cx="2318583"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WORKED EXAMPLE</a:t>
            </a:r>
            <a:endParaRPr lang="en-US" dirty="0">
              <a:solidFill>
                <a:srgbClr val="48375F"/>
              </a:solidFill>
            </a:endParaRPr>
          </a:p>
        </p:txBody>
      </p:sp>
      <p:sp>
        <p:nvSpPr>
          <p:cNvPr id="5" name="Shape 8">
            <a:extLst>
              <a:ext uri="{FF2B5EF4-FFF2-40B4-BE49-F238E27FC236}">
                <a16:creationId xmlns:a16="http://schemas.microsoft.com/office/drawing/2014/main" id="{6DBDD7C1-8F06-A620-2C1E-C3D75244A0E8}"/>
              </a:ext>
            </a:extLst>
          </p:cNvPr>
          <p:cNvSpPr/>
          <p:nvPr/>
        </p:nvSpPr>
        <p:spPr>
          <a:xfrm>
            <a:off x="138911" y="2086515"/>
            <a:ext cx="5166360" cy="10973"/>
          </a:xfrm>
          <a:prstGeom prst="rect">
            <a:avLst/>
          </a:prstGeom>
          <a:solidFill>
            <a:srgbClr val="0F2748"/>
          </a:solidFill>
          <a:ln w="12700">
            <a:solidFill>
              <a:srgbClr val="333333"/>
            </a:solidFill>
            <a:prstDash val="solid"/>
          </a:ln>
        </p:spPr>
      </p:sp>
      <p:sp>
        <p:nvSpPr>
          <p:cNvPr id="6" name="Shape 2">
            <a:extLst>
              <a:ext uri="{FF2B5EF4-FFF2-40B4-BE49-F238E27FC236}">
                <a16:creationId xmlns:a16="http://schemas.microsoft.com/office/drawing/2014/main" id="{B29A5616-8709-F400-0E8B-8310CDFB83BA}"/>
              </a:ext>
            </a:extLst>
          </p:cNvPr>
          <p:cNvSpPr/>
          <p:nvPr/>
        </p:nvSpPr>
        <p:spPr>
          <a:xfrm>
            <a:off x="339588" y="2344637"/>
            <a:ext cx="4393096" cy="4247316"/>
          </a:xfrm>
          <a:prstGeom prst="roundRect">
            <a:avLst>
              <a:gd name="adj" fmla="val 6957"/>
            </a:avLst>
          </a:prstGeom>
          <a:solidFill>
            <a:srgbClr val="DADBDA"/>
          </a:solidFill>
          <a:ln/>
        </p:spPr>
        <p:txBody>
          <a:bodyPr/>
          <a:lstStyle/>
          <a:p>
            <a:pPr algn="ctr">
              <a:lnSpc>
                <a:spcPts val="1600"/>
              </a:lnSpc>
            </a:pPr>
            <a:r>
              <a:rPr lang="en-US" sz="1600" dirty="0">
                <a:solidFill>
                  <a:srgbClr val="48375F"/>
                </a:solidFill>
                <a:latin typeface="Calibri" panose="020F0502020204030204" pitchFamily="34" charset="0"/>
                <a:ea typeface="Calibri" pitchFamily="34" charset="-122"/>
                <a:cs typeface="Calibri" panose="020F0502020204030204" pitchFamily="34" charset="0"/>
              </a:rPr>
              <a:t>128GB / 6GB RAM  ·  5,000mAh  ·  64MP rear / 16MP front</a:t>
            </a:r>
            <a:r>
              <a:rPr lang="en-US" sz="1600" dirty="0">
                <a:solidFill>
                  <a:srgbClr val="48375F"/>
                </a:solidFill>
                <a:latin typeface="Calibri" panose="020F0502020204030204" pitchFamily="34" charset="0"/>
                <a:cs typeface="Calibri" panose="020F0502020204030204" pitchFamily="34" charset="0"/>
              </a:rPr>
              <a:t> </a:t>
            </a:r>
            <a:r>
              <a:rPr lang="en-US" sz="1600" dirty="0">
                <a:solidFill>
                  <a:srgbClr val="48375F"/>
                </a:solidFill>
                <a:latin typeface="Calibri" panose="020F0502020204030204" pitchFamily="34" charset="0"/>
                <a:ea typeface="Calibri" pitchFamily="34" charset="-122"/>
                <a:cs typeface="Calibri" panose="020F0502020204030204" pitchFamily="34" charset="0"/>
              </a:rPr>
              <a:t>16.7cm screen  ·  Realme  ·  MediaTek  ·  5G</a:t>
            </a:r>
          </a:p>
          <a:p>
            <a:pPr algn="ctr">
              <a:lnSpc>
                <a:spcPts val="1600"/>
              </a:lnSpc>
            </a:pPr>
            <a:endParaRPr lang="en-US" dirty="0">
              <a:solidFill>
                <a:srgbClr val="48375F"/>
              </a:solidFill>
              <a:latin typeface="Calibri" panose="020F0502020204030204" pitchFamily="34" charset="0"/>
              <a:cs typeface="Calibri" panose="020F0502020204030204" pitchFamily="34" charset="0"/>
            </a:endParaRPr>
          </a:p>
          <a:p>
            <a:pPr algn="ctr">
              <a:lnSpc>
                <a:spcPts val="1600"/>
              </a:lnSpc>
            </a:pPr>
            <a:endParaRPr lang="en-US" dirty="0">
              <a:solidFill>
                <a:srgbClr val="48375F"/>
              </a:solidFill>
              <a:latin typeface="Calibri" panose="020F0502020204030204" pitchFamily="34" charset="0"/>
              <a:cs typeface="Calibri" panose="020F0502020204030204" pitchFamily="34" charset="0"/>
            </a:endParaRPr>
          </a:p>
          <a:p>
            <a:pPr algn="ctr"/>
            <a:r>
              <a:rPr lang="en-US" sz="4000" b="1" dirty="0">
                <a:solidFill>
                  <a:srgbClr val="48375F"/>
                </a:solidFill>
                <a:latin typeface="Calibri" panose="020F0502020204030204" pitchFamily="34" charset="0"/>
                <a:ea typeface="Cambria" pitchFamily="34" charset="-122"/>
                <a:cs typeface="Calibri" panose="020F0502020204030204" pitchFamily="34" charset="0"/>
              </a:rPr>
              <a:t>₹19,993</a:t>
            </a:r>
            <a:endParaRPr lang="en-US" sz="2800" dirty="0">
              <a:solidFill>
                <a:srgbClr val="48375F"/>
              </a:solidFill>
              <a:latin typeface="Calibri" panose="020F0502020204030204" pitchFamily="34" charset="0"/>
              <a:cs typeface="Calibri" panose="020F0502020204030204" pitchFamily="34" charset="0"/>
            </a:endParaRPr>
          </a:p>
          <a:p>
            <a:pPr algn="ctr"/>
            <a:r>
              <a:rPr lang="en-US" dirty="0">
                <a:solidFill>
                  <a:srgbClr val="48375F"/>
                </a:solidFill>
                <a:latin typeface="Calibri" panose="020F0502020204030204" pitchFamily="34" charset="0"/>
                <a:ea typeface="Calibri" pitchFamily="34" charset="-122"/>
                <a:cs typeface="Calibri" panose="020F0502020204030204" pitchFamily="34" charset="0"/>
              </a:rPr>
              <a:t>Model point estimate</a:t>
            </a:r>
          </a:p>
          <a:p>
            <a:pPr algn="ctr"/>
            <a:endParaRPr lang="en-US" dirty="0">
              <a:solidFill>
                <a:srgbClr val="48375F"/>
              </a:solidFill>
              <a:latin typeface="Calibri" panose="020F0502020204030204" pitchFamily="34" charset="0"/>
              <a:ea typeface="Calibri" pitchFamily="34" charset="-122"/>
              <a:cs typeface="Calibri" panose="020F0502020204030204" pitchFamily="34" charset="0"/>
            </a:endParaRPr>
          </a:p>
          <a:p>
            <a:pPr algn="ctr"/>
            <a:r>
              <a:rPr lang="en-US" sz="3200" b="1" dirty="0">
                <a:solidFill>
                  <a:srgbClr val="48375F"/>
                </a:solidFill>
                <a:latin typeface="Calibri" panose="020F0502020204030204" pitchFamily="34" charset="0"/>
                <a:ea typeface="Cambria" pitchFamily="34" charset="-122"/>
                <a:cs typeface="Calibri" panose="020F0502020204030204" pitchFamily="34" charset="0"/>
              </a:rPr>
              <a:t>₹16,786 – ₹23,199</a:t>
            </a:r>
          </a:p>
          <a:p>
            <a:pPr algn="ctr"/>
            <a:endParaRPr lang="en-US" b="1" dirty="0">
              <a:solidFill>
                <a:srgbClr val="48375F"/>
              </a:solidFill>
              <a:latin typeface="Calibri" panose="020F0502020204030204" pitchFamily="34" charset="0"/>
              <a:cs typeface="Calibri" panose="020F0502020204030204" pitchFamily="34" charset="0"/>
            </a:endParaRPr>
          </a:p>
          <a:p>
            <a:pPr algn="ctr"/>
            <a:r>
              <a:rPr lang="en-US" sz="1600" i="1" dirty="0">
                <a:solidFill>
                  <a:srgbClr val="48375F"/>
                </a:solidFill>
                <a:latin typeface="Calibri" panose="020F0502020204030204" pitchFamily="34" charset="0"/>
                <a:ea typeface="Calibri" pitchFamily="34" charset="-122"/>
                <a:cs typeface="Calibri" panose="020F0502020204030204" pitchFamily="34" charset="0"/>
              </a:rPr>
              <a:t>Illustrative global error reference (point estimate ± held-out MAE of ₹3,206). This is not a calibrated prediction interval and should not be quoted as one.</a:t>
            </a:r>
            <a:endParaRPr lang="en-US" sz="1600" dirty="0">
              <a:solidFill>
                <a:srgbClr val="48375F"/>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66A6978-A785-1AE4-E711-A3881A528B2E}"/>
              </a:ext>
            </a:extLst>
          </p:cNvPr>
          <p:cNvSpPr txBox="1"/>
          <p:nvPr/>
        </p:nvSpPr>
        <p:spPr>
          <a:xfrm>
            <a:off x="6174752" y="1633914"/>
            <a:ext cx="5567871"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CONFIDENCE SIGNALS SHOWN PER PREDICTION</a:t>
            </a:r>
            <a:endParaRPr lang="en-US" dirty="0">
              <a:solidFill>
                <a:srgbClr val="48375F"/>
              </a:solidFill>
            </a:endParaRPr>
          </a:p>
        </p:txBody>
      </p:sp>
      <p:sp>
        <p:nvSpPr>
          <p:cNvPr id="9" name="Shape 17">
            <a:extLst>
              <a:ext uri="{FF2B5EF4-FFF2-40B4-BE49-F238E27FC236}">
                <a16:creationId xmlns:a16="http://schemas.microsoft.com/office/drawing/2014/main" id="{E567E518-31B8-FA6D-0941-9811CA93B1B6}"/>
              </a:ext>
            </a:extLst>
          </p:cNvPr>
          <p:cNvSpPr/>
          <p:nvPr/>
        </p:nvSpPr>
        <p:spPr>
          <a:xfrm>
            <a:off x="6284068" y="2059229"/>
            <a:ext cx="5349240" cy="10973"/>
          </a:xfrm>
          <a:prstGeom prst="rect">
            <a:avLst/>
          </a:prstGeom>
          <a:solidFill>
            <a:srgbClr val="0F2748"/>
          </a:solidFill>
          <a:ln w="12700">
            <a:solidFill>
              <a:srgbClr val="333333"/>
            </a:solidFill>
            <a:prstDash val="solid"/>
          </a:ln>
        </p:spPr>
      </p:sp>
      <p:sp>
        <p:nvSpPr>
          <p:cNvPr id="10" name="TextBox 9">
            <a:extLst>
              <a:ext uri="{FF2B5EF4-FFF2-40B4-BE49-F238E27FC236}">
                <a16:creationId xmlns:a16="http://schemas.microsoft.com/office/drawing/2014/main" id="{3187EDB6-FD17-7DA8-E91C-CADAEEFB172B}"/>
              </a:ext>
            </a:extLst>
          </p:cNvPr>
          <p:cNvSpPr txBox="1"/>
          <p:nvPr/>
        </p:nvSpPr>
        <p:spPr>
          <a:xfrm>
            <a:off x="6284068" y="2407640"/>
            <a:ext cx="5748905" cy="4247317"/>
          </a:xfrm>
          <a:prstGeom prst="rect">
            <a:avLst/>
          </a:prstGeom>
          <a:noFill/>
        </p:spPr>
        <p:txBody>
          <a:bodyPr wrap="square" rtlCol="0">
            <a:spAutoFit/>
          </a:bodyPr>
          <a:lstStyle/>
          <a:p>
            <a:r>
              <a:rPr lang="en-US" b="1" dirty="0">
                <a:solidFill>
                  <a:srgbClr val="48375F"/>
                </a:solidFill>
                <a:latin typeface="Calibri" panose="020F0502020204030204" pitchFamily="34" charset="0"/>
                <a:cs typeface="Calibri" panose="020F0502020204030204" pitchFamily="34" charset="0"/>
              </a:rPr>
              <a:t>Tree-disagreement range</a:t>
            </a:r>
          </a:p>
          <a:p>
            <a:r>
              <a:rPr lang="en-US" dirty="0">
                <a:solidFill>
                  <a:srgbClr val="48375F"/>
                </a:solidFill>
                <a:latin typeface="Calibri" panose="020F0502020204030204" pitchFamily="34" charset="0"/>
                <a:cs typeface="Calibri" panose="020F0502020204030204" pitchFamily="34" charset="0"/>
              </a:rPr>
              <a:t>5th–95th percentile spread of predictions across the forest's individual trees.</a:t>
            </a:r>
          </a:p>
          <a:p>
            <a:endParaRPr lang="en-US" dirty="0">
              <a:solidFill>
                <a:srgbClr val="48375F"/>
              </a:solidFill>
              <a:latin typeface="Calibri" panose="020F0502020204030204" pitchFamily="34" charset="0"/>
              <a:cs typeface="Calibri" panose="020F0502020204030204" pitchFamily="34" charset="0"/>
            </a:endParaRPr>
          </a:p>
          <a:p>
            <a:r>
              <a:rPr lang="en-US" b="1" dirty="0">
                <a:solidFill>
                  <a:srgbClr val="48375F"/>
                </a:solidFill>
                <a:latin typeface="Calibri" panose="020F0502020204030204" pitchFamily="34" charset="0"/>
                <a:cs typeface="Calibri" panose="020F0502020204030204" pitchFamily="34" charset="0"/>
              </a:rPr>
              <a:t>Low-support warnings</a:t>
            </a:r>
          </a:p>
          <a:p>
            <a:r>
              <a:rPr lang="en-US" dirty="0">
                <a:solidFill>
                  <a:srgbClr val="48375F"/>
                </a:solidFill>
                <a:latin typeface="Calibri" panose="020F0502020204030204" pitchFamily="34" charset="0"/>
                <a:cs typeface="Calibri" panose="020F0502020204030204" pitchFamily="34" charset="0"/>
              </a:rPr>
              <a:t>Brand, Memory × RAM and Brand × Processor combinations below sample thresholds are flagged at the point of use.</a:t>
            </a:r>
          </a:p>
          <a:p>
            <a:endParaRPr lang="en-US" dirty="0">
              <a:solidFill>
                <a:srgbClr val="48375F"/>
              </a:solidFill>
              <a:latin typeface="Calibri" panose="020F0502020204030204" pitchFamily="34" charset="0"/>
              <a:cs typeface="Calibri" panose="020F0502020204030204" pitchFamily="34" charset="0"/>
            </a:endParaRPr>
          </a:p>
          <a:p>
            <a:r>
              <a:rPr lang="en-US" b="1" dirty="0">
                <a:solidFill>
                  <a:srgbClr val="48375F"/>
                </a:solidFill>
                <a:latin typeface="Calibri" panose="020F0502020204030204" pitchFamily="34" charset="0"/>
                <a:cs typeface="Calibri" panose="020F0502020204030204" pitchFamily="34" charset="0"/>
              </a:rPr>
              <a:t>Range check</a:t>
            </a:r>
          </a:p>
          <a:p>
            <a:r>
              <a:rPr lang="en-US" dirty="0">
                <a:solidFill>
                  <a:srgbClr val="48375F"/>
                </a:solidFill>
                <a:latin typeface="Calibri" panose="020F0502020204030204" pitchFamily="34" charset="0"/>
                <a:cs typeface="Calibri" panose="020F0502020204030204" pitchFamily="34" charset="0"/>
              </a:rPr>
              <a:t>Inputs falling outside the observed training range are called out explicitly rather than extrapolated silently.</a:t>
            </a:r>
          </a:p>
          <a:p>
            <a:endParaRPr lang="en-US" dirty="0">
              <a:solidFill>
                <a:srgbClr val="48375F"/>
              </a:solidFill>
              <a:latin typeface="Calibri" panose="020F0502020204030204" pitchFamily="34" charset="0"/>
              <a:cs typeface="Calibri" panose="020F0502020204030204" pitchFamily="34" charset="0"/>
            </a:endParaRPr>
          </a:p>
          <a:p>
            <a:r>
              <a:rPr lang="en-US" b="1" dirty="0">
                <a:solidFill>
                  <a:srgbClr val="48375F"/>
                </a:solidFill>
                <a:latin typeface="Calibri" panose="020F0502020204030204" pitchFamily="34" charset="0"/>
                <a:cs typeface="Calibri" panose="020F0502020204030204" pitchFamily="34" charset="0"/>
              </a:rPr>
              <a:t>Flagged-cluster caution</a:t>
            </a:r>
          </a:p>
          <a:p>
            <a:r>
              <a:rPr lang="en-US" dirty="0">
                <a:solidFill>
                  <a:srgbClr val="48375F"/>
                </a:solidFill>
                <a:latin typeface="Calibri" panose="020F0502020204030204" pitchFamily="34" charset="0"/>
                <a:cs typeface="Calibri" panose="020F0502020204030204" pitchFamily="34" charset="0"/>
              </a:rPr>
              <a:t>A dedicated warning where a device resembles the hardest-to-predict segment identified on p. 10.</a:t>
            </a:r>
          </a:p>
        </p:txBody>
      </p:sp>
      <p:cxnSp>
        <p:nvCxnSpPr>
          <p:cNvPr id="12" name="Straight Connector 11">
            <a:extLst>
              <a:ext uri="{FF2B5EF4-FFF2-40B4-BE49-F238E27FC236}">
                <a16:creationId xmlns:a16="http://schemas.microsoft.com/office/drawing/2014/main" id="{5A9CBDEA-8135-E682-C566-82A7181B12D9}"/>
              </a:ext>
            </a:extLst>
          </p:cNvPr>
          <p:cNvCxnSpPr/>
          <p:nvPr/>
        </p:nvCxnSpPr>
        <p:spPr>
          <a:xfrm>
            <a:off x="661481" y="3312267"/>
            <a:ext cx="363814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7379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74D2-B473-1B68-B90A-0B501BEA7CC5}"/>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1D45E7AC-5254-C128-B259-A9DBEAAD5D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5FF7295C-E9AC-8972-7E63-377C1F706906}"/>
              </a:ext>
            </a:extLst>
          </p:cNvPr>
          <p:cNvSpPr txBox="1">
            <a:spLocks/>
          </p:cNvSpPr>
          <p:nvPr/>
        </p:nvSpPr>
        <p:spPr>
          <a:xfrm>
            <a:off x="0" y="-18659"/>
            <a:ext cx="12192000" cy="808368"/>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Memory Sensitivity Analysis</a:t>
            </a:r>
            <a:endParaRPr lang="en-US" sz="4800" b="1" dirty="0">
              <a:solidFill>
                <a:srgbClr val="48375F"/>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5600E135-5532-03B0-95D2-38122E24026D}"/>
              </a:ext>
            </a:extLst>
          </p:cNvPr>
          <p:cNvPicPr>
            <a:picLocks noChangeAspect="1"/>
          </p:cNvPicPr>
          <p:nvPr/>
        </p:nvPicPr>
        <p:blipFill>
          <a:blip r:embed="rId4"/>
          <a:stretch>
            <a:fillRect/>
          </a:stretch>
        </p:blipFill>
        <p:spPr>
          <a:xfrm>
            <a:off x="1581150" y="935725"/>
            <a:ext cx="9029700" cy="4986550"/>
          </a:xfrm>
          <a:prstGeom prst="rect">
            <a:avLst/>
          </a:prstGeom>
        </p:spPr>
      </p:pic>
      <p:sp>
        <p:nvSpPr>
          <p:cNvPr id="11" name="TextBox 10">
            <a:extLst>
              <a:ext uri="{FF2B5EF4-FFF2-40B4-BE49-F238E27FC236}">
                <a16:creationId xmlns:a16="http://schemas.microsoft.com/office/drawing/2014/main" id="{E4D9FD95-48C1-CDF3-1EF3-716C479AD8CF}"/>
              </a:ext>
            </a:extLst>
          </p:cNvPr>
          <p:cNvSpPr txBox="1"/>
          <p:nvPr/>
        </p:nvSpPr>
        <p:spPr>
          <a:xfrm>
            <a:off x="176646" y="6068291"/>
            <a:ext cx="11650625" cy="369332"/>
          </a:xfrm>
          <a:prstGeom prst="rect">
            <a:avLst/>
          </a:prstGeom>
          <a:noFill/>
        </p:spPr>
        <p:txBody>
          <a:bodyPr wrap="none" rtlCol="0">
            <a:spAutoFit/>
          </a:bodyPr>
          <a:lstStyle/>
          <a:p>
            <a:r>
              <a:rPr lang="en-IN" dirty="0">
                <a:solidFill>
                  <a:srgbClr val="48375F"/>
                </a:solidFill>
                <a:latin typeface="Calibri" panose="020F0502020204030204" pitchFamily="34" charset="0"/>
                <a:cs typeface="Calibri" panose="020F0502020204030204" pitchFamily="34" charset="0"/>
              </a:rPr>
              <a:t>Predicted price generally increases with Memory, but the size of the increase depends on the device’s other specifications.</a:t>
            </a:r>
            <a:endParaRPr lang="en-US"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7626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0FDA-BE1F-8169-C0D0-977D1440D785}"/>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3E877FD1-1D7D-BDCF-C729-806D88784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3250DBB3-9BC6-F839-33E6-91BF3A3559E6}"/>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Eleven Questions, </a:t>
            </a:r>
          </a:p>
          <a:p>
            <a:r>
              <a:rPr lang="en-US" sz="4800" b="1" dirty="0">
                <a:solidFill>
                  <a:srgbClr val="48375F"/>
                </a:solidFill>
                <a:latin typeface="Calibri" panose="020F0502020204030204" pitchFamily="34" charset="0"/>
                <a:cs typeface="Calibri" panose="020F0502020204030204" pitchFamily="34" charset="0"/>
              </a:rPr>
              <a:t>Answered From the Evidence</a:t>
            </a:r>
          </a:p>
        </p:txBody>
      </p:sp>
      <p:sp>
        <p:nvSpPr>
          <p:cNvPr id="4" name="TextBox 3">
            <a:extLst>
              <a:ext uri="{FF2B5EF4-FFF2-40B4-BE49-F238E27FC236}">
                <a16:creationId xmlns:a16="http://schemas.microsoft.com/office/drawing/2014/main" id="{F6A153C5-2EC4-FA07-2173-32811D3D5DBB}"/>
              </a:ext>
            </a:extLst>
          </p:cNvPr>
          <p:cNvSpPr txBox="1"/>
          <p:nvPr/>
        </p:nvSpPr>
        <p:spPr>
          <a:xfrm>
            <a:off x="0" y="6527284"/>
            <a:ext cx="12192000" cy="307777"/>
          </a:xfrm>
          <a:prstGeom prst="rect">
            <a:avLst/>
          </a:prstGeom>
          <a:noFill/>
        </p:spPr>
        <p:txBody>
          <a:bodyPr wrap="square" rtlCol="0">
            <a:spAutoFit/>
          </a:bodyPr>
          <a:lstStyle/>
          <a:p>
            <a:pPr algn="ctr"/>
            <a:r>
              <a:rPr lang="en-US" sz="1400" i="1" dirty="0">
                <a:solidFill>
                  <a:srgbClr val="48375F"/>
                </a:solidFill>
                <a:latin typeface="Calibri" panose="020F0502020204030204" pitchFamily="34" charset="0"/>
                <a:ea typeface="Calibri" pitchFamily="34" charset="-122"/>
                <a:cs typeface="Calibri" panose="020F0502020204030204" pitchFamily="34" charset="0"/>
              </a:rPr>
              <a:t>All relationships reported are statistical associations, not established causal effects; findings resting on fewer than ten observations are flagged as directional.</a:t>
            </a:r>
            <a:endParaRPr lang="en-US" sz="1400" i="1" dirty="0">
              <a:solidFill>
                <a:srgbClr val="48375F"/>
              </a:solidFill>
              <a:latin typeface="Calibri" panose="020F0502020204030204" pitchFamily="34" charset="0"/>
              <a:cs typeface="Calibri" panose="020F0502020204030204" pitchFamily="34" charset="0"/>
            </a:endParaRPr>
          </a:p>
        </p:txBody>
      </p:sp>
      <p:sp>
        <p:nvSpPr>
          <p:cNvPr id="10" name="Shape 2">
            <a:extLst>
              <a:ext uri="{FF2B5EF4-FFF2-40B4-BE49-F238E27FC236}">
                <a16:creationId xmlns:a16="http://schemas.microsoft.com/office/drawing/2014/main" id="{16CB33D8-8C00-A694-096B-89E356E36DBC}"/>
              </a:ext>
            </a:extLst>
          </p:cNvPr>
          <p:cNvSpPr/>
          <p:nvPr/>
        </p:nvSpPr>
        <p:spPr>
          <a:xfrm>
            <a:off x="179954" y="1496585"/>
            <a:ext cx="11832092" cy="4916657"/>
          </a:xfrm>
          <a:prstGeom prst="roundRect">
            <a:avLst>
              <a:gd name="adj" fmla="val 6957"/>
            </a:avLst>
          </a:prstGeom>
          <a:solidFill>
            <a:srgbClr val="DADBDA"/>
          </a:solidFill>
          <a:ln/>
        </p:spPr>
        <p:txBody>
          <a:bodyPr/>
          <a:lstStyle/>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Q1. Specifications account for 68.4% of impurity-based importance; brand's marginal contribution once specs are known is 0.020.</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Q2. Among 128GB+ devices, Apple averages 3.47× Samsung and 4.68× Realme — on three Apple listings, so directional only.</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Q3. Memory × RAM interact sub-additively; the interaction is statistically confirmed (coefficient −0.0246, p = 0.017).</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Q4. Budget separates cleanly (F1 = 0.91); Flagship 0.73, Premium 0.66 and Mid 0.65 are materially less distinct.</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Q5. Qualcomm devices average ₹20,777 against MediaTek's ₹14,738 — 41.0% higher, but confounded with brand mix.</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Q6. The flagged cluster is ~1% of test rows but drives 4.6% of total absolute model error.</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Q7. Front camera carries ≈₹620/MP against ≈₹139/MP for the rear camera, where 257 of 531 listings ship 50MP.</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Q8. A 10-feature lite model retains 97.5% of cross-validated R²; the 0.017 gap sits inside the model's own 0.073 fold-to-fold noise.</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Q9. Worked example returns a ₹19,993 point estimate within a ₹16,786–₹23,199 illustrative range.</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Q10. The ceteris-paribus 5G simulation gives 41.0% (range 18.2–64.5%) — a modelled response, not a causal market effect.</a:t>
            </a:r>
            <a:endParaRPr lang="en-IN"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ü"/>
            </a:pPr>
            <a:r>
              <a:rPr lang="en-US" dirty="0">
                <a:solidFill>
                  <a:srgbClr val="48375F"/>
                </a:solidFill>
                <a:latin typeface="Calibri" panose="020F0502020204030204" pitchFamily="34" charset="0"/>
                <a:cs typeface="Calibri" panose="020F0502020204030204" pitchFamily="34" charset="0"/>
              </a:rPr>
              <a:t>Q11. Synthesis — specifications carry most of the predictive information overall, while brand-level differences remain visible in the higher-priced subsets. Developed on the following page. </a:t>
            </a:r>
            <a:endParaRPr lang="en-IN"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0860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1FDF-7E3A-E7A1-DDEE-F6972C576329}"/>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FE257EB8-8830-AA5D-E014-8D7C10E32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D38847DC-BDD8-7974-EA6D-D427CC673387}"/>
              </a:ext>
            </a:extLst>
          </p:cNvPr>
          <p:cNvSpPr txBox="1">
            <a:spLocks/>
          </p:cNvSpPr>
          <p:nvPr/>
        </p:nvSpPr>
        <p:spPr>
          <a:xfrm>
            <a:off x="0" y="-18659"/>
            <a:ext cx="10837333" cy="730374"/>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800" b="1" dirty="0">
                <a:solidFill>
                  <a:srgbClr val="48375F"/>
                </a:solidFill>
                <a:latin typeface="Calibri" panose="020F0502020204030204" pitchFamily="34" charset="0"/>
                <a:cs typeface="Calibri" panose="020F0502020204030204" pitchFamily="34" charset="0"/>
              </a:rPr>
              <a:t>Visual Evidence Behind the Key Questions</a:t>
            </a:r>
            <a:endParaRPr lang="en-US" sz="4800" b="1" dirty="0">
              <a:solidFill>
                <a:srgbClr val="48375F"/>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DBFC6EE-3479-93EF-6714-6FE3437DE61C}"/>
              </a:ext>
            </a:extLst>
          </p:cNvPr>
          <p:cNvSpPr txBox="1"/>
          <p:nvPr/>
        </p:nvSpPr>
        <p:spPr>
          <a:xfrm>
            <a:off x="0" y="6527284"/>
            <a:ext cx="12192000" cy="307777"/>
          </a:xfrm>
          <a:prstGeom prst="rect">
            <a:avLst/>
          </a:prstGeom>
          <a:noFill/>
        </p:spPr>
        <p:txBody>
          <a:bodyPr wrap="square" rtlCol="0">
            <a:spAutoFit/>
          </a:bodyPr>
          <a:lstStyle/>
          <a:p>
            <a:pPr algn="ctr"/>
            <a:r>
              <a:rPr lang="en-US" sz="1400" i="1" dirty="0">
                <a:solidFill>
                  <a:srgbClr val="48375F"/>
                </a:solidFill>
                <a:latin typeface="Calibri" panose="020F0502020204030204" pitchFamily="34" charset="0"/>
                <a:ea typeface="Calibri" pitchFamily="34" charset="-122"/>
                <a:cs typeface="Calibri" panose="020F0502020204030204" pitchFamily="34" charset="0"/>
              </a:rPr>
              <a:t>All relationships reported are statistical associations, not established causal effects; findings resting on fewer than ten observations are flagged as directional.</a:t>
            </a:r>
            <a:endParaRPr lang="en-US" sz="1400" i="1" dirty="0">
              <a:solidFill>
                <a:srgbClr val="48375F"/>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5EE2F3C-0BAD-773C-9934-6D6442D2FE44}"/>
              </a:ext>
            </a:extLst>
          </p:cNvPr>
          <p:cNvPicPr>
            <a:picLocks noChangeAspect="1"/>
          </p:cNvPicPr>
          <p:nvPr/>
        </p:nvPicPr>
        <p:blipFill>
          <a:blip r:embed="rId4"/>
          <a:stretch>
            <a:fillRect/>
          </a:stretch>
        </p:blipFill>
        <p:spPr>
          <a:xfrm>
            <a:off x="1382953" y="1050606"/>
            <a:ext cx="4848514" cy="2648810"/>
          </a:xfrm>
          <a:prstGeom prst="rect">
            <a:avLst/>
          </a:prstGeom>
        </p:spPr>
      </p:pic>
      <p:pic>
        <p:nvPicPr>
          <p:cNvPr id="6" name="Picture 5">
            <a:extLst>
              <a:ext uri="{FF2B5EF4-FFF2-40B4-BE49-F238E27FC236}">
                <a16:creationId xmlns:a16="http://schemas.microsoft.com/office/drawing/2014/main" id="{6DAD108C-8A02-9D54-33C1-4CE99C8A7559}"/>
              </a:ext>
            </a:extLst>
          </p:cNvPr>
          <p:cNvPicPr>
            <a:picLocks noChangeAspect="1"/>
          </p:cNvPicPr>
          <p:nvPr/>
        </p:nvPicPr>
        <p:blipFill>
          <a:blip r:embed="rId5"/>
          <a:stretch>
            <a:fillRect/>
          </a:stretch>
        </p:blipFill>
        <p:spPr>
          <a:xfrm>
            <a:off x="6986952" y="3799139"/>
            <a:ext cx="3210773" cy="2389254"/>
          </a:xfrm>
          <a:prstGeom prst="rect">
            <a:avLst/>
          </a:prstGeom>
        </p:spPr>
      </p:pic>
      <p:pic>
        <p:nvPicPr>
          <p:cNvPr id="7" name="Picture 6">
            <a:extLst>
              <a:ext uri="{FF2B5EF4-FFF2-40B4-BE49-F238E27FC236}">
                <a16:creationId xmlns:a16="http://schemas.microsoft.com/office/drawing/2014/main" id="{2CA908F1-80B1-6822-861E-827B44BF0BB9}"/>
              </a:ext>
            </a:extLst>
          </p:cNvPr>
          <p:cNvPicPr>
            <a:picLocks noChangeAspect="1"/>
          </p:cNvPicPr>
          <p:nvPr/>
        </p:nvPicPr>
        <p:blipFill>
          <a:blip r:embed="rId6"/>
          <a:stretch>
            <a:fillRect/>
          </a:stretch>
        </p:blipFill>
        <p:spPr>
          <a:xfrm>
            <a:off x="1362155" y="3799139"/>
            <a:ext cx="4869312" cy="2389187"/>
          </a:xfrm>
          <a:prstGeom prst="rect">
            <a:avLst/>
          </a:prstGeom>
        </p:spPr>
      </p:pic>
      <p:pic>
        <p:nvPicPr>
          <p:cNvPr id="8" name="Picture 7">
            <a:extLst>
              <a:ext uri="{FF2B5EF4-FFF2-40B4-BE49-F238E27FC236}">
                <a16:creationId xmlns:a16="http://schemas.microsoft.com/office/drawing/2014/main" id="{1897707B-C070-131A-77CC-32C8A67D94C2}"/>
              </a:ext>
            </a:extLst>
          </p:cNvPr>
          <p:cNvPicPr>
            <a:picLocks noChangeAspect="1"/>
          </p:cNvPicPr>
          <p:nvPr/>
        </p:nvPicPr>
        <p:blipFill>
          <a:blip r:embed="rId7"/>
          <a:stretch>
            <a:fillRect/>
          </a:stretch>
        </p:blipFill>
        <p:spPr>
          <a:xfrm>
            <a:off x="6338616" y="1050606"/>
            <a:ext cx="4498717" cy="2665623"/>
          </a:xfrm>
          <a:prstGeom prst="rect">
            <a:avLst/>
          </a:prstGeom>
        </p:spPr>
      </p:pic>
      <p:sp>
        <p:nvSpPr>
          <p:cNvPr id="9" name="TextBox 8">
            <a:extLst>
              <a:ext uri="{FF2B5EF4-FFF2-40B4-BE49-F238E27FC236}">
                <a16:creationId xmlns:a16="http://schemas.microsoft.com/office/drawing/2014/main" id="{A8E68C9C-6441-6A22-8DE5-C70EA22210A2}"/>
              </a:ext>
            </a:extLst>
          </p:cNvPr>
          <p:cNvSpPr txBox="1"/>
          <p:nvPr/>
        </p:nvSpPr>
        <p:spPr>
          <a:xfrm>
            <a:off x="0" y="1899762"/>
            <a:ext cx="985847" cy="923330"/>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Main Price Drivers</a:t>
            </a:r>
            <a:endParaRPr lang="en-US" dirty="0">
              <a:solidFill>
                <a:srgbClr val="48375F"/>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355B256C-45E9-4404-C5D3-CA3D8AD6DBF0}"/>
              </a:ext>
            </a:extLst>
          </p:cNvPr>
          <p:cNvSpPr txBox="1"/>
          <p:nvPr/>
        </p:nvSpPr>
        <p:spPr>
          <a:xfrm>
            <a:off x="10888133" y="1899762"/>
            <a:ext cx="1303867" cy="923330"/>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Processor and 5G Differences</a:t>
            </a:r>
            <a:endParaRPr lang="en-US" dirty="0">
              <a:solidFill>
                <a:srgbClr val="48375F"/>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35738656-9E69-3DB5-DE94-708D0B41AAFF}"/>
              </a:ext>
            </a:extLst>
          </p:cNvPr>
          <p:cNvSpPr txBox="1"/>
          <p:nvPr/>
        </p:nvSpPr>
        <p:spPr>
          <a:xfrm>
            <a:off x="0" y="4716734"/>
            <a:ext cx="1270000" cy="923330"/>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Memory–RAM Joint Effect</a:t>
            </a:r>
            <a:endParaRPr lang="en-US" dirty="0">
              <a:solidFill>
                <a:srgbClr val="48375F"/>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BC001B2-9B93-91AA-745E-DA13D7B97E26}"/>
              </a:ext>
            </a:extLst>
          </p:cNvPr>
          <p:cNvSpPr txBox="1"/>
          <p:nvPr/>
        </p:nvSpPr>
        <p:spPr>
          <a:xfrm>
            <a:off x="10558515" y="4283181"/>
            <a:ext cx="1520142" cy="1200329"/>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Model Validation: Predicted vs Actual</a:t>
            </a:r>
            <a:endParaRPr lang="en-US"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0528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B2F8-DC32-4C5F-CF95-1543BF6AE647}"/>
            </a:ext>
          </a:extLst>
        </p:cNvPr>
        <p:cNvGrpSpPr/>
        <p:nvPr/>
      </p:nvGrpSpPr>
      <p:grpSpPr>
        <a:xfrm>
          <a:off x="0" y="0"/>
          <a:ext cx="0" cy="0"/>
          <a:chOff x="0" y="0"/>
          <a:chExt cx="0" cy="0"/>
        </a:xfrm>
      </p:grpSpPr>
      <p:pic>
        <p:nvPicPr>
          <p:cNvPr id="5" name="Picture 2" descr="logo">
            <a:extLst>
              <a:ext uri="{FF2B5EF4-FFF2-40B4-BE49-F238E27FC236}">
                <a16:creationId xmlns:a16="http://schemas.microsoft.com/office/drawing/2014/main" id="{D411852C-9AD2-FF9B-D904-60FC6485D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3653802-C08C-DC8F-5FE3-7D671D0BC86D}"/>
              </a:ext>
            </a:extLst>
          </p:cNvPr>
          <p:cNvSpPr txBox="1"/>
          <p:nvPr/>
        </p:nvSpPr>
        <p:spPr>
          <a:xfrm>
            <a:off x="1969025" y="6507334"/>
            <a:ext cx="8104656" cy="307777"/>
          </a:xfrm>
          <a:prstGeom prst="rect">
            <a:avLst/>
          </a:prstGeom>
          <a:noFill/>
        </p:spPr>
        <p:txBody>
          <a:bodyPr wrap="square" rtlCol="0">
            <a:spAutoFit/>
          </a:bodyPr>
          <a:lstStyle/>
          <a:p>
            <a:r>
              <a:rPr lang="en-US" sz="1400" i="1" dirty="0">
                <a:solidFill>
                  <a:srgbClr val="48375F"/>
                </a:solidFill>
                <a:latin typeface="Calibri" panose="020F0502020204030204" pitchFamily="34" charset="0"/>
                <a:ea typeface="Calibri" pitchFamily="34" charset="-122"/>
                <a:cs typeface="Calibri" panose="020F0502020204030204" pitchFamily="34" charset="0"/>
              </a:rPr>
              <a:t>Error contribution measured on the held-out test split; cluster represents approximately 1% of test rows.</a:t>
            </a:r>
            <a:endParaRPr lang="en-US" sz="1400" i="1" dirty="0">
              <a:solidFill>
                <a:srgbClr val="48375F"/>
              </a:solidFill>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6ADFBB3E-420F-8B22-5DDF-797EC75B9ECF}"/>
              </a:ext>
            </a:extLst>
          </p:cNvPr>
          <p:cNvSpPr txBox="1">
            <a:spLocks/>
          </p:cNvSpPr>
          <p:nvPr/>
        </p:nvSpPr>
        <p:spPr>
          <a:xfrm>
            <a:off x="0" y="-10886"/>
            <a:ext cx="12192000" cy="134790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ea typeface="Cambria" pitchFamily="34" charset="-122"/>
                <a:cs typeface="Calibri" panose="020F0502020204030204" pitchFamily="34" charset="0"/>
              </a:rPr>
              <a:t>A 15-Listing Cluster Drives a </a:t>
            </a:r>
          </a:p>
          <a:p>
            <a:r>
              <a:rPr lang="en-US" sz="4800" b="1" dirty="0">
                <a:solidFill>
                  <a:srgbClr val="48375F"/>
                </a:solidFill>
                <a:latin typeface="Calibri" panose="020F0502020204030204" pitchFamily="34" charset="0"/>
                <a:ea typeface="Cambria" pitchFamily="34" charset="-122"/>
                <a:cs typeface="Calibri" panose="020F0502020204030204" pitchFamily="34" charset="0"/>
              </a:rPr>
              <a:t>Disproportionate Share of Model Error</a:t>
            </a:r>
            <a:endParaRPr lang="en-US" sz="4800" dirty="0">
              <a:solidFill>
                <a:srgbClr val="48375F"/>
              </a:solidFill>
              <a:latin typeface="Calibri" panose="020F0502020204030204" pitchFamily="34" charset="0"/>
              <a:cs typeface="Calibri" panose="020F0502020204030204" pitchFamily="34" charset="0"/>
            </a:endParaRPr>
          </a:p>
        </p:txBody>
      </p:sp>
      <p:sp>
        <p:nvSpPr>
          <p:cNvPr id="7" name="Shape 2">
            <a:extLst>
              <a:ext uri="{FF2B5EF4-FFF2-40B4-BE49-F238E27FC236}">
                <a16:creationId xmlns:a16="http://schemas.microsoft.com/office/drawing/2014/main" id="{F7FC7EDD-16BC-C889-9E74-87F3532F2002}"/>
              </a:ext>
            </a:extLst>
          </p:cNvPr>
          <p:cNvSpPr/>
          <p:nvPr/>
        </p:nvSpPr>
        <p:spPr>
          <a:xfrm>
            <a:off x="670492" y="4069255"/>
            <a:ext cx="2586801" cy="2270508"/>
          </a:xfrm>
          <a:prstGeom prst="roundRect">
            <a:avLst>
              <a:gd name="adj" fmla="val 6957"/>
            </a:avLst>
          </a:prstGeom>
          <a:solidFill>
            <a:srgbClr val="DADBDA"/>
          </a:solidFill>
          <a:ln/>
        </p:spPr>
        <p:txBody>
          <a:bodyPr/>
          <a:lstStyle/>
          <a:p>
            <a:pPr algn="ctr"/>
            <a:r>
              <a:rPr lang="en-US" sz="2000" b="1" dirty="0">
                <a:solidFill>
                  <a:srgbClr val="48375F"/>
                </a:solidFill>
                <a:latin typeface="Calibri" pitchFamily="34" charset="0"/>
                <a:ea typeface="Calibri" pitchFamily="34" charset="-122"/>
                <a:cs typeface="Calibri" pitchFamily="34" charset="-120"/>
              </a:rPr>
              <a:t>Detected</a:t>
            </a:r>
          </a:p>
          <a:p>
            <a:pPr algn="ctr"/>
            <a:r>
              <a:rPr lang="en-US" dirty="0">
                <a:solidFill>
                  <a:srgbClr val="48375F"/>
                </a:solidFill>
                <a:latin typeface="Calibri" pitchFamily="34" charset="0"/>
                <a:ea typeface="Calibri" pitchFamily="34" charset="-122"/>
                <a:cs typeface="Calibri" pitchFamily="34" charset="-120"/>
              </a:rPr>
              <a:t>Screen-size entries stored in inconsistent units — a mix of inches and </a:t>
            </a:r>
            <a:r>
              <a:rPr lang="en-US" dirty="0" err="1">
                <a:solidFill>
                  <a:srgbClr val="48375F"/>
                </a:solidFill>
                <a:latin typeface="Calibri" pitchFamily="34" charset="0"/>
                <a:ea typeface="Calibri" pitchFamily="34" charset="-122"/>
                <a:cs typeface="Calibri" pitchFamily="34" charset="-120"/>
              </a:rPr>
              <a:t>centimetres</a:t>
            </a:r>
            <a:r>
              <a:rPr lang="en-US" dirty="0">
                <a:solidFill>
                  <a:srgbClr val="48375F"/>
                </a:solidFill>
                <a:latin typeface="Calibri" pitchFamily="34" charset="0"/>
                <a:ea typeface="Calibri" pitchFamily="34" charset="-122"/>
                <a:cs typeface="Calibri" pitchFamily="34" charset="-120"/>
              </a:rPr>
              <a:t> — identified during quality checks.</a:t>
            </a:r>
            <a:endParaRPr lang="en-US" sz="2000" dirty="0">
              <a:solidFill>
                <a:srgbClr val="48375F"/>
              </a:solidFill>
            </a:endParaRPr>
          </a:p>
        </p:txBody>
      </p:sp>
      <p:sp>
        <p:nvSpPr>
          <p:cNvPr id="10" name="Shape 2">
            <a:extLst>
              <a:ext uri="{FF2B5EF4-FFF2-40B4-BE49-F238E27FC236}">
                <a16:creationId xmlns:a16="http://schemas.microsoft.com/office/drawing/2014/main" id="{93EBF6C0-9C1D-CCB6-B5B5-B1E1AD96E6D3}"/>
              </a:ext>
            </a:extLst>
          </p:cNvPr>
          <p:cNvSpPr/>
          <p:nvPr/>
        </p:nvSpPr>
        <p:spPr>
          <a:xfrm>
            <a:off x="3409694" y="4069255"/>
            <a:ext cx="2586802" cy="2270508"/>
          </a:xfrm>
          <a:prstGeom prst="roundRect">
            <a:avLst>
              <a:gd name="adj" fmla="val 6957"/>
            </a:avLst>
          </a:prstGeom>
          <a:solidFill>
            <a:srgbClr val="DADBDA"/>
          </a:solidFill>
          <a:ln/>
        </p:spPr>
        <p:txBody>
          <a:bodyPr/>
          <a:lstStyle/>
          <a:p>
            <a:pPr algn="ctr"/>
            <a:r>
              <a:rPr lang="en-US" sz="2000" b="1" dirty="0">
                <a:solidFill>
                  <a:srgbClr val="48375F"/>
                </a:solidFill>
                <a:latin typeface="Calibri" panose="020F0502020204030204" pitchFamily="34" charset="0"/>
                <a:ea typeface="Calibri" pitchFamily="34" charset="-122"/>
                <a:cs typeface="Calibri" panose="020F0502020204030204" pitchFamily="34" charset="0"/>
              </a:rPr>
              <a:t>Corrected</a:t>
            </a:r>
          </a:p>
          <a:p>
            <a:pPr algn="ctr"/>
            <a:r>
              <a:rPr lang="en-US" dirty="0">
                <a:solidFill>
                  <a:srgbClr val="48375F"/>
                </a:solidFill>
                <a:latin typeface="Calibri" panose="020F0502020204030204" pitchFamily="34" charset="0"/>
                <a:ea typeface="Calibri" pitchFamily="34" charset="-122"/>
                <a:cs typeface="Calibri" panose="020F0502020204030204" pitchFamily="34" charset="0"/>
              </a:rPr>
              <a:t>Values converted to a consistent </a:t>
            </a:r>
            <a:r>
              <a:rPr lang="en-US" dirty="0" err="1">
                <a:solidFill>
                  <a:srgbClr val="48375F"/>
                </a:solidFill>
                <a:latin typeface="Calibri" panose="020F0502020204030204" pitchFamily="34" charset="0"/>
                <a:ea typeface="Calibri" pitchFamily="34" charset="-122"/>
                <a:cs typeface="Calibri" panose="020F0502020204030204" pitchFamily="34" charset="0"/>
              </a:rPr>
              <a:t>centimetre</a:t>
            </a:r>
            <a:r>
              <a:rPr lang="en-US" dirty="0">
                <a:solidFill>
                  <a:srgbClr val="48375F"/>
                </a:solidFill>
                <a:latin typeface="Calibri" panose="020F0502020204030204" pitchFamily="34" charset="0"/>
                <a:ea typeface="Calibri" pitchFamily="34" charset="-122"/>
                <a:cs typeface="Calibri" panose="020F0502020204030204" pitchFamily="34" charset="0"/>
              </a:rPr>
              <a:t> scale rather than dropped, averaged away or </a:t>
            </a:r>
            <a:r>
              <a:rPr lang="en-US" dirty="0" err="1">
                <a:solidFill>
                  <a:srgbClr val="48375F"/>
                </a:solidFill>
                <a:latin typeface="Calibri" panose="020F0502020204030204" pitchFamily="34" charset="0"/>
                <a:ea typeface="Calibri" pitchFamily="34" charset="-122"/>
                <a:cs typeface="Calibri" panose="020F0502020204030204" pitchFamily="34" charset="0"/>
              </a:rPr>
              <a:t>winsorised</a:t>
            </a:r>
            <a:r>
              <a:rPr lang="en-US" dirty="0">
                <a:solidFill>
                  <a:srgbClr val="48375F"/>
                </a:solidFill>
                <a:latin typeface="Calibri" panose="020F0502020204030204" pitchFamily="34" charset="0"/>
                <a:ea typeface="Calibri" pitchFamily="34" charset="-122"/>
                <a:cs typeface="Calibri" panose="020F0502020204030204" pitchFamily="34" charset="0"/>
              </a:rPr>
              <a:t>.</a:t>
            </a:r>
            <a:endParaRPr lang="en-US" dirty="0">
              <a:solidFill>
                <a:srgbClr val="48375F"/>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2EB3296-223D-1EC6-2241-89C648723756}"/>
              </a:ext>
            </a:extLst>
          </p:cNvPr>
          <p:cNvSpPr txBox="1"/>
          <p:nvPr/>
        </p:nvSpPr>
        <p:spPr>
          <a:xfrm>
            <a:off x="278605" y="1330429"/>
            <a:ext cx="11720561" cy="646331"/>
          </a:xfrm>
          <a:prstGeom prst="rect">
            <a:avLst/>
          </a:prstGeom>
          <a:noFill/>
        </p:spPr>
        <p:txBody>
          <a:bodyPr wrap="square" rtlCol="0">
            <a:spAutoFit/>
          </a:bodyPr>
          <a:lstStyle/>
          <a:p>
            <a:r>
              <a:rPr lang="en-US" dirty="0">
                <a:solidFill>
                  <a:srgbClr val="48375F"/>
                </a:solidFill>
                <a:latin typeface="Calibri" pitchFamily="34" charset="0"/>
                <a:ea typeface="Calibri" pitchFamily="34" charset="-122"/>
                <a:cs typeface="Calibri" pitchFamily="34" charset="-120"/>
              </a:rPr>
              <a:t>Representing 2.8% of listings, the flagged cluster contributes 4.6% of total model error — a 4.6× over-representation relative to its share of test rows.</a:t>
            </a:r>
          </a:p>
        </p:txBody>
      </p:sp>
      <p:sp>
        <p:nvSpPr>
          <p:cNvPr id="16" name="Shape 2">
            <a:extLst>
              <a:ext uri="{FF2B5EF4-FFF2-40B4-BE49-F238E27FC236}">
                <a16:creationId xmlns:a16="http://schemas.microsoft.com/office/drawing/2014/main" id="{6A6761C2-3044-BC1A-1C24-5D7402BE180B}"/>
              </a:ext>
            </a:extLst>
          </p:cNvPr>
          <p:cNvSpPr/>
          <p:nvPr/>
        </p:nvSpPr>
        <p:spPr>
          <a:xfrm>
            <a:off x="6148897" y="4069255"/>
            <a:ext cx="2586801" cy="2270508"/>
          </a:xfrm>
          <a:prstGeom prst="roundRect">
            <a:avLst>
              <a:gd name="adj" fmla="val 6957"/>
            </a:avLst>
          </a:prstGeom>
          <a:solidFill>
            <a:srgbClr val="DADBDA"/>
          </a:solidFill>
          <a:ln/>
        </p:spPr>
        <p:txBody>
          <a:bodyPr/>
          <a:lstStyle/>
          <a:p>
            <a:pPr algn="ctr"/>
            <a:r>
              <a:rPr lang="en-US" sz="2000" b="1" dirty="0">
                <a:solidFill>
                  <a:srgbClr val="48375F"/>
                </a:solidFill>
                <a:latin typeface="Calibri" panose="020F0502020204030204" pitchFamily="34" charset="0"/>
                <a:ea typeface="Calibri" pitchFamily="34" charset="-122"/>
                <a:cs typeface="Calibri" panose="020F0502020204030204" pitchFamily="34" charset="0"/>
              </a:rPr>
              <a:t>Flagged, not hidden</a:t>
            </a:r>
            <a:endParaRPr lang="en-US" sz="2000" dirty="0">
              <a:solidFill>
                <a:srgbClr val="48375F"/>
              </a:solidFill>
              <a:latin typeface="Calibri" panose="020F0502020204030204" pitchFamily="34" charset="0"/>
              <a:cs typeface="Calibri" panose="020F0502020204030204" pitchFamily="34" charset="0"/>
            </a:endParaRPr>
          </a:p>
          <a:p>
            <a:pPr algn="ctr"/>
            <a:r>
              <a:rPr lang="en-US" dirty="0">
                <a:solidFill>
                  <a:srgbClr val="48375F"/>
                </a:solidFill>
                <a:latin typeface="Calibri" panose="020F0502020204030204" pitchFamily="34" charset="0"/>
                <a:ea typeface="Calibri" pitchFamily="34" charset="-122"/>
                <a:cs typeface="Calibri" panose="020F0502020204030204" pitchFamily="34" charset="0"/>
              </a:rPr>
              <a:t>A permanent </a:t>
            </a:r>
            <a:r>
              <a:rPr lang="en-US" dirty="0" err="1">
                <a:solidFill>
                  <a:srgbClr val="48375F"/>
                </a:solidFill>
                <a:latin typeface="Calibri" panose="020F0502020204030204" pitchFamily="34" charset="0"/>
                <a:ea typeface="Calibri" pitchFamily="34" charset="-122"/>
                <a:cs typeface="Calibri" panose="020F0502020204030204" pitchFamily="34" charset="0"/>
              </a:rPr>
              <a:t>is_flagged_dq</a:t>
            </a:r>
            <a:r>
              <a:rPr lang="en-US" dirty="0">
                <a:solidFill>
                  <a:srgbClr val="48375F"/>
                </a:solidFill>
                <a:latin typeface="Calibri" panose="020F0502020204030204" pitchFamily="34" charset="0"/>
                <a:ea typeface="Calibri" pitchFamily="34" charset="-122"/>
                <a:cs typeface="Calibri" panose="020F0502020204030204" pitchFamily="34" charset="0"/>
              </a:rPr>
              <a:t> feature carries the cluster's identity into the trained model as a genuine input.</a:t>
            </a:r>
            <a:endParaRPr lang="en-US" dirty="0">
              <a:solidFill>
                <a:srgbClr val="48375F"/>
              </a:solidFill>
              <a:latin typeface="Calibri" panose="020F0502020204030204" pitchFamily="34" charset="0"/>
              <a:cs typeface="Calibri" panose="020F0502020204030204" pitchFamily="34" charset="0"/>
            </a:endParaRPr>
          </a:p>
        </p:txBody>
      </p:sp>
      <p:sp>
        <p:nvSpPr>
          <p:cNvPr id="17" name="Shape 2">
            <a:extLst>
              <a:ext uri="{FF2B5EF4-FFF2-40B4-BE49-F238E27FC236}">
                <a16:creationId xmlns:a16="http://schemas.microsoft.com/office/drawing/2014/main" id="{73B6762D-6250-8493-3408-3C5982FD3113}"/>
              </a:ext>
            </a:extLst>
          </p:cNvPr>
          <p:cNvSpPr/>
          <p:nvPr/>
        </p:nvSpPr>
        <p:spPr>
          <a:xfrm>
            <a:off x="8888099" y="4069255"/>
            <a:ext cx="2586802" cy="2270508"/>
          </a:xfrm>
          <a:prstGeom prst="roundRect">
            <a:avLst>
              <a:gd name="adj" fmla="val 6957"/>
            </a:avLst>
          </a:prstGeom>
          <a:solidFill>
            <a:srgbClr val="DADBDA"/>
          </a:solidFill>
          <a:ln/>
        </p:spPr>
        <p:txBody>
          <a:bodyPr/>
          <a:lstStyle/>
          <a:p>
            <a:pPr algn="ctr"/>
            <a:r>
              <a:rPr lang="en-US" sz="2000" b="1" dirty="0">
                <a:solidFill>
                  <a:srgbClr val="48375F"/>
                </a:solidFill>
                <a:latin typeface="Calibri" panose="020F0502020204030204" pitchFamily="34" charset="0"/>
                <a:ea typeface="Calibri" pitchFamily="34" charset="-122"/>
                <a:cs typeface="Calibri" panose="020F0502020204030204" pitchFamily="34" charset="0"/>
              </a:rPr>
              <a:t>Monitored downstream</a:t>
            </a:r>
            <a:endParaRPr lang="en-US" sz="2000" dirty="0">
              <a:solidFill>
                <a:srgbClr val="48375F"/>
              </a:solidFill>
              <a:latin typeface="Calibri" panose="020F0502020204030204" pitchFamily="34" charset="0"/>
              <a:cs typeface="Calibri" panose="020F0502020204030204" pitchFamily="34" charset="0"/>
            </a:endParaRPr>
          </a:p>
          <a:p>
            <a:pPr algn="ctr"/>
            <a:r>
              <a:rPr lang="en-US" dirty="0">
                <a:solidFill>
                  <a:srgbClr val="48375F"/>
                </a:solidFill>
                <a:latin typeface="Calibri" panose="020F0502020204030204" pitchFamily="34" charset="0"/>
                <a:ea typeface="Calibri" pitchFamily="34" charset="-122"/>
                <a:cs typeface="Calibri" panose="020F0502020204030204" pitchFamily="34" charset="0"/>
              </a:rPr>
              <a:t>Traced through outlier detection, correlation and residual analysis as the model's hardest segment.</a:t>
            </a:r>
            <a:endParaRPr lang="en-US" dirty="0">
              <a:solidFill>
                <a:srgbClr val="48375F"/>
              </a:solidFill>
              <a:latin typeface="Calibri" panose="020F0502020204030204" pitchFamily="34" charset="0"/>
              <a:cs typeface="Calibri" panose="020F0502020204030204" pitchFamily="34" charset="0"/>
            </a:endParaRPr>
          </a:p>
        </p:txBody>
      </p:sp>
      <p:sp>
        <p:nvSpPr>
          <p:cNvPr id="18" name="Shape 2">
            <a:extLst>
              <a:ext uri="{FF2B5EF4-FFF2-40B4-BE49-F238E27FC236}">
                <a16:creationId xmlns:a16="http://schemas.microsoft.com/office/drawing/2014/main" id="{E73DD4EE-26DF-B000-D0A4-8A21BF2FF767}"/>
              </a:ext>
            </a:extLst>
          </p:cNvPr>
          <p:cNvSpPr/>
          <p:nvPr/>
        </p:nvSpPr>
        <p:spPr>
          <a:xfrm>
            <a:off x="689361" y="2088348"/>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anose="020F0502020204030204" pitchFamily="34" charset="0"/>
                <a:ea typeface="Cambria" pitchFamily="34" charset="-122"/>
                <a:cs typeface="Calibri" panose="020F0502020204030204" pitchFamily="34" charset="0"/>
              </a:rPr>
              <a:t>15 / 531</a:t>
            </a:r>
          </a:p>
          <a:p>
            <a:pPr algn="ctr"/>
            <a:endParaRPr lang="en-US" sz="1100" dirty="0">
              <a:solidFill>
                <a:schemeClr val="bg1"/>
              </a:solidFill>
              <a:latin typeface="Calibri" panose="020F0502020204030204" pitchFamily="34" charset="0"/>
              <a:cs typeface="Calibri" panose="020F0502020204030204" pitchFamily="34" charset="0"/>
            </a:endParaRPr>
          </a:p>
          <a:p>
            <a:pPr algn="ctr"/>
            <a:r>
              <a:rPr lang="en-US" sz="1600" dirty="0">
                <a:solidFill>
                  <a:schemeClr val="bg1"/>
                </a:solidFill>
                <a:latin typeface="Calibri" panose="020F0502020204030204" pitchFamily="34" charset="0"/>
                <a:ea typeface="Calibri" pitchFamily="34" charset="-122"/>
                <a:cs typeface="Calibri" panose="020F0502020204030204" pitchFamily="34" charset="0"/>
              </a:rPr>
              <a:t>Listings flagged (2.82% of dataset)</a:t>
            </a:r>
            <a:endParaRPr lang="en-US" sz="1600" dirty="0">
              <a:solidFill>
                <a:schemeClr val="bg1"/>
              </a:solidFill>
              <a:latin typeface="Calibri" panose="020F0502020204030204" pitchFamily="34" charset="0"/>
              <a:cs typeface="Calibri" panose="020F0502020204030204" pitchFamily="34" charset="0"/>
            </a:endParaRPr>
          </a:p>
        </p:txBody>
      </p:sp>
      <p:sp>
        <p:nvSpPr>
          <p:cNvPr id="19" name="Shape 2">
            <a:extLst>
              <a:ext uri="{FF2B5EF4-FFF2-40B4-BE49-F238E27FC236}">
                <a16:creationId xmlns:a16="http://schemas.microsoft.com/office/drawing/2014/main" id="{5E7480A5-D47F-7848-A3A6-8EFF47AB0663}"/>
              </a:ext>
            </a:extLst>
          </p:cNvPr>
          <p:cNvSpPr/>
          <p:nvPr/>
        </p:nvSpPr>
        <p:spPr>
          <a:xfrm>
            <a:off x="3394087" y="2088348"/>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4.6%</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Share of total model error contributed</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0" name="Shape 2">
            <a:extLst>
              <a:ext uri="{FF2B5EF4-FFF2-40B4-BE49-F238E27FC236}">
                <a16:creationId xmlns:a16="http://schemas.microsoft.com/office/drawing/2014/main" id="{74F73316-1D6D-59C9-07F9-6786B59E24FC}"/>
              </a:ext>
            </a:extLst>
          </p:cNvPr>
          <p:cNvSpPr/>
          <p:nvPr/>
        </p:nvSpPr>
        <p:spPr>
          <a:xfrm>
            <a:off x="6098813" y="2110565"/>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4.6×</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Error over-representation vs. cluster size</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1" name="Shape 2">
            <a:extLst>
              <a:ext uri="{FF2B5EF4-FFF2-40B4-BE49-F238E27FC236}">
                <a16:creationId xmlns:a16="http://schemas.microsoft.com/office/drawing/2014/main" id="{59FAF365-D815-CC49-BA38-3A3CD836EA3B}"/>
              </a:ext>
            </a:extLst>
          </p:cNvPr>
          <p:cNvSpPr/>
          <p:nvPr/>
        </p:nvSpPr>
        <p:spPr>
          <a:xfrm>
            <a:off x="8803539" y="2110564"/>
            <a:ext cx="2586801" cy="1043117"/>
          </a:xfrm>
          <a:prstGeom prst="roundRect">
            <a:avLst>
              <a:gd name="adj" fmla="val 6957"/>
            </a:avLst>
          </a:prstGeom>
          <a:solidFill>
            <a:srgbClr val="48375F"/>
          </a:solidFill>
          <a:ln/>
        </p:spPr>
        <p:txBody>
          <a:bodyPr/>
          <a:lstStyle/>
          <a:p>
            <a:pPr algn="ctr"/>
            <a:r>
              <a:rPr lang="en-US" sz="2000" b="1" dirty="0">
                <a:solidFill>
                  <a:schemeClr val="bg1"/>
                </a:solidFill>
                <a:latin typeface="Calibri" pitchFamily="34" charset="0"/>
                <a:cs typeface="Calibri" pitchFamily="34" charset="-120"/>
              </a:rPr>
              <a:t>₹1,851</a:t>
            </a:r>
          </a:p>
          <a:p>
            <a:pPr algn="ctr"/>
            <a:endParaRPr lang="en-US" sz="1200" dirty="0">
              <a:solidFill>
                <a:schemeClr val="bg1"/>
              </a:solidFill>
              <a:latin typeface="Calibri" pitchFamily="34" charset="0"/>
              <a:cs typeface="Calibri" pitchFamily="34" charset="-120"/>
            </a:endParaRPr>
          </a:p>
          <a:p>
            <a:pPr algn="ctr"/>
            <a:r>
              <a:rPr lang="en-US" sz="1600" dirty="0">
                <a:solidFill>
                  <a:schemeClr val="bg1"/>
                </a:solidFill>
                <a:latin typeface="Calibri" pitchFamily="34" charset="0"/>
                <a:cs typeface="Calibri" pitchFamily="34" charset="-120"/>
              </a:rPr>
              <a:t>Cluster average price vs. ₹16,726 rest</a:t>
            </a:r>
          </a:p>
          <a:p>
            <a:pPr algn="ctr"/>
            <a:endParaRPr lang="en-IN" sz="2400" dirty="0">
              <a:solidFill>
                <a:srgbClr val="48375F"/>
              </a:solidFill>
              <a:latin typeface="Calibri" panose="020F0502020204030204" pitchFamily="34" charset="0"/>
              <a:cs typeface="Calibri" panose="020F0502020204030204" pitchFamily="34" charset="0"/>
            </a:endParaRPr>
          </a:p>
        </p:txBody>
      </p:sp>
      <p:sp>
        <p:nvSpPr>
          <p:cNvPr id="23" name="Shape 22">
            <a:extLst>
              <a:ext uri="{FF2B5EF4-FFF2-40B4-BE49-F238E27FC236}">
                <a16:creationId xmlns:a16="http://schemas.microsoft.com/office/drawing/2014/main" id="{035B10B0-33D8-C0DB-0F59-ED9C92E634C5}"/>
              </a:ext>
            </a:extLst>
          </p:cNvPr>
          <p:cNvSpPr/>
          <p:nvPr/>
        </p:nvSpPr>
        <p:spPr>
          <a:xfrm>
            <a:off x="670492" y="3876660"/>
            <a:ext cx="384048" cy="384048"/>
          </a:xfrm>
          <a:prstGeom prst="ellipse">
            <a:avLst/>
          </a:prstGeom>
          <a:solidFill>
            <a:srgbClr val="48375F"/>
          </a:solidFill>
          <a:ln w="12700">
            <a:solidFill>
              <a:srgbClr val="333333"/>
            </a:solidFill>
            <a:prstDash val="solid"/>
          </a:ln>
        </p:spPr>
        <p:txBody>
          <a:bodyPr/>
          <a:lstStyle/>
          <a:p>
            <a:r>
              <a:rPr lang="en-US" dirty="0">
                <a:solidFill>
                  <a:schemeClr val="bg1"/>
                </a:solidFill>
              </a:rPr>
              <a:t>1</a:t>
            </a:r>
          </a:p>
        </p:txBody>
      </p:sp>
      <p:sp>
        <p:nvSpPr>
          <p:cNvPr id="25" name="Shape 22">
            <a:extLst>
              <a:ext uri="{FF2B5EF4-FFF2-40B4-BE49-F238E27FC236}">
                <a16:creationId xmlns:a16="http://schemas.microsoft.com/office/drawing/2014/main" id="{5827BA4A-30FB-1F90-0C6A-E2549CDB74BA}"/>
              </a:ext>
            </a:extLst>
          </p:cNvPr>
          <p:cNvSpPr/>
          <p:nvPr/>
        </p:nvSpPr>
        <p:spPr>
          <a:xfrm>
            <a:off x="8888099" y="3876660"/>
            <a:ext cx="384048" cy="384048"/>
          </a:xfrm>
          <a:prstGeom prst="ellipse">
            <a:avLst/>
          </a:prstGeom>
          <a:solidFill>
            <a:srgbClr val="48375F"/>
          </a:solidFill>
          <a:ln w="12700">
            <a:solidFill>
              <a:srgbClr val="333333"/>
            </a:solidFill>
            <a:prstDash val="solid"/>
          </a:ln>
        </p:spPr>
        <p:txBody>
          <a:bodyPr/>
          <a:lstStyle/>
          <a:p>
            <a:r>
              <a:rPr lang="en-US" dirty="0">
                <a:solidFill>
                  <a:schemeClr val="bg1"/>
                </a:solidFill>
              </a:rPr>
              <a:t>4</a:t>
            </a:r>
          </a:p>
        </p:txBody>
      </p:sp>
      <p:sp>
        <p:nvSpPr>
          <p:cNvPr id="26" name="Shape 22">
            <a:extLst>
              <a:ext uri="{FF2B5EF4-FFF2-40B4-BE49-F238E27FC236}">
                <a16:creationId xmlns:a16="http://schemas.microsoft.com/office/drawing/2014/main" id="{DE832903-6D15-05ED-1841-45747966E9B6}"/>
              </a:ext>
            </a:extLst>
          </p:cNvPr>
          <p:cNvSpPr/>
          <p:nvPr/>
        </p:nvSpPr>
        <p:spPr>
          <a:xfrm>
            <a:off x="6081666" y="3876660"/>
            <a:ext cx="384048" cy="384048"/>
          </a:xfrm>
          <a:prstGeom prst="ellipse">
            <a:avLst/>
          </a:prstGeom>
          <a:solidFill>
            <a:srgbClr val="48375F"/>
          </a:solidFill>
          <a:ln w="12700">
            <a:solidFill>
              <a:srgbClr val="333333"/>
            </a:solidFill>
            <a:prstDash val="solid"/>
          </a:ln>
        </p:spPr>
        <p:txBody>
          <a:bodyPr/>
          <a:lstStyle/>
          <a:p>
            <a:r>
              <a:rPr lang="en-US" dirty="0">
                <a:solidFill>
                  <a:schemeClr val="bg1"/>
                </a:solidFill>
              </a:rPr>
              <a:t>3</a:t>
            </a:r>
          </a:p>
        </p:txBody>
      </p:sp>
      <p:sp>
        <p:nvSpPr>
          <p:cNvPr id="27" name="Shape 22">
            <a:extLst>
              <a:ext uri="{FF2B5EF4-FFF2-40B4-BE49-F238E27FC236}">
                <a16:creationId xmlns:a16="http://schemas.microsoft.com/office/drawing/2014/main" id="{05B93E7D-7DA2-1BFF-1B27-EF0CB207C3AA}"/>
              </a:ext>
            </a:extLst>
          </p:cNvPr>
          <p:cNvSpPr/>
          <p:nvPr/>
        </p:nvSpPr>
        <p:spPr>
          <a:xfrm>
            <a:off x="3365417" y="3876660"/>
            <a:ext cx="384048" cy="384048"/>
          </a:xfrm>
          <a:prstGeom prst="ellipse">
            <a:avLst/>
          </a:prstGeom>
          <a:solidFill>
            <a:srgbClr val="48375F"/>
          </a:solidFill>
          <a:ln w="12700">
            <a:solidFill>
              <a:srgbClr val="333333"/>
            </a:solidFill>
            <a:prstDash val="solid"/>
          </a:ln>
        </p:spPr>
        <p:txBody>
          <a:bodyPr/>
          <a:lstStyle/>
          <a:p>
            <a:r>
              <a:rPr lang="en-US" dirty="0">
                <a:solidFill>
                  <a:schemeClr val="bg1"/>
                </a:solidFill>
              </a:rPr>
              <a:t>2</a:t>
            </a:r>
          </a:p>
        </p:txBody>
      </p:sp>
      <p:sp>
        <p:nvSpPr>
          <p:cNvPr id="28" name="TextBox 27">
            <a:extLst>
              <a:ext uri="{FF2B5EF4-FFF2-40B4-BE49-F238E27FC236}">
                <a16:creationId xmlns:a16="http://schemas.microsoft.com/office/drawing/2014/main" id="{9F60BC5D-2FF0-5296-F823-7432610DE96B}"/>
              </a:ext>
            </a:extLst>
          </p:cNvPr>
          <p:cNvSpPr txBox="1"/>
          <p:nvPr/>
        </p:nvSpPr>
        <p:spPr>
          <a:xfrm>
            <a:off x="539865" y="3395551"/>
            <a:ext cx="4066498"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HOW THE CLUSTER WAS HANDLED</a:t>
            </a:r>
            <a:endParaRPr lang="en-US" dirty="0">
              <a:solidFill>
                <a:srgbClr val="48375F"/>
              </a:solidFill>
            </a:endParaRPr>
          </a:p>
        </p:txBody>
      </p:sp>
      <p:sp>
        <p:nvSpPr>
          <p:cNvPr id="30" name="Shape 20">
            <a:extLst>
              <a:ext uri="{FF2B5EF4-FFF2-40B4-BE49-F238E27FC236}">
                <a16:creationId xmlns:a16="http://schemas.microsoft.com/office/drawing/2014/main" id="{3891FBFD-061D-E946-CE39-94F869BFCE54}"/>
              </a:ext>
            </a:extLst>
          </p:cNvPr>
          <p:cNvSpPr/>
          <p:nvPr/>
        </p:nvSpPr>
        <p:spPr>
          <a:xfrm>
            <a:off x="490722" y="3774876"/>
            <a:ext cx="11055096" cy="10973"/>
          </a:xfrm>
          <a:prstGeom prst="rect">
            <a:avLst/>
          </a:prstGeom>
          <a:solidFill>
            <a:srgbClr val="0F2748"/>
          </a:solidFill>
          <a:ln w="12700">
            <a:solidFill>
              <a:srgbClr val="333333"/>
            </a:solidFill>
            <a:prstDash val="solid"/>
          </a:ln>
        </p:spPr>
      </p:sp>
    </p:spTree>
    <p:extLst>
      <p:ext uri="{BB962C8B-B14F-4D97-AF65-F5344CB8AC3E}">
        <p14:creationId xmlns:p14="http://schemas.microsoft.com/office/powerpoint/2010/main" val="2932474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F4449-4E97-DA89-3F5B-1CF1A401FEE8}"/>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92B81C4B-23AE-A395-74DD-A5CF82EE3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DFD824F-40ED-2452-17A3-F80F95E8B96D}"/>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Two Pricing Regimes Coexist —</a:t>
            </a:r>
          </a:p>
          <a:p>
            <a:r>
              <a:rPr lang="en-US" sz="4800" b="1" dirty="0">
                <a:solidFill>
                  <a:srgbClr val="48375F"/>
                </a:solidFill>
                <a:latin typeface="Calibri" panose="020F0502020204030204" pitchFamily="34" charset="0"/>
                <a:cs typeface="Calibri" panose="020F0502020204030204" pitchFamily="34" charset="0"/>
              </a:rPr>
              <a:t> and They Require Different Playbooks</a:t>
            </a:r>
          </a:p>
        </p:txBody>
      </p:sp>
      <p:sp>
        <p:nvSpPr>
          <p:cNvPr id="4" name="TextBox 3">
            <a:extLst>
              <a:ext uri="{FF2B5EF4-FFF2-40B4-BE49-F238E27FC236}">
                <a16:creationId xmlns:a16="http://schemas.microsoft.com/office/drawing/2014/main" id="{E52C7674-D5A1-3A76-B64F-03EAA05678AB}"/>
              </a:ext>
            </a:extLst>
          </p:cNvPr>
          <p:cNvSpPr txBox="1"/>
          <p:nvPr/>
        </p:nvSpPr>
        <p:spPr>
          <a:xfrm>
            <a:off x="0" y="1494053"/>
            <a:ext cx="12192000" cy="646331"/>
          </a:xfrm>
          <a:prstGeom prst="rect">
            <a:avLst/>
          </a:prstGeom>
          <a:noFill/>
        </p:spPr>
        <p:txBody>
          <a:bodyPr wrap="square" rtlCol="0">
            <a:spAutoFit/>
          </a:bodyPr>
          <a:lstStyle/>
          <a:p>
            <a:r>
              <a:rPr lang="en-US" dirty="0">
                <a:solidFill>
                  <a:srgbClr val="48375F"/>
                </a:solidFill>
                <a:latin typeface="Calibri" panose="020F0502020204030204" pitchFamily="34" charset="0"/>
                <a:ea typeface="Calibri" pitchFamily="34" charset="-122"/>
                <a:cs typeface="Calibri" panose="020F0502020204030204" pitchFamily="34" charset="0"/>
              </a:rPr>
              <a:t>The market does not price uniformly. Below the flagship tier, specifications set price. At the flagship tier, brand equity does — and specification improvements alone will not close the gap.</a:t>
            </a:r>
            <a:endParaRPr lang="en-US" dirty="0">
              <a:solidFill>
                <a:srgbClr val="48375F"/>
              </a:solidFill>
              <a:latin typeface="Calibri" panose="020F0502020204030204" pitchFamily="34" charset="0"/>
              <a:cs typeface="Calibri" panose="020F0502020204030204" pitchFamily="34" charset="0"/>
            </a:endParaRPr>
          </a:p>
        </p:txBody>
      </p:sp>
      <p:sp>
        <p:nvSpPr>
          <p:cNvPr id="5" name="Shape 2">
            <a:extLst>
              <a:ext uri="{FF2B5EF4-FFF2-40B4-BE49-F238E27FC236}">
                <a16:creationId xmlns:a16="http://schemas.microsoft.com/office/drawing/2014/main" id="{32AF9681-798F-CFAF-386E-6B09E83A7937}"/>
              </a:ext>
            </a:extLst>
          </p:cNvPr>
          <p:cNvSpPr/>
          <p:nvPr/>
        </p:nvSpPr>
        <p:spPr>
          <a:xfrm>
            <a:off x="339588" y="2450597"/>
            <a:ext cx="5475674" cy="2773515"/>
          </a:xfrm>
          <a:prstGeom prst="roundRect">
            <a:avLst>
              <a:gd name="adj" fmla="val 6957"/>
            </a:avLst>
          </a:prstGeom>
          <a:solidFill>
            <a:srgbClr val="DADBDA"/>
          </a:solidFill>
          <a:ln/>
        </p:spPr>
        <p:txBody>
          <a:bodyPr/>
          <a:lstStyle/>
          <a:p>
            <a:r>
              <a:rPr lang="en-US" sz="2000" b="1" dirty="0">
                <a:solidFill>
                  <a:srgbClr val="AF2C59"/>
                </a:solidFill>
                <a:latin typeface="Calibri" panose="020F0502020204030204" pitchFamily="34" charset="0"/>
                <a:cs typeface="Calibri" panose="020F0502020204030204" pitchFamily="34" charset="0"/>
              </a:rPr>
              <a:t>Below the flagship tier</a:t>
            </a:r>
          </a:p>
          <a:p>
            <a:r>
              <a:rPr lang="en-US" sz="1600" b="1" dirty="0">
                <a:solidFill>
                  <a:srgbClr val="48375F"/>
                </a:solidFill>
                <a:latin typeface="Calibri" panose="020F0502020204030204" pitchFamily="34" charset="0"/>
                <a:cs typeface="Calibri" panose="020F0502020204030204" pitchFamily="34" charset="0"/>
              </a:rPr>
              <a:t>THE LARGE MAJORITY OF THE MARKET</a:t>
            </a:r>
          </a:p>
          <a:p>
            <a:endParaRPr lang="en-US" sz="1600"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Prediction performance is stronger and errors are less concentrated. Storage, RAM and camera specifications explain most of the price variation, and brand carries little independent pricing power once specifications are fixed. The top three specifications alone account for 68.4% of the model's impurity-based importance.</a:t>
            </a:r>
          </a:p>
          <a:p>
            <a:endParaRPr lang="en-US" sz="1600" dirty="0"/>
          </a:p>
        </p:txBody>
      </p:sp>
      <p:sp>
        <p:nvSpPr>
          <p:cNvPr id="6" name="Shape 2">
            <a:extLst>
              <a:ext uri="{FF2B5EF4-FFF2-40B4-BE49-F238E27FC236}">
                <a16:creationId xmlns:a16="http://schemas.microsoft.com/office/drawing/2014/main" id="{12C6D41B-FA5E-46A9-FEFB-6407FB2EE177}"/>
              </a:ext>
            </a:extLst>
          </p:cNvPr>
          <p:cNvSpPr/>
          <p:nvPr/>
        </p:nvSpPr>
        <p:spPr>
          <a:xfrm>
            <a:off x="6376737" y="2388651"/>
            <a:ext cx="5475675" cy="2835461"/>
          </a:xfrm>
          <a:prstGeom prst="roundRect">
            <a:avLst>
              <a:gd name="adj" fmla="val 6957"/>
            </a:avLst>
          </a:prstGeom>
          <a:solidFill>
            <a:srgbClr val="DADBDA"/>
          </a:solidFill>
          <a:ln/>
        </p:spPr>
        <p:txBody>
          <a:bodyPr/>
          <a:lstStyle/>
          <a:p>
            <a:r>
              <a:rPr lang="en-US" sz="2000" b="1" dirty="0">
                <a:solidFill>
                  <a:srgbClr val="AF2C59"/>
                </a:solidFill>
                <a:latin typeface="Calibri" panose="020F0502020204030204" pitchFamily="34" charset="0"/>
                <a:cs typeface="Calibri" panose="020F0502020204030204" pitchFamily="34" charset="0"/>
              </a:rPr>
              <a:t>At the flagship tier</a:t>
            </a:r>
          </a:p>
          <a:p>
            <a:r>
              <a:rPr lang="en-US" sz="1600" b="1" dirty="0">
                <a:solidFill>
                  <a:srgbClr val="48375F"/>
                </a:solidFill>
                <a:latin typeface="Calibri" panose="020F0502020204030204" pitchFamily="34" charset="0"/>
                <a:cs typeface="Calibri" panose="020F0502020204030204" pitchFamily="34" charset="0"/>
              </a:rPr>
              <a:t>APPLE N = 5, GOOGLE N = 9 — DIRECTIONAL ONLY</a:t>
            </a:r>
          </a:p>
          <a:p>
            <a:endParaRPr lang="en-US" sz="1400"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A price premium attaches to Apple and Google that specifications alone do not explain, though samples of five and nine listings make this directional rather than a precise multiplier. The model's largest errors concentrate here: it underprices the Galaxy S23 5G by 32.8% and the Motorola Edge 30 Ultra by 42.3%. Absolute error correlates with true price at r = 0.818.</a:t>
            </a:r>
          </a:p>
        </p:txBody>
      </p:sp>
      <p:sp>
        <p:nvSpPr>
          <p:cNvPr id="7" name="TextBox 6">
            <a:extLst>
              <a:ext uri="{FF2B5EF4-FFF2-40B4-BE49-F238E27FC236}">
                <a16:creationId xmlns:a16="http://schemas.microsoft.com/office/drawing/2014/main" id="{19649755-3718-8F68-5956-5781F7368F9C}"/>
              </a:ext>
            </a:extLst>
          </p:cNvPr>
          <p:cNvSpPr txBox="1"/>
          <p:nvPr/>
        </p:nvSpPr>
        <p:spPr>
          <a:xfrm>
            <a:off x="1104801" y="5455851"/>
            <a:ext cx="3945247" cy="338554"/>
          </a:xfrm>
          <a:prstGeom prst="rect">
            <a:avLst/>
          </a:prstGeom>
          <a:noFill/>
        </p:spPr>
        <p:txBody>
          <a:bodyPr wrap="none" rtlCol="0">
            <a:spAutoFit/>
          </a:bodyPr>
          <a:lstStyle/>
          <a:p>
            <a:r>
              <a:rPr lang="en-US" sz="1600" b="1" dirty="0">
                <a:solidFill>
                  <a:srgbClr val="48375F"/>
                </a:solidFill>
                <a:latin typeface="Calibri" panose="020F0502020204030204" pitchFamily="34" charset="0"/>
                <a:cs typeface="Calibri" panose="020F0502020204030204" pitchFamily="34" charset="0"/>
              </a:rPr>
              <a:t>Strategy:  compete on spec-per-rupee value.</a:t>
            </a:r>
          </a:p>
        </p:txBody>
      </p:sp>
      <p:sp>
        <p:nvSpPr>
          <p:cNvPr id="8" name="TextBox 7">
            <a:extLst>
              <a:ext uri="{FF2B5EF4-FFF2-40B4-BE49-F238E27FC236}">
                <a16:creationId xmlns:a16="http://schemas.microsoft.com/office/drawing/2014/main" id="{177652EA-548F-DD42-D881-126CF28FEF4F}"/>
              </a:ext>
            </a:extLst>
          </p:cNvPr>
          <p:cNvSpPr txBox="1"/>
          <p:nvPr/>
        </p:nvSpPr>
        <p:spPr>
          <a:xfrm>
            <a:off x="6376736" y="5405471"/>
            <a:ext cx="5475675" cy="584775"/>
          </a:xfrm>
          <a:prstGeom prst="rect">
            <a:avLst/>
          </a:prstGeom>
          <a:noFill/>
        </p:spPr>
        <p:txBody>
          <a:bodyPr wrap="square" rtlCol="0">
            <a:spAutoFit/>
          </a:bodyPr>
          <a:lstStyle/>
          <a:p>
            <a:pPr algn="ctr"/>
            <a:r>
              <a:rPr lang="en-US" sz="1600" b="1" dirty="0">
                <a:solidFill>
                  <a:srgbClr val="48375F"/>
                </a:solidFill>
                <a:latin typeface="Calibri" panose="020F0502020204030204" pitchFamily="34" charset="0"/>
                <a:cs typeface="Calibri" panose="020F0502020204030204" pitchFamily="34" charset="0"/>
              </a:rPr>
              <a:t>Hypothesis:  closing the gap plausibly requires brand-equity investment, not specification increments.</a:t>
            </a:r>
          </a:p>
        </p:txBody>
      </p:sp>
      <p:sp>
        <p:nvSpPr>
          <p:cNvPr id="9" name="TextBox 8">
            <a:extLst>
              <a:ext uri="{FF2B5EF4-FFF2-40B4-BE49-F238E27FC236}">
                <a16:creationId xmlns:a16="http://schemas.microsoft.com/office/drawing/2014/main" id="{A187C1EC-7F86-5722-8157-1A704B3BA84D}"/>
              </a:ext>
            </a:extLst>
          </p:cNvPr>
          <p:cNvSpPr txBox="1"/>
          <p:nvPr/>
        </p:nvSpPr>
        <p:spPr>
          <a:xfrm>
            <a:off x="121627" y="6334780"/>
            <a:ext cx="11948746" cy="523220"/>
          </a:xfrm>
          <a:prstGeom prst="rect">
            <a:avLst/>
          </a:prstGeom>
          <a:noFill/>
        </p:spPr>
        <p:txBody>
          <a:bodyPr wrap="square" rtlCol="0">
            <a:spAutoFit/>
          </a:bodyPr>
          <a:lstStyle/>
          <a:p>
            <a:r>
              <a:rPr lang="en-US" sz="1400" i="1" dirty="0">
                <a:solidFill>
                  <a:srgbClr val="48375F"/>
                </a:solidFill>
                <a:latin typeface="Calibri" panose="020F0502020204030204" pitchFamily="34" charset="0"/>
                <a:ea typeface="Calibri" pitchFamily="34" charset="-122"/>
                <a:cs typeface="Calibri" panose="020F0502020204030204" pitchFamily="34" charset="0"/>
              </a:rPr>
              <a:t>Flagship-tier findings rest on brand samples of five (Apple) and nine (Google) listings across the full dataset, and three Apple listings within the 128GB+ subset; all should be read as directional. Error figures from held-out test residuals, Section 9B.</a:t>
            </a:r>
            <a:endParaRPr lang="en-US" sz="1400" i="1" dirty="0">
              <a:solidFill>
                <a:srgbClr val="48375F"/>
              </a:solidFill>
              <a:latin typeface="Calibri" panose="020F0502020204030204" pitchFamily="34" charset="0"/>
              <a:cs typeface="Calibri" panose="020F0502020204030204" pitchFamily="34" charset="0"/>
            </a:endParaRPr>
          </a:p>
        </p:txBody>
      </p:sp>
      <p:sp>
        <p:nvSpPr>
          <p:cNvPr id="10" name="Shape 12">
            <a:extLst>
              <a:ext uri="{FF2B5EF4-FFF2-40B4-BE49-F238E27FC236}">
                <a16:creationId xmlns:a16="http://schemas.microsoft.com/office/drawing/2014/main" id="{DAF5ACD9-E39E-0FDD-4149-81F96CC2DC52}"/>
              </a:ext>
            </a:extLst>
          </p:cNvPr>
          <p:cNvSpPr/>
          <p:nvPr/>
        </p:nvSpPr>
        <p:spPr>
          <a:xfrm>
            <a:off x="6725703" y="5352974"/>
            <a:ext cx="4777740" cy="10973"/>
          </a:xfrm>
          <a:prstGeom prst="rect">
            <a:avLst/>
          </a:prstGeom>
          <a:solidFill>
            <a:srgbClr val="D9DCE1"/>
          </a:solidFill>
          <a:ln w="12700">
            <a:solidFill>
              <a:srgbClr val="333333"/>
            </a:solidFill>
            <a:prstDash val="solid"/>
          </a:ln>
        </p:spPr>
      </p:sp>
      <p:sp>
        <p:nvSpPr>
          <p:cNvPr id="11" name="Shape 12">
            <a:extLst>
              <a:ext uri="{FF2B5EF4-FFF2-40B4-BE49-F238E27FC236}">
                <a16:creationId xmlns:a16="http://schemas.microsoft.com/office/drawing/2014/main" id="{E356841A-0765-D177-2E07-F5F436D12700}"/>
              </a:ext>
            </a:extLst>
          </p:cNvPr>
          <p:cNvSpPr/>
          <p:nvPr/>
        </p:nvSpPr>
        <p:spPr>
          <a:xfrm>
            <a:off x="688555" y="5363947"/>
            <a:ext cx="4777740" cy="10973"/>
          </a:xfrm>
          <a:prstGeom prst="rect">
            <a:avLst/>
          </a:prstGeom>
          <a:solidFill>
            <a:srgbClr val="D9DCE1"/>
          </a:solidFill>
          <a:ln w="12700">
            <a:solidFill>
              <a:srgbClr val="333333"/>
            </a:solidFill>
            <a:prstDash val="solid"/>
          </a:ln>
        </p:spPr>
      </p:sp>
    </p:spTree>
    <p:extLst>
      <p:ext uri="{BB962C8B-B14F-4D97-AF65-F5344CB8AC3E}">
        <p14:creationId xmlns:p14="http://schemas.microsoft.com/office/powerpoint/2010/main" val="326084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99A75-9704-97DF-448E-9391C58DCD24}"/>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27641E27-2EC4-DEAE-21A1-9402BB426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CE0B7CE-33A9-69F9-D928-41A53FB5EA6C}"/>
              </a:ext>
            </a:extLst>
          </p:cNvPr>
          <p:cNvSpPr txBox="1">
            <a:spLocks/>
          </p:cNvSpPr>
          <p:nvPr/>
        </p:nvSpPr>
        <p:spPr>
          <a:xfrm>
            <a:off x="0" y="-18659"/>
            <a:ext cx="12192000" cy="808368"/>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Two Pricing Regimes</a:t>
            </a:r>
          </a:p>
        </p:txBody>
      </p:sp>
      <p:pic>
        <p:nvPicPr>
          <p:cNvPr id="12" name="Picture 11">
            <a:extLst>
              <a:ext uri="{FF2B5EF4-FFF2-40B4-BE49-F238E27FC236}">
                <a16:creationId xmlns:a16="http://schemas.microsoft.com/office/drawing/2014/main" id="{FE24C0A8-3298-46F4-AC7C-CA2492D9B77B}"/>
              </a:ext>
            </a:extLst>
          </p:cNvPr>
          <p:cNvPicPr>
            <a:picLocks noChangeAspect="1"/>
          </p:cNvPicPr>
          <p:nvPr/>
        </p:nvPicPr>
        <p:blipFill>
          <a:blip r:embed="rId4"/>
          <a:stretch>
            <a:fillRect/>
          </a:stretch>
        </p:blipFill>
        <p:spPr>
          <a:xfrm>
            <a:off x="2734541" y="946620"/>
            <a:ext cx="5986126" cy="5095507"/>
          </a:xfrm>
          <a:prstGeom prst="rect">
            <a:avLst/>
          </a:prstGeom>
        </p:spPr>
      </p:pic>
      <p:sp>
        <p:nvSpPr>
          <p:cNvPr id="6" name="TextBox 5">
            <a:extLst>
              <a:ext uri="{FF2B5EF4-FFF2-40B4-BE49-F238E27FC236}">
                <a16:creationId xmlns:a16="http://schemas.microsoft.com/office/drawing/2014/main" id="{41E48CD5-8EF5-3A90-AF31-0C3FE3D46C60}"/>
              </a:ext>
            </a:extLst>
          </p:cNvPr>
          <p:cNvSpPr txBox="1"/>
          <p:nvPr/>
        </p:nvSpPr>
        <p:spPr>
          <a:xfrm>
            <a:off x="135467" y="6042127"/>
            <a:ext cx="11887200" cy="646331"/>
          </a:xfrm>
          <a:prstGeom prst="rect">
            <a:avLst/>
          </a:prstGeom>
          <a:noFill/>
        </p:spPr>
        <p:txBody>
          <a:bodyPr wrap="square" rtlCol="0">
            <a:spAutoFit/>
          </a:bodyPr>
          <a:lstStyle/>
          <a:p>
            <a:r>
              <a:rPr lang="en-IN" dirty="0">
                <a:solidFill>
                  <a:srgbClr val="48375F"/>
                </a:solidFill>
                <a:latin typeface="Calibri" panose="020F0502020204030204" pitchFamily="34" charset="0"/>
                <a:cs typeface="Calibri" panose="020F0502020204030204" pitchFamily="34" charset="0"/>
              </a:rPr>
              <a:t>Phone pricing follows two distinct patterns: specifications drive value below the flagship tier, while brand premium becomes more influential at the flagship level.</a:t>
            </a:r>
            <a:endParaRPr lang="en-US" dirty="0">
              <a:solidFill>
                <a:srgbClr val="48375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7396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C7A7B-542A-2A96-2C3A-06FF0B95A8A9}"/>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BADD34E2-24C0-43EA-4BB5-2BECB36A7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C29B829-E60B-11D9-988A-F47823BFFAAA}"/>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Prioritized Actions for </a:t>
            </a:r>
          </a:p>
          <a:p>
            <a:r>
              <a:rPr lang="en-US" sz="4800" b="1" dirty="0">
                <a:solidFill>
                  <a:srgbClr val="48375F"/>
                </a:solidFill>
                <a:latin typeface="Calibri" panose="020F0502020204030204" pitchFamily="34" charset="0"/>
                <a:cs typeface="Calibri" panose="020F0502020204030204" pitchFamily="34" charset="0"/>
              </a:rPr>
              <a:t>Pricing and Product Strategy</a:t>
            </a:r>
          </a:p>
        </p:txBody>
      </p:sp>
      <p:sp>
        <p:nvSpPr>
          <p:cNvPr id="4" name="Shape 2">
            <a:extLst>
              <a:ext uri="{FF2B5EF4-FFF2-40B4-BE49-F238E27FC236}">
                <a16:creationId xmlns:a16="http://schemas.microsoft.com/office/drawing/2014/main" id="{86BD35FB-3068-72BC-7A6E-FCBE9182E68E}"/>
              </a:ext>
            </a:extLst>
          </p:cNvPr>
          <p:cNvSpPr/>
          <p:nvPr/>
        </p:nvSpPr>
        <p:spPr>
          <a:xfrm>
            <a:off x="162560" y="1847709"/>
            <a:ext cx="1712732" cy="1207003"/>
          </a:xfrm>
          <a:prstGeom prst="roundRect">
            <a:avLst>
              <a:gd name="adj" fmla="val 6957"/>
            </a:avLst>
          </a:prstGeom>
          <a:solidFill>
            <a:schemeClr val="accent2">
              <a:lumMod val="20000"/>
              <a:lumOff val="80000"/>
            </a:schemeClr>
          </a:solidFill>
          <a:ln/>
        </p:spPr>
        <p:txBody>
          <a:bodyPr anchor="ctr"/>
          <a:lstStyle/>
          <a:p>
            <a:pPr algn="ctr"/>
            <a:r>
              <a:rPr lang="en-US" sz="2800" b="1" dirty="0">
                <a:solidFill>
                  <a:srgbClr val="AF2C59"/>
                </a:solidFill>
                <a:latin typeface="Calibri" panose="020F0502020204030204" pitchFamily="34" charset="0"/>
                <a:cs typeface="Calibri" panose="020F0502020204030204" pitchFamily="34" charset="0"/>
              </a:rPr>
              <a:t>High Priority</a:t>
            </a:r>
          </a:p>
        </p:txBody>
      </p:sp>
      <p:sp>
        <p:nvSpPr>
          <p:cNvPr id="7" name="Shape 2">
            <a:extLst>
              <a:ext uri="{FF2B5EF4-FFF2-40B4-BE49-F238E27FC236}">
                <a16:creationId xmlns:a16="http://schemas.microsoft.com/office/drawing/2014/main" id="{EF9DE7DD-B2BB-3617-36FB-C6C0EEB95C2D}"/>
              </a:ext>
            </a:extLst>
          </p:cNvPr>
          <p:cNvSpPr/>
          <p:nvPr/>
        </p:nvSpPr>
        <p:spPr>
          <a:xfrm>
            <a:off x="162560" y="3518252"/>
            <a:ext cx="1712732" cy="1207003"/>
          </a:xfrm>
          <a:prstGeom prst="roundRect">
            <a:avLst>
              <a:gd name="adj" fmla="val 6957"/>
            </a:avLst>
          </a:prstGeom>
          <a:solidFill>
            <a:schemeClr val="tx2">
              <a:lumMod val="10000"/>
              <a:lumOff val="90000"/>
            </a:schemeClr>
          </a:solidFill>
          <a:ln/>
        </p:spPr>
        <p:txBody>
          <a:bodyPr anchor="ctr"/>
          <a:lstStyle/>
          <a:p>
            <a:pPr algn="ctr"/>
            <a:r>
              <a:rPr lang="en-US" sz="2800" b="1" dirty="0">
                <a:solidFill>
                  <a:srgbClr val="AF2C59"/>
                </a:solidFill>
                <a:latin typeface="Calibri" panose="020F0502020204030204" pitchFamily="34" charset="0"/>
                <a:cs typeface="Calibri" panose="020F0502020204030204" pitchFamily="34" charset="0"/>
              </a:rPr>
              <a:t>Medium Priority</a:t>
            </a:r>
          </a:p>
        </p:txBody>
      </p:sp>
      <p:sp>
        <p:nvSpPr>
          <p:cNvPr id="8" name="Shape 2">
            <a:extLst>
              <a:ext uri="{FF2B5EF4-FFF2-40B4-BE49-F238E27FC236}">
                <a16:creationId xmlns:a16="http://schemas.microsoft.com/office/drawing/2014/main" id="{AD183E64-7F2A-344F-5C9A-F1E69A589E92}"/>
              </a:ext>
            </a:extLst>
          </p:cNvPr>
          <p:cNvSpPr/>
          <p:nvPr/>
        </p:nvSpPr>
        <p:spPr>
          <a:xfrm>
            <a:off x="162560" y="5190421"/>
            <a:ext cx="1712732" cy="1207003"/>
          </a:xfrm>
          <a:prstGeom prst="roundRect">
            <a:avLst>
              <a:gd name="adj" fmla="val 6957"/>
            </a:avLst>
          </a:prstGeom>
          <a:solidFill>
            <a:schemeClr val="accent6">
              <a:lumMod val="20000"/>
              <a:lumOff val="80000"/>
            </a:schemeClr>
          </a:solidFill>
          <a:ln/>
        </p:spPr>
        <p:txBody>
          <a:bodyPr anchor="ctr"/>
          <a:lstStyle/>
          <a:p>
            <a:pPr algn="ctr"/>
            <a:r>
              <a:rPr lang="en-US" sz="2800" b="1" dirty="0">
                <a:solidFill>
                  <a:srgbClr val="AF2C59"/>
                </a:solidFill>
                <a:latin typeface="Calibri" panose="020F0502020204030204" pitchFamily="34" charset="0"/>
                <a:cs typeface="Calibri" panose="020F0502020204030204" pitchFamily="34" charset="0"/>
              </a:rPr>
              <a:t>Low Priority</a:t>
            </a:r>
          </a:p>
        </p:txBody>
      </p:sp>
      <p:sp>
        <p:nvSpPr>
          <p:cNvPr id="9" name="TextBox 8">
            <a:extLst>
              <a:ext uri="{FF2B5EF4-FFF2-40B4-BE49-F238E27FC236}">
                <a16:creationId xmlns:a16="http://schemas.microsoft.com/office/drawing/2014/main" id="{41CD702D-DBF9-A757-CF74-680881531457}"/>
              </a:ext>
            </a:extLst>
          </p:cNvPr>
          <p:cNvSpPr txBox="1"/>
          <p:nvPr/>
        </p:nvSpPr>
        <p:spPr>
          <a:xfrm>
            <a:off x="2052320" y="1731273"/>
            <a:ext cx="9977120" cy="1323439"/>
          </a:xfrm>
          <a:prstGeom prst="rect">
            <a:avLst/>
          </a:prstGeom>
          <a:solidFill>
            <a:schemeClr val="accent2">
              <a:lumMod val="20000"/>
              <a:lumOff val="80000"/>
            </a:schemeClr>
          </a:solidFill>
        </p:spPr>
        <p:txBody>
          <a:bodyPr wrap="square" rtlCol="0">
            <a:spAutoFit/>
          </a:bodyPr>
          <a:lstStyle/>
          <a:p>
            <a:pPr marL="285750" indent="-285750">
              <a:buFont typeface="Wingdings" pitchFamily="2" charset="2"/>
              <a:buChar char="Ø"/>
            </a:pPr>
            <a:r>
              <a:rPr lang="en-US" sz="1600" dirty="0">
                <a:solidFill>
                  <a:srgbClr val="48375F"/>
                </a:solidFill>
                <a:latin typeface="Calibri" panose="020F0502020204030204" pitchFamily="34" charset="0"/>
                <a:cs typeface="Calibri" panose="020F0502020204030204" pitchFamily="34" charset="0"/>
              </a:rPr>
              <a:t>Price on specifications, not brand alone. Memory, RAM and camera features consistently carry substantial predictive signal; brand adds only marginal independent signal once specifications are known.</a:t>
            </a:r>
          </a:p>
          <a:p>
            <a:pPr marL="285750" indent="-285750">
              <a:buFont typeface="Wingdings" pitchFamily="2" charset="2"/>
              <a:buChar char="Ø"/>
            </a:pPr>
            <a:endParaRPr lang="en-US" sz="1600"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Ø"/>
            </a:pPr>
            <a:r>
              <a:rPr lang="en-US" sz="1600" dirty="0" err="1">
                <a:solidFill>
                  <a:srgbClr val="48375F"/>
                </a:solidFill>
                <a:latin typeface="Calibri" panose="020F0502020204030204" pitchFamily="34" charset="0"/>
                <a:cs typeface="Calibri" panose="020F0502020204030204" pitchFamily="34" charset="0"/>
              </a:rPr>
              <a:t>Prioritise</a:t>
            </a:r>
            <a:r>
              <a:rPr lang="en-US" sz="1600" dirty="0">
                <a:solidFill>
                  <a:srgbClr val="48375F"/>
                </a:solidFill>
                <a:latin typeface="Calibri" panose="020F0502020204030204" pitchFamily="34" charset="0"/>
                <a:cs typeface="Calibri" panose="020F0502020204030204" pitchFamily="34" charset="0"/>
              </a:rPr>
              <a:t> accurate Memory and RAM capture in any pricing tool — these are the two fields with the greatest estimated price association per unit of input.</a:t>
            </a:r>
          </a:p>
        </p:txBody>
      </p:sp>
      <p:sp>
        <p:nvSpPr>
          <p:cNvPr id="10" name="TextBox 9">
            <a:extLst>
              <a:ext uri="{FF2B5EF4-FFF2-40B4-BE49-F238E27FC236}">
                <a16:creationId xmlns:a16="http://schemas.microsoft.com/office/drawing/2014/main" id="{F3802BEC-5BDF-6EF1-9055-951351A88B03}"/>
              </a:ext>
            </a:extLst>
          </p:cNvPr>
          <p:cNvSpPr txBox="1"/>
          <p:nvPr/>
        </p:nvSpPr>
        <p:spPr>
          <a:xfrm>
            <a:off x="2052320" y="3304270"/>
            <a:ext cx="9977120" cy="1569660"/>
          </a:xfrm>
          <a:prstGeom prst="rect">
            <a:avLst/>
          </a:prstGeom>
          <a:solidFill>
            <a:schemeClr val="tx2">
              <a:lumMod val="10000"/>
              <a:lumOff val="90000"/>
            </a:schemeClr>
          </a:solidFill>
        </p:spPr>
        <p:txBody>
          <a:bodyPr wrap="square" rtlCol="0">
            <a:spAutoFit/>
          </a:bodyPr>
          <a:lstStyle/>
          <a:p>
            <a:pPr marL="285750" indent="-285750">
              <a:buFont typeface="Wingdings" pitchFamily="2" charset="2"/>
              <a:buChar char="Ø"/>
            </a:pPr>
            <a:r>
              <a:rPr lang="en-US" sz="1600" dirty="0">
                <a:solidFill>
                  <a:srgbClr val="48375F"/>
                </a:solidFill>
                <a:latin typeface="Calibri" panose="020F0502020204030204" pitchFamily="34" charset="0"/>
                <a:cs typeface="Calibri" panose="020F0502020204030204" pitchFamily="34" charset="0"/>
              </a:rPr>
              <a:t>Do not treat Brand and Chipset as independent levers. Their categorical association is strong (Cramér's V = 0.699, sparse contingency table, directional only); adjusting for both risks double-counting one signal.</a:t>
            </a:r>
          </a:p>
          <a:p>
            <a:pPr marL="285750" indent="-285750">
              <a:buFont typeface="Wingdings" pitchFamily="2" charset="2"/>
              <a:buChar char="Ø"/>
            </a:pPr>
            <a:endParaRPr lang="en-US" sz="1600" dirty="0"/>
          </a:p>
          <a:p>
            <a:pPr marL="285750" indent="-285750">
              <a:buFont typeface="Wingdings" pitchFamily="2" charset="2"/>
              <a:buChar char="Ø"/>
            </a:pPr>
            <a:r>
              <a:rPr lang="en-US" sz="1600" dirty="0">
                <a:solidFill>
                  <a:srgbClr val="48375F"/>
                </a:solidFill>
                <a:latin typeface="Calibri" panose="020F0502020204030204" pitchFamily="34" charset="0"/>
                <a:cs typeface="Calibri" panose="020F0502020204030204" pitchFamily="34" charset="0"/>
              </a:rPr>
              <a:t>Treat any "5G adds X%" figure as a scenario estimate specific to device and segment, not a constant. The ceteris-paribus simulation gives 41.0% (range 18.2–64.5%) against a raw REDMI lineup comparison of +134%, which conflates 5G with every other spec difference between those lineups.</a:t>
            </a:r>
          </a:p>
        </p:txBody>
      </p:sp>
      <p:sp>
        <p:nvSpPr>
          <p:cNvPr id="11" name="TextBox 10">
            <a:extLst>
              <a:ext uri="{FF2B5EF4-FFF2-40B4-BE49-F238E27FC236}">
                <a16:creationId xmlns:a16="http://schemas.microsoft.com/office/drawing/2014/main" id="{9B79C67A-CB2F-4670-A326-2CA964F5654A}"/>
              </a:ext>
            </a:extLst>
          </p:cNvPr>
          <p:cNvSpPr txBox="1"/>
          <p:nvPr/>
        </p:nvSpPr>
        <p:spPr>
          <a:xfrm>
            <a:off x="2052320" y="5123488"/>
            <a:ext cx="9977120" cy="1323439"/>
          </a:xfrm>
          <a:prstGeom prst="rect">
            <a:avLst/>
          </a:prstGeom>
          <a:solidFill>
            <a:schemeClr val="accent6">
              <a:lumMod val="20000"/>
              <a:lumOff val="80000"/>
            </a:schemeClr>
          </a:solidFill>
        </p:spPr>
        <p:txBody>
          <a:bodyPr wrap="square" rtlCol="0">
            <a:spAutoFit/>
          </a:bodyPr>
          <a:lstStyle/>
          <a:p>
            <a:pPr marL="285750" indent="-285750">
              <a:buFont typeface="Wingdings" pitchFamily="2" charset="2"/>
              <a:buChar char="Ø"/>
            </a:pPr>
            <a:r>
              <a:rPr lang="en-US" sz="1600" dirty="0">
                <a:solidFill>
                  <a:srgbClr val="48375F"/>
                </a:solidFill>
                <a:latin typeface="Calibri" panose="020F0502020204030204" pitchFamily="34" charset="0"/>
                <a:cs typeface="Calibri" panose="020F0502020204030204" pitchFamily="34" charset="0"/>
              </a:rPr>
              <a:t>Pilot the 10-field lite pricing tool internally, with manual review, for field-sales and retail-partner quoting where full specification entry is impractical — it retains 97.5% of mean CV R² at modest MAE cost.</a:t>
            </a:r>
          </a:p>
          <a:p>
            <a:pPr marL="285750" indent="-285750">
              <a:buFont typeface="Wingdings" pitchFamily="2" charset="2"/>
              <a:buChar char="Ø"/>
            </a:pPr>
            <a:endParaRPr lang="en-US" sz="1600" dirty="0">
              <a:solidFill>
                <a:srgbClr val="48375F"/>
              </a:solidFill>
              <a:latin typeface="Calibri" panose="020F0502020204030204" pitchFamily="34" charset="0"/>
              <a:cs typeface="Calibri" panose="020F0502020204030204" pitchFamily="34" charset="0"/>
            </a:endParaRPr>
          </a:p>
          <a:p>
            <a:pPr marL="285750" indent="-285750">
              <a:buFont typeface="Wingdings" pitchFamily="2" charset="2"/>
              <a:buChar char="Ø"/>
            </a:pPr>
            <a:r>
              <a:rPr lang="en-US" sz="1600" dirty="0">
                <a:solidFill>
                  <a:srgbClr val="48375F"/>
                </a:solidFill>
                <a:latin typeface="Calibri" panose="020F0502020204030204" pitchFamily="34" charset="0"/>
                <a:cs typeface="Calibri" panose="020F0502020204030204" pitchFamily="34" charset="0"/>
              </a:rPr>
              <a:t>Treat the tuned Random Forest as a prototype pricing-sanity tool piloted internally with manual review before any production use. PCA and stacking were tested and do not earn their complexity at this dataset size.</a:t>
            </a:r>
          </a:p>
        </p:txBody>
      </p:sp>
    </p:spTree>
    <p:extLst>
      <p:ext uri="{BB962C8B-B14F-4D97-AF65-F5344CB8AC3E}">
        <p14:creationId xmlns:p14="http://schemas.microsoft.com/office/powerpoint/2010/main" val="3249829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A7A44-D5F2-429D-2C86-D0B21FD8F531}"/>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0D6EE1C8-6787-9BBB-8360-C951FF6EE3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F997FCA3-07A3-33C0-6121-CDD25AA5D282}"/>
              </a:ext>
            </a:extLst>
          </p:cNvPr>
          <p:cNvSpPr txBox="1">
            <a:spLocks/>
          </p:cNvSpPr>
          <p:nvPr/>
        </p:nvSpPr>
        <p:spPr>
          <a:xfrm>
            <a:off x="0" y="-18659"/>
            <a:ext cx="12192000" cy="858987"/>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Limitations of the Analysis</a:t>
            </a:r>
          </a:p>
        </p:txBody>
      </p:sp>
      <p:sp>
        <p:nvSpPr>
          <p:cNvPr id="4" name="TextBox 3">
            <a:extLst>
              <a:ext uri="{FF2B5EF4-FFF2-40B4-BE49-F238E27FC236}">
                <a16:creationId xmlns:a16="http://schemas.microsoft.com/office/drawing/2014/main" id="{C459B159-698D-2C95-56ED-BF90466AC624}"/>
              </a:ext>
            </a:extLst>
          </p:cNvPr>
          <p:cNvSpPr txBox="1"/>
          <p:nvPr/>
        </p:nvSpPr>
        <p:spPr>
          <a:xfrm>
            <a:off x="264160" y="1116389"/>
            <a:ext cx="5689600" cy="144270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Statistical power</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sz="1725" dirty="0">
                <a:solidFill>
                  <a:srgbClr val="48375F"/>
                </a:solidFill>
                <a:latin typeface="Calibri" panose="020F0502020204030204" pitchFamily="34" charset="0"/>
                <a:cs typeface="Calibri" panose="020F0502020204030204" pitchFamily="34" charset="0"/>
              </a:rPr>
              <a:t>At n = 531 the analysis detects effects down to |r| ≈ 0.12 or d ≈ 0.24. Below that, and for brands with as few as two listings, a null result is inconclusive rather than evidence of no effect.</a:t>
            </a:r>
          </a:p>
        </p:txBody>
      </p:sp>
      <p:sp>
        <p:nvSpPr>
          <p:cNvPr id="5" name="TextBox 4">
            <a:extLst>
              <a:ext uri="{FF2B5EF4-FFF2-40B4-BE49-F238E27FC236}">
                <a16:creationId xmlns:a16="http://schemas.microsoft.com/office/drawing/2014/main" id="{D15DFE36-C276-66F6-3CF5-DB7584CE9B05}"/>
              </a:ext>
            </a:extLst>
          </p:cNvPr>
          <p:cNvSpPr txBox="1"/>
          <p:nvPr/>
        </p:nvSpPr>
        <p:spPr>
          <a:xfrm>
            <a:off x="264160" y="2768488"/>
            <a:ext cx="5689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No cost or time-series data</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No manufacturing cost, competitor pricing or listing-date data was available in the source export.</a:t>
            </a:r>
          </a:p>
        </p:txBody>
      </p:sp>
      <p:sp>
        <p:nvSpPr>
          <p:cNvPr id="6" name="TextBox 5">
            <a:extLst>
              <a:ext uri="{FF2B5EF4-FFF2-40B4-BE49-F238E27FC236}">
                <a16:creationId xmlns:a16="http://schemas.microsoft.com/office/drawing/2014/main" id="{C996BCE7-E323-84DD-9A57-B255112A51BA}"/>
              </a:ext>
            </a:extLst>
          </p:cNvPr>
          <p:cNvSpPr txBox="1"/>
          <p:nvPr/>
        </p:nvSpPr>
        <p:spPr>
          <a:xfrm>
            <a:off x="6156960" y="2789151"/>
            <a:ext cx="5689600" cy="11772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Sparse contingency tables</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sz="1725" dirty="0">
                <a:solidFill>
                  <a:srgbClr val="48375F"/>
                </a:solidFill>
                <a:latin typeface="Calibri" panose="020F0502020204030204" pitchFamily="34" charset="0"/>
                <a:cs typeface="Calibri" panose="020F0502020204030204" pitchFamily="34" charset="0"/>
              </a:rPr>
              <a:t>12 of 15 categorical pairs fail the reliability check. The Brand × Chipset association (Cramér's V = 0.699) is directional only.</a:t>
            </a:r>
          </a:p>
        </p:txBody>
      </p:sp>
      <p:sp>
        <p:nvSpPr>
          <p:cNvPr id="7" name="TextBox 6">
            <a:extLst>
              <a:ext uri="{FF2B5EF4-FFF2-40B4-BE49-F238E27FC236}">
                <a16:creationId xmlns:a16="http://schemas.microsoft.com/office/drawing/2014/main" id="{F8FD7B3C-16F6-2414-9751-22167690D784}"/>
              </a:ext>
            </a:extLst>
          </p:cNvPr>
          <p:cNvSpPr txBox="1"/>
          <p:nvPr/>
        </p:nvSpPr>
        <p:spPr>
          <a:xfrm>
            <a:off x="6156960" y="4149859"/>
            <a:ext cx="5689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Association, not causation</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Every relationship reported is an association; price is market-set rather than derived from a known formula.</a:t>
            </a:r>
          </a:p>
        </p:txBody>
      </p:sp>
      <p:sp>
        <p:nvSpPr>
          <p:cNvPr id="8" name="TextBox 7">
            <a:extLst>
              <a:ext uri="{FF2B5EF4-FFF2-40B4-BE49-F238E27FC236}">
                <a16:creationId xmlns:a16="http://schemas.microsoft.com/office/drawing/2014/main" id="{A0BA8E58-E03D-32D0-079B-C6746AA33189}"/>
              </a:ext>
            </a:extLst>
          </p:cNvPr>
          <p:cNvSpPr txBox="1"/>
          <p:nvPr/>
        </p:nvSpPr>
        <p:spPr>
          <a:xfrm>
            <a:off x="6156960" y="1116389"/>
            <a:ext cx="5689600"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Test-set reuse</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Selection ran on CV alone, but the test set was reused for diagnostics after confirmation, so post-selection test comparisons are directional.</a:t>
            </a:r>
          </a:p>
        </p:txBody>
      </p:sp>
      <p:sp>
        <p:nvSpPr>
          <p:cNvPr id="9" name="TextBox 8">
            <a:extLst>
              <a:ext uri="{FF2B5EF4-FFF2-40B4-BE49-F238E27FC236}">
                <a16:creationId xmlns:a16="http://schemas.microsoft.com/office/drawing/2014/main" id="{EAC8903C-7C43-62DD-E8EE-F074DD0E9AF3}"/>
              </a:ext>
            </a:extLst>
          </p:cNvPr>
          <p:cNvSpPr txBox="1"/>
          <p:nvPr/>
        </p:nvSpPr>
        <p:spPr>
          <a:xfrm>
            <a:off x="264160" y="4151070"/>
            <a:ext cx="5689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Split-to-split variance</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Repeated splits show genuine R² variance (0.584 ± 0.118) around the single reported 0.751.</a:t>
            </a:r>
          </a:p>
        </p:txBody>
      </p:sp>
      <p:sp>
        <p:nvSpPr>
          <p:cNvPr id="10" name="TextBox 9">
            <a:extLst>
              <a:ext uri="{FF2B5EF4-FFF2-40B4-BE49-F238E27FC236}">
                <a16:creationId xmlns:a16="http://schemas.microsoft.com/office/drawing/2014/main" id="{3D1F63DD-F215-6B4D-4577-D4DFA3FB0147}"/>
              </a:ext>
            </a:extLst>
          </p:cNvPr>
          <p:cNvSpPr txBox="1"/>
          <p:nvPr/>
        </p:nvSpPr>
        <p:spPr>
          <a:xfrm>
            <a:off x="6156960" y="5533651"/>
            <a:ext cx="5689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Not production-ready</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Best treated as a prototype pricing-sanity tool piloted internally, not a standalone pricing engine.</a:t>
            </a:r>
          </a:p>
        </p:txBody>
      </p:sp>
      <p:sp>
        <p:nvSpPr>
          <p:cNvPr id="11" name="TextBox 10">
            <a:extLst>
              <a:ext uri="{FF2B5EF4-FFF2-40B4-BE49-F238E27FC236}">
                <a16:creationId xmlns:a16="http://schemas.microsoft.com/office/drawing/2014/main" id="{571F5E39-001D-854A-19BA-25F374DCB15B}"/>
              </a:ext>
            </a:extLst>
          </p:cNvPr>
          <p:cNvSpPr txBox="1"/>
          <p:nvPr/>
        </p:nvSpPr>
        <p:spPr>
          <a:xfrm>
            <a:off x="264160" y="5533652"/>
            <a:ext cx="568960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Courier New" panose="02070309020205020404" pitchFamily="49" charset="0"/>
              <a:buChar char="o"/>
            </a:pPr>
            <a:r>
              <a:rPr lang="en-US" b="1" dirty="0">
                <a:solidFill>
                  <a:srgbClr val="48375F"/>
                </a:solidFill>
                <a:latin typeface="Calibri" panose="020F0502020204030204" pitchFamily="34" charset="0"/>
                <a:cs typeface="Calibri" panose="020F0502020204030204" pitchFamily="34" charset="0"/>
              </a:rPr>
              <a:t>Manual review required</a:t>
            </a:r>
          </a:p>
          <a:p>
            <a:pPr marL="285750" indent="-285750">
              <a:buFont typeface="Courier New" panose="02070309020205020404" pitchFamily="49" charset="0"/>
              <a:buChar char="o"/>
            </a:pPr>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Flagged data-quality records (2.8%) are low-confidence and require validation before any pricing use.</a:t>
            </a:r>
          </a:p>
        </p:txBody>
      </p:sp>
    </p:spTree>
    <p:extLst>
      <p:ext uri="{BB962C8B-B14F-4D97-AF65-F5344CB8AC3E}">
        <p14:creationId xmlns:p14="http://schemas.microsoft.com/office/powerpoint/2010/main" val="2274570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61227-6762-A630-3741-6344EA1007BC}"/>
            </a:ext>
          </a:extLst>
        </p:cNvPr>
        <p:cNvGrpSpPr/>
        <p:nvPr/>
      </p:nvGrpSpPr>
      <p:grpSpPr>
        <a:xfrm>
          <a:off x="0" y="0"/>
          <a:ext cx="0" cy="0"/>
          <a:chOff x="0" y="0"/>
          <a:chExt cx="0" cy="0"/>
        </a:xfrm>
      </p:grpSpPr>
      <p:pic>
        <p:nvPicPr>
          <p:cNvPr id="2" name="Picture 2" descr="logo">
            <a:extLst>
              <a:ext uri="{FF2B5EF4-FFF2-40B4-BE49-F238E27FC236}">
                <a16:creationId xmlns:a16="http://schemas.microsoft.com/office/drawing/2014/main" id="{26BBCA18-3A4B-95DF-9AE1-BF8469CD0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1FADD66A-39E7-D1A7-EB86-EEC057009009}"/>
              </a:ext>
            </a:extLst>
          </p:cNvPr>
          <p:cNvSpPr txBox="1">
            <a:spLocks/>
          </p:cNvSpPr>
          <p:nvPr/>
        </p:nvSpPr>
        <p:spPr>
          <a:xfrm>
            <a:off x="0" y="-18659"/>
            <a:ext cx="12192000" cy="140120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rgbClr val="48375F"/>
                </a:solidFill>
                <a:latin typeface="Calibri" panose="020F0502020204030204" pitchFamily="34" charset="0"/>
                <a:cs typeface="Calibri" panose="020F0502020204030204" pitchFamily="34" charset="0"/>
              </a:rPr>
              <a:t>Solved to a Defensible Standard;</a:t>
            </a:r>
          </a:p>
          <a:p>
            <a:r>
              <a:rPr lang="en-US" sz="4800" b="1" dirty="0">
                <a:solidFill>
                  <a:srgbClr val="48375F"/>
                </a:solidFill>
                <a:latin typeface="Calibri" panose="020F0502020204030204" pitchFamily="34" charset="0"/>
                <a:cs typeface="Calibri" panose="020F0502020204030204" pitchFamily="34" charset="0"/>
              </a:rPr>
              <a:t> Two Questions Remain Open</a:t>
            </a:r>
          </a:p>
        </p:txBody>
      </p:sp>
      <p:sp>
        <p:nvSpPr>
          <p:cNvPr id="4" name="Shape 2">
            <a:extLst>
              <a:ext uri="{FF2B5EF4-FFF2-40B4-BE49-F238E27FC236}">
                <a16:creationId xmlns:a16="http://schemas.microsoft.com/office/drawing/2014/main" id="{5533D7AE-1CA3-98B9-C143-97B2A6C2C3F7}"/>
              </a:ext>
            </a:extLst>
          </p:cNvPr>
          <p:cNvSpPr/>
          <p:nvPr/>
        </p:nvSpPr>
        <p:spPr>
          <a:xfrm>
            <a:off x="391443" y="1446543"/>
            <a:ext cx="5475674" cy="2344923"/>
          </a:xfrm>
          <a:prstGeom prst="roundRect">
            <a:avLst>
              <a:gd name="adj" fmla="val 6957"/>
            </a:avLst>
          </a:prstGeom>
          <a:solidFill>
            <a:srgbClr val="DADBDA"/>
          </a:solidFill>
          <a:ln/>
        </p:spPr>
        <p:txBody>
          <a:bodyPr/>
          <a:lstStyle/>
          <a:p>
            <a:r>
              <a:rPr lang="en-US" sz="2000" b="1" dirty="0">
                <a:solidFill>
                  <a:srgbClr val="AF2C59"/>
                </a:solidFill>
                <a:latin typeface="Calibri" panose="020F0502020204030204" pitchFamily="34" charset="0"/>
                <a:cs typeface="Calibri" panose="020F0502020204030204" pitchFamily="34" charset="0"/>
              </a:rPr>
              <a:t>Solved to a defensible standard</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Price prediction at test R² = 0.751 (CV-validated at 0.688 mean) using Memory, RAM, camera specifications, Brand and </a:t>
            </a:r>
            <a:r>
              <a:rPr lang="en-US" dirty="0" err="1">
                <a:solidFill>
                  <a:srgbClr val="48375F"/>
                </a:solidFill>
                <a:latin typeface="Calibri" panose="020F0502020204030204" pitchFamily="34" charset="0"/>
                <a:cs typeface="Calibri" panose="020F0502020204030204" pitchFamily="34" charset="0"/>
              </a:rPr>
              <a:t>Processor_Brand</a:t>
            </a:r>
            <a:r>
              <a:rPr lang="en-US" dirty="0">
                <a:solidFill>
                  <a:srgbClr val="48375F"/>
                </a:solidFill>
                <a:latin typeface="Calibri" panose="020F0502020204030204" pitchFamily="34" charset="0"/>
                <a:cs typeface="Calibri" panose="020F0502020204030204" pitchFamily="34" charset="0"/>
              </a:rPr>
              <a:t> as the leading drivers. A secondary price-tier classifier reaches 72.8% accuracy against a 22.3% naive baseline.</a:t>
            </a:r>
          </a:p>
          <a:p>
            <a:endParaRPr lang="en-US" sz="1600" dirty="0"/>
          </a:p>
        </p:txBody>
      </p:sp>
      <p:sp>
        <p:nvSpPr>
          <p:cNvPr id="5" name="Shape 2">
            <a:extLst>
              <a:ext uri="{FF2B5EF4-FFF2-40B4-BE49-F238E27FC236}">
                <a16:creationId xmlns:a16="http://schemas.microsoft.com/office/drawing/2014/main" id="{F2395564-E713-BA44-D353-0988AD784DBF}"/>
              </a:ext>
            </a:extLst>
          </p:cNvPr>
          <p:cNvSpPr/>
          <p:nvPr/>
        </p:nvSpPr>
        <p:spPr>
          <a:xfrm>
            <a:off x="6147855" y="1446543"/>
            <a:ext cx="5475674" cy="2344924"/>
          </a:xfrm>
          <a:prstGeom prst="roundRect">
            <a:avLst>
              <a:gd name="adj" fmla="val 6957"/>
            </a:avLst>
          </a:prstGeom>
          <a:solidFill>
            <a:srgbClr val="DADBDA"/>
          </a:solidFill>
          <a:ln/>
        </p:spPr>
        <p:txBody>
          <a:bodyPr/>
          <a:lstStyle/>
          <a:p>
            <a:r>
              <a:rPr lang="en-US" sz="2000" b="1" dirty="0">
                <a:solidFill>
                  <a:srgbClr val="AF2C59"/>
                </a:solidFill>
                <a:latin typeface="Calibri" panose="020F0502020204030204" pitchFamily="34" charset="0"/>
                <a:cs typeface="Calibri" panose="020F0502020204030204" pitchFamily="34" charset="0"/>
              </a:rPr>
              <a:t>Two genuine open questions</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Cost-adjusted margin modelling requires bill-of-materials data this dataset lacks. Time-series price tracking requires a listing-date field the source export does not contain. Both remain open rather than answered speculatively.</a:t>
            </a:r>
          </a:p>
          <a:p>
            <a:endParaRPr lang="en-US" sz="2000" dirty="0"/>
          </a:p>
        </p:txBody>
      </p:sp>
      <p:sp>
        <p:nvSpPr>
          <p:cNvPr id="6" name="TextBox 5">
            <a:extLst>
              <a:ext uri="{FF2B5EF4-FFF2-40B4-BE49-F238E27FC236}">
                <a16:creationId xmlns:a16="http://schemas.microsoft.com/office/drawing/2014/main" id="{F25C47E2-BCF8-F2C6-DA76-42F1EB5281A2}"/>
              </a:ext>
            </a:extLst>
          </p:cNvPr>
          <p:cNvSpPr txBox="1"/>
          <p:nvPr/>
        </p:nvSpPr>
        <p:spPr>
          <a:xfrm>
            <a:off x="568433" y="4184225"/>
            <a:ext cx="3406061" cy="369332"/>
          </a:xfrm>
          <a:prstGeom prst="rect">
            <a:avLst/>
          </a:prstGeom>
          <a:noFill/>
        </p:spPr>
        <p:txBody>
          <a:bodyPr wrap="none" rtlCol="0">
            <a:spAutoFit/>
          </a:bodyPr>
          <a:lstStyle/>
          <a:p>
            <a:r>
              <a:rPr lang="en-US" b="1" kern="0" spc="160" dirty="0">
                <a:solidFill>
                  <a:srgbClr val="48375F"/>
                </a:solidFill>
                <a:latin typeface="Calibri" pitchFamily="34" charset="0"/>
                <a:ea typeface="Calibri" pitchFamily="34" charset="-122"/>
                <a:cs typeface="Calibri" pitchFamily="34" charset="-120"/>
              </a:rPr>
              <a:t>RECOMMENDED NEXT STEPS</a:t>
            </a:r>
            <a:endParaRPr lang="en-US" dirty="0">
              <a:solidFill>
                <a:srgbClr val="48375F"/>
              </a:solidFill>
            </a:endParaRPr>
          </a:p>
        </p:txBody>
      </p:sp>
      <p:sp>
        <p:nvSpPr>
          <p:cNvPr id="8" name="TextBox 7">
            <a:extLst>
              <a:ext uri="{FF2B5EF4-FFF2-40B4-BE49-F238E27FC236}">
                <a16:creationId xmlns:a16="http://schemas.microsoft.com/office/drawing/2014/main" id="{27AE2501-5A98-C12A-393D-BCF993D24690}"/>
              </a:ext>
            </a:extLst>
          </p:cNvPr>
          <p:cNvSpPr txBox="1"/>
          <p:nvPr/>
        </p:nvSpPr>
        <p:spPr>
          <a:xfrm>
            <a:off x="264160" y="4741172"/>
            <a:ext cx="2865120"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en-US" b="1" dirty="0">
                <a:solidFill>
                  <a:srgbClr val="48375F"/>
                </a:solidFill>
                <a:latin typeface="Calibri" panose="020F0502020204030204" pitchFamily="34" charset="0"/>
                <a:cs typeface="Calibri" panose="020F0502020204030204" pitchFamily="34" charset="0"/>
              </a:rPr>
              <a:t>Pilot internally</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Deploy the model as a pricing-sanity tool with mandatory manual review of every output.</a:t>
            </a:r>
          </a:p>
          <a:p>
            <a:endParaRPr lang="en-US" dirty="0"/>
          </a:p>
        </p:txBody>
      </p:sp>
      <p:sp>
        <p:nvSpPr>
          <p:cNvPr id="9" name="TextBox 8">
            <a:extLst>
              <a:ext uri="{FF2B5EF4-FFF2-40B4-BE49-F238E27FC236}">
                <a16:creationId xmlns:a16="http://schemas.microsoft.com/office/drawing/2014/main" id="{05739543-F926-064B-43AA-3A7E5D5698B9}"/>
              </a:ext>
            </a:extLst>
          </p:cNvPr>
          <p:cNvSpPr txBox="1"/>
          <p:nvPr/>
        </p:nvSpPr>
        <p:spPr>
          <a:xfrm>
            <a:off x="3230879" y="4741172"/>
            <a:ext cx="2865121"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48375F"/>
                </a:solidFill>
                <a:latin typeface="Calibri" panose="020F0502020204030204" pitchFamily="34" charset="0"/>
                <a:cs typeface="Calibri" panose="020F0502020204030204" pitchFamily="34" charset="0"/>
              </a:rPr>
              <a:t>2. Lighten for field use</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Adopt the 10-feature lite model for low-friction quoting where full specification entry is impractical.</a:t>
            </a:r>
          </a:p>
        </p:txBody>
      </p:sp>
      <p:sp>
        <p:nvSpPr>
          <p:cNvPr id="10" name="TextBox 9">
            <a:extLst>
              <a:ext uri="{FF2B5EF4-FFF2-40B4-BE49-F238E27FC236}">
                <a16:creationId xmlns:a16="http://schemas.microsoft.com/office/drawing/2014/main" id="{DBB8E6E7-EF9A-C420-35C7-5789B19C3ACA}"/>
              </a:ext>
            </a:extLst>
          </p:cNvPr>
          <p:cNvSpPr txBox="1"/>
          <p:nvPr/>
        </p:nvSpPr>
        <p:spPr>
          <a:xfrm>
            <a:off x="6197599" y="4741172"/>
            <a:ext cx="2865121"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48375F"/>
                </a:solidFill>
                <a:latin typeface="Calibri" panose="020F0502020204030204" pitchFamily="34" charset="0"/>
                <a:cs typeface="Calibri" panose="020F0502020204030204" pitchFamily="34" charset="0"/>
              </a:rPr>
              <a:t>3. Extend the dataset</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Collect listing-date and cost data to unlock margin and time-series analysis.</a:t>
            </a:r>
          </a:p>
          <a:p>
            <a:endParaRPr lang="en-US" dirty="0">
              <a:solidFill>
                <a:srgbClr val="1C2733"/>
              </a:solidFill>
              <a:latin typeface="Calibri" pitchFamily="34" charset="0"/>
              <a:cs typeface="Calibri" pitchFamily="34" charset="-120"/>
            </a:endParaRPr>
          </a:p>
          <a:p>
            <a:endParaRPr lang="en-US" dirty="0"/>
          </a:p>
        </p:txBody>
      </p:sp>
      <p:sp>
        <p:nvSpPr>
          <p:cNvPr id="11" name="TextBox 10">
            <a:extLst>
              <a:ext uri="{FF2B5EF4-FFF2-40B4-BE49-F238E27FC236}">
                <a16:creationId xmlns:a16="http://schemas.microsoft.com/office/drawing/2014/main" id="{81EBBDCB-E83F-66A1-E7C3-DD2B6E04D8C5}"/>
              </a:ext>
            </a:extLst>
          </p:cNvPr>
          <p:cNvSpPr txBox="1"/>
          <p:nvPr/>
        </p:nvSpPr>
        <p:spPr>
          <a:xfrm>
            <a:off x="9164319" y="4741172"/>
            <a:ext cx="2865121"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48375F"/>
                </a:solidFill>
                <a:latin typeface="Calibri" panose="020F0502020204030204" pitchFamily="34" charset="0"/>
                <a:cs typeface="Calibri" panose="020F0502020204030204" pitchFamily="34" charset="0"/>
              </a:rPr>
              <a:t>4. Re-validate as data arrives</a:t>
            </a:r>
          </a:p>
          <a:p>
            <a:endParaRPr lang="en-US" dirty="0">
              <a:solidFill>
                <a:srgbClr val="48375F"/>
              </a:solidFill>
              <a:latin typeface="Calibri" panose="020F0502020204030204" pitchFamily="34" charset="0"/>
              <a:cs typeface="Calibri" panose="020F0502020204030204" pitchFamily="34" charset="0"/>
            </a:endParaRPr>
          </a:p>
          <a:p>
            <a:r>
              <a:rPr lang="en-US" dirty="0">
                <a:solidFill>
                  <a:srgbClr val="48375F"/>
                </a:solidFill>
                <a:latin typeface="Calibri" panose="020F0502020204030204" pitchFamily="34" charset="0"/>
                <a:cs typeface="Calibri" panose="020F0502020204030204" pitchFamily="34" charset="0"/>
              </a:rPr>
              <a:t>Revisit flagged-cluster handling and small-brand samples as the sample base grows.</a:t>
            </a:r>
          </a:p>
        </p:txBody>
      </p:sp>
      <p:sp>
        <p:nvSpPr>
          <p:cNvPr id="12" name="Shape 13">
            <a:extLst>
              <a:ext uri="{FF2B5EF4-FFF2-40B4-BE49-F238E27FC236}">
                <a16:creationId xmlns:a16="http://schemas.microsoft.com/office/drawing/2014/main" id="{0A7B56DD-3E69-D2E1-68E6-CEC30EE72C53}"/>
              </a:ext>
            </a:extLst>
          </p:cNvPr>
          <p:cNvSpPr/>
          <p:nvPr/>
        </p:nvSpPr>
        <p:spPr>
          <a:xfrm>
            <a:off x="568433" y="4553558"/>
            <a:ext cx="11055096" cy="10973"/>
          </a:xfrm>
          <a:prstGeom prst="rect">
            <a:avLst/>
          </a:prstGeom>
          <a:solidFill>
            <a:srgbClr val="0F2748"/>
          </a:solidFill>
          <a:ln w="12700">
            <a:solidFill>
              <a:srgbClr val="333333"/>
            </a:solidFill>
            <a:prstDash val="solid"/>
          </a:ln>
        </p:spPr>
      </p:sp>
    </p:spTree>
    <p:extLst>
      <p:ext uri="{BB962C8B-B14F-4D97-AF65-F5344CB8AC3E}">
        <p14:creationId xmlns:p14="http://schemas.microsoft.com/office/powerpoint/2010/main" val="2407520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D422-7F08-3F76-0D80-ADAB05469F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AFF94A-8939-7AB7-D6AA-B893D3F196FC}"/>
              </a:ext>
            </a:extLst>
          </p:cNvPr>
          <p:cNvSpPr/>
          <p:nvPr/>
        </p:nvSpPr>
        <p:spPr>
          <a:xfrm>
            <a:off x="0" y="0"/>
            <a:ext cx="12192000" cy="6858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953CB2A-7857-6C3A-0EA8-C8B8E65FB700}"/>
              </a:ext>
            </a:extLst>
          </p:cNvPr>
          <p:cNvSpPr txBox="1">
            <a:spLocks/>
          </p:cNvSpPr>
          <p:nvPr/>
        </p:nvSpPr>
        <p:spPr>
          <a:xfrm>
            <a:off x="5655103" y="1532455"/>
            <a:ext cx="4857007" cy="379308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3800" b="1" dirty="0">
                <a:solidFill>
                  <a:srgbClr val="48375F"/>
                </a:solidFill>
                <a:latin typeface="Calibri" panose="020F0502020204030204" pitchFamily="34" charset="0"/>
                <a:cs typeface="Calibri" panose="020F0502020204030204" pitchFamily="34" charset="0"/>
              </a:rPr>
              <a:t>Thank You!</a:t>
            </a:r>
          </a:p>
        </p:txBody>
      </p:sp>
      <p:pic>
        <p:nvPicPr>
          <p:cNvPr id="6" name="Picture 2" descr="logo">
            <a:extLst>
              <a:ext uri="{FF2B5EF4-FFF2-40B4-BE49-F238E27FC236}">
                <a16:creationId xmlns:a16="http://schemas.microsoft.com/office/drawing/2014/main" id="{EC84F326-EF79-938B-83B8-BE5946638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858" y="-10886"/>
            <a:ext cx="1520142" cy="6333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051BD10-1E43-44C6-34F1-42117E599BF7}"/>
              </a:ext>
            </a:extLst>
          </p:cNvPr>
          <p:cNvPicPr>
            <a:picLocks noChangeAspect="1"/>
          </p:cNvPicPr>
          <p:nvPr/>
        </p:nvPicPr>
        <p:blipFill>
          <a:blip r:embed="rId4"/>
          <a:stretch>
            <a:fillRect/>
          </a:stretch>
        </p:blipFill>
        <p:spPr>
          <a:xfrm>
            <a:off x="1264667" y="664048"/>
            <a:ext cx="3686601" cy="5529902"/>
          </a:xfrm>
          <a:prstGeom prst="rect">
            <a:avLst/>
          </a:prstGeom>
          <a:solidFill>
            <a:srgbClr val="F3F3F3"/>
          </a:solidFill>
        </p:spPr>
      </p:pic>
    </p:spTree>
    <p:extLst>
      <p:ext uri="{BB962C8B-B14F-4D97-AF65-F5344CB8AC3E}">
        <p14:creationId xmlns:p14="http://schemas.microsoft.com/office/powerpoint/2010/main" val="2157380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785</TotalTime>
  <Words>3497</Words>
  <Application>Microsoft Macintosh PowerPoint</Application>
  <PresentationFormat>Widescreen</PresentationFormat>
  <Paragraphs>404</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Aptos Display</vt: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srishtisharma3006@outlook.com</dc:creator>
  <cp:lastModifiedBy>srishtisharma3006@outlook.com</cp:lastModifiedBy>
  <cp:revision>20</cp:revision>
  <dcterms:created xsi:type="dcterms:W3CDTF">2026-08-21T17:38:22Z</dcterms:created>
  <dcterms:modified xsi:type="dcterms:W3CDTF">2026-08-25T17:43:01Z</dcterms:modified>
</cp:coreProperties>
</file>